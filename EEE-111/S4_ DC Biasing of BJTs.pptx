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92" r:id="rId2"/>
    <p:sldMasterId id="2147483916" r:id="rId3"/>
    <p:sldMasterId id="2147483928" r:id="rId4"/>
  </p:sldMasterIdLst>
  <p:notesMasterIdLst>
    <p:notesMasterId r:id="rId39"/>
  </p:notesMasterIdLst>
  <p:sldIdLst>
    <p:sldId id="466" r:id="rId5"/>
    <p:sldId id="257" r:id="rId6"/>
    <p:sldId id="287" r:id="rId7"/>
    <p:sldId id="288" r:id="rId8"/>
    <p:sldId id="327" r:id="rId9"/>
    <p:sldId id="289" r:id="rId10"/>
    <p:sldId id="336" r:id="rId11"/>
    <p:sldId id="424" r:id="rId12"/>
    <p:sldId id="425" r:id="rId13"/>
    <p:sldId id="338" r:id="rId14"/>
    <p:sldId id="339" r:id="rId15"/>
    <p:sldId id="428" r:id="rId16"/>
    <p:sldId id="340" r:id="rId17"/>
    <p:sldId id="341" r:id="rId18"/>
    <p:sldId id="342" r:id="rId19"/>
    <p:sldId id="343" r:id="rId20"/>
    <p:sldId id="393" r:id="rId21"/>
    <p:sldId id="358" r:id="rId22"/>
    <p:sldId id="473" r:id="rId23"/>
    <p:sldId id="468" r:id="rId24"/>
    <p:sldId id="474" r:id="rId25"/>
    <p:sldId id="405" r:id="rId26"/>
    <p:sldId id="367" r:id="rId27"/>
    <p:sldId id="368" r:id="rId28"/>
    <p:sldId id="469" r:id="rId29"/>
    <p:sldId id="383" r:id="rId30"/>
    <p:sldId id="470" r:id="rId31"/>
    <p:sldId id="441" r:id="rId32"/>
    <p:sldId id="440" r:id="rId33"/>
    <p:sldId id="442" r:id="rId34"/>
    <p:sldId id="443" r:id="rId35"/>
    <p:sldId id="445" r:id="rId36"/>
    <p:sldId id="446" r:id="rId37"/>
    <p:sldId id="472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99D"/>
    <a:srgbClr val="CACAEE"/>
    <a:srgbClr val="0080AA"/>
    <a:srgbClr val="006DA4"/>
    <a:srgbClr val="9494DC"/>
    <a:srgbClr val="8181D5"/>
    <a:srgbClr val="626A68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59" autoAdjust="0"/>
    <p:restoredTop sz="94660"/>
  </p:normalViewPr>
  <p:slideViewPr>
    <p:cSldViewPr>
      <p:cViewPr varScale="1">
        <p:scale>
          <a:sx n="74" d="100"/>
          <a:sy n="74" d="100"/>
        </p:scale>
        <p:origin x="14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4134EA76-31D3-4AE5-8688-0CDBA0AB0E40}"/>
    <pc:docChg chg="modSld">
      <pc:chgData name="Riasat Khan" userId="826ac62dfbb52e43" providerId="LiveId" clId="{4134EA76-31D3-4AE5-8688-0CDBA0AB0E40}" dt="2023-04-16T03:01:06.552" v="0" actId="729"/>
      <pc:docMkLst>
        <pc:docMk/>
      </pc:docMkLst>
      <pc:sldChg chg="mod modShow">
        <pc:chgData name="Riasat Khan" userId="826ac62dfbb52e43" providerId="LiveId" clId="{4134EA76-31D3-4AE5-8688-0CDBA0AB0E40}" dt="2023-04-16T03:01:06.552" v="0" actId="729"/>
        <pc:sldMkLst>
          <pc:docMk/>
          <pc:sldMk cId="3889592127" sldId="472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2D84EBB-D67B-4288-A202-C593895B5DB7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CFA3DBB-5B31-44F4-A450-ED9C6F58A7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66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927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299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44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19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324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577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4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125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479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755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7409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FECE0B8-95C6-467F-9DFE-095FFCBC3BE1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0F3541A-47BE-4A42-8884-1C5A83E971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70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A9F2EE-8819-448E-9AA4-D03E7EE20C2C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ACDB1D5-A2B1-4B21-B0DD-855B1821B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66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810C63E-3315-424B-BC86-822B6EE671B2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8409E6C-72BE-4C92-A163-35A1077FBA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61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18F229-5A48-42A5-918B-B2649A6DCDF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30EDE0D-5212-4C52-9484-25D2582B3D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3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E0BA401-4C51-4051-A859-3535B1826A02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5796A8E-B7A8-43A9-B0BE-1A73DDDF8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2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04D609C-D3C7-47E5-812B-5DC5ED9FA8F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1B13D4-3D9E-471F-8E6D-69A97F738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48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970F95F-5314-4FA8-A63A-D0B5C992FD87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EF86A44-7C5E-4979-BBC6-8067E61399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079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04A3502-DCE0-4A61-B569-F8191E0A5CD7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7339B55-8D9A-4B48-B955-557B29E07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83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AE4886-D4D1-4076-988C-6695708FA77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B80DE78-B2FE-4901-8E27-DC70166DB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EA8A2A4-2FE8-4CAA-A8C7-ABE198DC5ADB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F6D2FB-49D2-4E0A-BB58-F89AA12EB6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82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217D48-3C49-4F67-A9EF-71590102078A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DC1DAF6-726B-418D-9A6C-53894B67EC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720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3958C6E-FC2D-426E-80F3-560B5B68204A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474B5A8-001A-4978-9483-499AEE12B6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67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2664E29-5D0B-435B-9C83-848652C9E3D1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A8BBF18-427C-48FE-A338-10E8CFA70D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113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E1F27B9-6101-42AA-868D-6BF7133644F7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841C269-CAD1-4157-8DF2-CA93D8AC22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88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3E277C3-89DE-409D-9D2C-677E6764AFBD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73A6D8-4A30-48E2-9068-900D8BCF5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140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0A2B3A5-2CC3-4E26-8B3B-6AE87375A742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B49728-F144-4443-A4A0-E2E88B68D1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427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4583746-9809-47D5-9C4C-4FED0EF1B9D6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632589-AC48-48F5-B3CD-DAF8814FB4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629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61D7DDD-17AB-4EE6-B78F-1DCDC2FADE89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2C38D33-B145-4352-8AB9-91BAA8911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318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D3930E3-E6A2-4311-BB38-51A519672817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C442F22-BBC2-453F-A363-7EBDFA1CDE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946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74B3456-5843-4B08-B439-1053E10B88E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A4BDF50-E1F8-48B2-8D30-20061C9BD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773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89D3684-3576-42E1-ABB8-1895C93B6817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C70DB4E-0FD1-45CB-9265-0BB8D675CF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181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C70115-7FAD-4152-A692-89A609F4291D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0002C61-2EA6-45AB-911D-434A90B7A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906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C236682-7F88-4E3B-93EF-3B3FF5BFF7E1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9D11148-06BE-4134-9C54-41050B3D3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04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38E751F-CA9C-4A67-9077-08729486ECE6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1EC15-6D01-4390-B074-528FC0DC7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030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7CD2850-EF40-4AB3-A4ED-914399CCA287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7E41B79-A5FD-4901-A823-A0002B1820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350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720F087-ACAD-47FD-A882-156078060C23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C3B5A56-170A-465B-A30F-2A016CD300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600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46D860-D377-4CAA-91E7-DDDE8553A674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EA0977D-0AC7-48EF-8666-2500E9F989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270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B3E0311-A165-4CC8-ACA7-0E467177CEE6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A6E5648-F6C7-490C-AEAD-D22E46AEC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29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6F98A70-E5D9-447F-82C3-343C230ADBB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EB87DB5-4F11-4C9F-A813-B8ADBD219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90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C2C94AF-ED71-4C70-B2ED-8AB88AEDCCBD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7357616-F113-4389-AEBF-3C5D6F4F3A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607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3EF5A9E-F489-4000-881E-ADE8CD61DAFC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56E4459-875B-42E2-A692-2C4B373F54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9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F777D50-6C21-48CB-B418-B531DB165D4D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A004BD4-6C2B-461C-890E-FA82DA5DEB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958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6D454F4-75F0-44C9-9F47-101850E3DCCF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14C289-980F-471A-B99C-A66072A7CE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9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9525"/>
            <a:ext cx="82296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0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EACAB3D-1687-4E47-97DA-9793CD397E9E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A4A0AFB2-BCB2-4644-8718-63A89D7463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32" r:id="rId2"/>
    <p:sldLayoutId id="2147484533" r:id="rId3"/>
    <p:sldLayoutId id="2147484534" r:id="rId4"/>
    <p:sldLayoutId id="2147484535" r:id="rId5"/>
    <p:sldLayoutId id="2147484536" r:id="rId6"/>
    <p:sldLayoutId id="2147484537" r:id="rId7"/>
    <p:sldLayoutId id="2147484538" r:id="rId8"/>
    <p:sldLayoutId id="2147484539" r:id="rId9"/>
    <p:sldLayoutId id="2147484540" r:id="rId10"/>
    <p:sldLayoutId id="214748454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8E32CCC6-1C56-4618-882A-2CD5C7052BC8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C7415DF7-B26F-4F6D-96CE-44A312A2E1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1DBD22B-3BDD-44B6-909B-ABC68D951594}" type="datetime1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7B874AF8-24C1-4E6C-B433-AA871935E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54" r:id="rId2"/>
    <p:sldLayoutId id="2147484555" r:id="rId3"/>
    <p:sldLayoutId id="2147484556" r:id="rId4"/>
    <p:sldLayoutId id="2147484557" r:id="rId5"/>
    <p:sldLayoutId id="2147484558" r:id="rId6"/>
    <p:sldLayoutId id="2147484559" r:id="rId7"/>
    <p:sldLayoutId id="2147484560" r:id="rId8"/>
    <p:sldLayoutId id="2147484561" r:id="rId9"/>
    <p:sldLayoutId id="2147484562" r:id="rId10"/>
    <p:sldLayoutId id="214748456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jpeg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DC Biasing – BJTs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66800" y="3886200"/>
            <a:ext cx="6858000" cy="17526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Topic 4 (Chapter 4)</a:t>
            </a:r>
            <a:b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(Some materials are from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Malvino’s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book)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Biasing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43011" name="Rectangle 10"/>
          <p:cNvSpPr>
            <a:spLocks noChangeArrowheads="1"/>
          </p:cNvSpPr>
          <p:nvPr/>
        </p:nvSpPr>
        <p:spPr bwMode="auto">
          <a:xfrm>
            <a:off x="762000" y="2133600"/>
            <a:ext cx="75342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Biasing:</a:t>
            </a:r>
            <a:r>
              <a:rPr lang="en-US" altLang="en-US" sz="2400" b="1">
                <a:cs typeface="Arial" panose="020B0604020202020204" pitchFamily="34" charset="0"/>
              </a:rPr>
              <a:t>  </a:t>
            </a:r>
            <a:r>
              <a:rPr lang="en-US" altLang="en-US" sz="2400">
                <a:cs typeface="Arial" panose="020B0604020202020204" pitchFamily="34" charset="0"/>
              </a:rPr>
              <a:t>Applying DC voltages to a transistor in order to turn it on so that it can amplify AC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6"/>
          <p:cNvSpPr txBox="1">
            <a:spLocks noChangeArrowheads="1"/>
          </p:cNvSpPr>
          <p:nvPr/>
        </p:nvSpPr>
        <p:spPr bwMode="auto">
          <a:xfrm>
            <a:off x="76200" y="333375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4.2 Operating Point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30723" name="Text Box 13"/>
          <p:cNvSpPr txBox="1">
            <a:spLocks noChangeArrowheads="1"/>
          </p:cNvSpPr>
          <p:nvPr/>
        </p:nvSpPr>
        <p:spPr bwMode="auto">
          <a:xfrm>
            <a:off x="6140450" y="2743200"/>
            <a:ext cx="2971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The DC voltages establishes an operating or </a:t>
            </a:r>
            <a:r>
              <a:rPr lang="en-US" altLang="en-US" sz="2400" i="1">
                <a:solidFill>
                  <a:srgbClr val="FFFF66"/>
                </a:solidFill>
                <a:cs typeface="Arial" panose="020B0604020202020204" pitchFamily="34" charset="0"/>
              </a:rPr>
              <a:t>quiescent point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called the </a:t>
            </a:r>
            <a:r>
              <a:rPr lang="en-US" altLang="en-US" sz="2400" b="1" i="1">
                <a:solidFill>
                  <a:srgbClr val="FFFF66"/>
                </a:solidFill>
                <a:cs typeface="Arial" panose="020B0604020202020204" pitchFamily="34" charset="0"/>
              </a:rPr>
              <a:t>Q-point</a:t>
            </a: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4036" name="Picture 10" descr="fg04_001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5765800" cy="4511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The Three Operating Regions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33795" name="Text Box 10"/>
          <p:cNvSpPr txBox="1">
            <a:spLocks noChangeArrowheads="1"/>
          </p:cNvSpPr>
          <p:nvPr/>
        </p:nvSpPr>
        <p:spPr bwMode="auto">
          <a:xfrm>
            <a:off x="0" y="762000"/>
            <a:ext cx="91440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Active or Linear Region Operation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Base–Emitter junction is forward biased</a:t>
            </a:r>
          </a:p>
          <a:p>
            <a:pPr marL="0" lvl="4" eaLnBrk="1" hangingPunct="1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cs typeface="Arial" panose="020B0604020202020204" pitchFamily="34" charset="0"/>
              </a:rPr>
              <a:t>  Base–Collector junction is reverse biased</a:t>
            </a:r>
          </a:p>
          <a:p>
            <a:pPr marL="0" lvl="4" eaLnBrk="1" hangingPunct="1"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cs typeface="Arial" panose="020B0604020202020204" pitchFamily="34" charset="0"/>
              </a:rPr>
              <a:t> 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BJT works as an Amplifier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cs typeface="Arial" panose="020B0604020202020204" pitchFamily="34" charset="0"/>
            </a:endParaRPr>
          </a:p>
          <a:p>
            <a:pPr marL="0" lvl="2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Cutoff Region Operation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Base–Emitter junction is reverse biased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Base–Collector junction is reverse biased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BJT works as an OFF Switch</a:t>
            </a:r>
            <a:endParaRPr lang="en-US" altLang="en-US" sz="2400" dirty="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cs typeface="Arial" panose="020B0604020202020204" pitchFamily="34" charset="0"/>
            </a:endParaRPr>
          </a:p>
          <a:p>
            <a:pPr marL="0" lvl="2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Saturation Region Operation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Base–Emitter junction is forward biased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Base–Collector junction is forward biased or near forward bias</a:t>
            </a:r>
          </a:p>
          <a:p>
            <a:pPr marL="0" lvl="2" eaLnBrk="1" hangingPunct="1">
              <a:spcBef>
                <a:spcPct val="0"/>
              </a:spcBef>
            </a:pPr>
            <a:r>
              <a:rPr lang="en-US" altLang="en-US" sz="2400" dirty="0">
                <a:cs typeface="Arial" panose="020B0604020202020204" pitchFamily="34" charset="0"/>
              </a:rPr>
              <a:t> 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BJT works as an ON Switch</a:t>
            </a:r>
            <a:endParaRPr lang="en-US" altLang="en-US" sz="24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b="1"/>
              <a:t>Regions of operation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4013200"/>
            <a:ext cx="8229600" cy="2544763"/>
          </a:xfrm>
        </p:spPr>
        <p:txBody>
          <a:bodyPr rtlCol="0">
            <a:normAutofit fontScale="85000" lnSpcReduction="20000"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i="1" dirty="0">
                <a:solidFill>
                  <a:srgbClr val="FF0000"/>
                </a:solidFill>
              </a:rPr>
              <a:t>Active</a:t>
            </a:r>
            <a:r>
              <a:rPr lang="en-US" altLang="en-US" b="1" i="1" dirty="0"/>
              <a:t> - - - used for </a:t>
            </a:r>
            <a:r>
              <a:rPr lang="en-US" altLang="en-US" b="1" i="1" u="sng" dirty="0"/>
              <a:t>linear</a:t>
            </a:r>
            <a:r>
              <a:rPr lang="en-US" altLang="en-US" b="1" i="1" dirty="0"/>
              <a:t> amplification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Cutoff</a:t>
            </a:r>
            <a:r>
              <a:rPr lang="en-US" altLang="en-US" b="1" dirty="0"/>
              <a:t> - - - used in </a:t>
            </a:r>
            <a:r>
              <a:rPr lang="en-US" altLang="en-US" b="1" u="sng" dirty="0"/>
              <a:t>switching</a:t>
            </a:r>
            <a:r>
              <a:rPr lang="en-US" altLang="en-US" b="1" dirty="0"/>
              <a:t> applications (OFF)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Saturation</a:t>
            </a:r>
            <a:r>
              <a:rPr lang="en-US" altLang="en-US" b="1" dirty="0"/>
              <a:t> - - - used in </a:t>
            </a:r>
            <a:r>
              <a:rPr lang="en-US" altLang="en-US" b="1" u="sng" dirty="0"/>
              <a:t>switching</a:t>
            </a:r>
            <a:r>
              <a:rPr lang="en-US" altLang="en-US" b="1" dirty="0"/>
              <a:t> applications (ON)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Breakdown</a:t>
            </a:r>
            <a:r>
              <a:rPr lang="en-US" altLang="en-US" b="1" dirty="0"/>
              <a:t> - - - can </a:t>
            </a:r>
            <a:r>
              <a:rPr lang="en-US" altLang="en-US" b="1" u="sng" dirty="0"/>
              <a:t>destroy</a:t>
            </a:r>
            <a:r>
              <a:rPr lang="en-US" altLang="en-US" b="1" dirty="0"/>
              <a:t> the transistor and should be avoided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38" y="1139825"/>
            <a:ext cx="6630987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2438400" y="3352800"/>
            <a:ext cx="4267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5410200" y="1447800"/>
            <a:ext cx="838200" cy="19050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172200" y="1103084"/>
            <a:ext cx="1710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Cutoff Region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DC Biasing Circuits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47107" name="Rectangle 23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Fixed-bias or Base-Bias</a:t>
            </a:r>
          </a:p>
          <a:p>
            <a:pPr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Emitter Bias </a:t>
            </a:r>
          </a:p>
          <a:p>
            <a:pPr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Voltage divider bias circuit</a:t>
            </a:r>
          </a:p>
          <a:p>
            <a:pPr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DC bias with voltage feedback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106363"/>
            <a:ext cx="8229600" cy="563562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4.3 Base-Bias or Fixed-Bias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642938"/>
            <a:ext cx="8229600" cy="1119187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Setting up a </a:t>
            </a:r>
            <a:r>
              <a:rPr lang="en-US" altLang="en-US" b="1" u="sng" dirty="0">
                <a:solidFill>
                  <a:schemeClr val="accent2"/>
                </a:solidFill>
              </a:rPr>
              <a:t>fixed</a:t>
            </a:r>
            <a:r>
              <a:rPr lang="en-US" altLang="en-US" b="1" dirty="0">
                <a:solidFill>
                  <a:schemeClr val="accent2"/>
                </a:solidFill>
              </a:rPr>
              <a:t> value of </a:t>
            </a:r>
            <a:r>
              <a:rPr lang="en-US" altLang="en-US" b="1" dirty="0">
                <a:solidFill>
                  <a:srgbClr val="FF0000"/>
                </a:solidFill>
              </a:rPr>
              <a:t>base</a:t>
            </a:r>
            <a:r>
              <a:rPr lang="en-US" altLang="en-US" b="1" dirty="0">
                <a:solidFill>
                  <a:schemeClr val="accent2"/>
                </a:solidFill>
              </a:rPr>
              <a:t> current</a:t>
            </a:r>
          </a:p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Base current remains constant for given values of </a:t>
            </a: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BB </a:t>
            </a:r>
          </a:p>
          <a:p>
            <a:pPr eaLnBrk="1" hangingPunct="1"/>
            <a:r>
              <a:rPr lang="en-US" altLang="en-US" b="1" dirty="0">
                <a:solidFill>
                  <a:schemeClr val="accent2"/>
                </a:solidFill>
              </a:rPr>
              <a:t>Usually </a:t>
            </a: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r>
              <a:rPr lang="en-US" altLang="en-US" b="1" dirty="0">
                <a:solidFill>
                  <a:schemeClr val="accent2"/>
                </a:solidFill>
              </a:rPr>
              <a:t> </a:t>
            </a: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and V</a:t>
            </a:r>
            <a:r>
              <a:rPr lang="en-US" altLang="en-US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rgbClr val="C0504D"/>
                </a:solidFill>
                <a:latin typeface="Times New Roman" panose="02020603050405020304" pitchFamily="18" charset="0"/>
              </a:rPr>
              <a:t>are the same supply</a:t>
            </a:r>
          </a:p>
          <a:p>
            <a:pPr eaLnBrk="1" hangingPunct="1"/>
            <a:endParaRPr lang="en-US" altLang="en-US" b="1" dirty="0">
              <a:solidFill>
                <a:schemeClr val="accent2"/>
              </a:solidFill>
            </a:endParaRPr>
          </a:p>
        </p:txBody>
      </p:sp>
      <p:grpSp>
        <p:nvGrpSpPr>
          <p:cNvPr id="49156" name="Group 2"/>
          <p:cNvGrpSpPr>
            <a:grpSpLocks/>
          </p:cNvGrpSpPr>
          <p:nvPr/>
        </p:nvGrpSpPr>
        <p:grpSpPr bwMode="auto">
          <a:xfrm rot="10800000">
            <a:off x="7340600" y="2505075"/>
            <a:ext cx="330200" cy="984250"/>
            <a:chOff x="2000" y="1771"/>
            <a:chExt cx="208" cy="620"/>
          </a:xfrm>
        </p:grpSpPr>
        <p:sp>
          <p:nvSpPr>
            <p:cNvPr id="49207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8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9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0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1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2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13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157" name="Group 10"/>
          <p:cNvGrpSpPr>
            <a:grpSpLocks/>
          </p:cNvGrpSpPr>
          <p:nvPr/>
        </p:nvGrpSpPr>
        <p:grpSpPr bwMode="auto">
          <a:xfrm rot="16200000" flipH="1">
            <a:off x="7279482" y="4337843"/>
            <a:ext cx="482600" cy="614363"/>
            <a:chOff x="864" y="1152"/>
            <a:chExt cx="417" cy="480"/>
          </a:xfrm>
        </p:grpSpPr>
        <p:sp>
          <p:nvSpPr>
            <p:cNvPr id="49203" name="Line 11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4" name="Line 12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5" name="Line 13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6" name="Line 14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158" name="Group 15"/>
          <p:cNvGrpSpPr>
            <a:grpSpLocks/>
          </p:cNvGrpSpPr>
          <p:nvPr/>
        </p:nvGrpSpPr>
        <p:grpSpPr bwMode="auto">
          <a:xfrm rot="16200000" flipH="1">
            <a:off x="1183482" y="5725318"/>
            <a:ext cx="482600" cy="614363"/>
            <a:chOff x="864" y="1152"/>
            <a:chExt cx="417" cy="480"/>
          </a:xfrm>
        </p:grpSpPr>
        <p:sp>
          <p:nvSpPr>
            <p:cNvPr id="49199" name="Line 16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0" name="Line 17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1" name="Line 18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02" name="Line 19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159" name="Group 20"/>
          <p:cNvGrpSpPr>
            <a:grpSpLocks/>
          </p:cNvGrpSpPr>
          <p:nvPr/>
        </p:nvGrpSpPr>
        <p:grpSpPr bwMode="auto">
          <a:xfrm rot="5400000">
            <a:off x="2120900" y="3940175"/>
            <a:ext cx="330200" cy="984250"/>
            <a:chOff x="2000" y="1771"/>
            <a:chExt cx="208" cy="620"/>
          </a:xfrm>
        </p:grpSpPr>
        <p:sp>
          <p:nvSpPr>
            <p:cNvPr id="49192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3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4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5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6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7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98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60" name="Text Box 28"/>
          <p:cNvSpPr txBox="1">
            <a:spLocks noChangeArrowheads="1"/>
          </p:cNvSpPr>
          <p:nvPr/>
        </p:nvSpPr>
        <p:spPr bwMode="auto">
          <a:xfrm>
            <a:off x="7899400" y="4419600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1" name="Text Box 29"/>
          <p:cNvSpPr txBox="1">
            <a:spLocks noChangeArrowheads="1"/>
          </p:cNvSpPr>
          <p:nvPr/>
        </p:nvSpPr>
        <p:spPr bwMode="auto">
          <a:xfrm>
            <a:off x="7747000" y="27432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2" name="Text Box 30"/>
          <p:cNvSpPr txBox="1">
            <a:spLocks noChangeArrowheads="1"/>
          </p:cNvSpPr>
          <p:nvPr/>
        </p:nvSpPr>
        <p:spPr bwMode="auto">
          <a:xfrm>
            <a:off x="1955800" y="458628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3" name="Text Box 31"/>
          <p:cNvSpPr txBox="1">
            <a:spLocks noChangeArrowheads="1"/>
          </p:cNvSpPr>
          <p:nvPr/>
        </p:nvSpPr>
        <p:spPr bwMode="auto">
          <a:xfrm>
            <a:off x="279400" y="57150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4" name="Line 32"/>
          <p:cNvSpPr>
            <a:spLocks noChangeShapeType="1"/>
          </p:cNvSpPr>
          <p:nvPr/>
        </p:nvSpPr>
        <p:spPr bwMode="auto">
          <a:xfrm>
            <a:off x="7518400" y="3489325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Line 33"/>
          <p:cNvSpPr>
            <a:spLocks noChangeShapeType="1"/>
          </p:cNvSpPr>
          <p:nvPr/>
        </p:nvSpPr>
        <p:spPr bwMode="auto">
          <a:xfrm flipH="1">
            <a:off x="4851400" y="220980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6" name="Line 34"/>
          <p:cNvSpPr>
            <a:spLocks noChangeShapeType="1"/>
          </p:cNvSpPr>
          <p:nvPr/>
        </p:nvSpPr>
        <p:spPr bwMode="auto">
          <a:xfrm>
            <a:off x="7518400" y="22098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7" name="Line 35"/>
          <p:cNvSpPr>
            <a:spLocks noChangeShapeType="1"/>
          </p:cNvSpPr>
          <p:nvPr/>
        </p:nvSpPr>
        <p:spPr bwMode="auto">
          <a:xfrm>
            <a:off x="1422400" y="6705600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8" name="Line 36"/>
          <p:cNvSpPr>
            <a:spLocks noChangeShapeType="1"/>
          </p:cNvSpPr>
          <p:nvPr/>
        </p:nvSpPr>
        <p:spPr bwMode="auto">
          <a:xfrm flipV="1">
            <a:off x="1422400" y="62642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9" name="Line 37"/>
          <p:cNvSpPr>
            <a:spLocks noChangeShapeType="1"/>
          </p:cNvSpPr>
          <p:nvPr/>
        </p:nvSpPr>
        <p:spPr bwMode="auto">
          <a:xfrm>
            <a:off x="7518400" y="48768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0" name="Line 38"/>
          <p:cNvSpPr>
            <a:spLocks noChangeShapeType="1"/>
          </p:cNvSpPr>
          <p:nvPr/>
        </p:nvSpPr>
        <p:spPr bwMode="auto">
          <a:xfrm flipV="1">
            <a:off x="1422400" y="4435475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1" name="Line 39"/>
          <p:cNvSpPr>
            <a:spLocks noChangeShapeType="1"/>
          </p:cNvSpPr>
          <p:nvPr/>
        </p:nvSpPr>
        <p:spPr bwMode="auto">
          <a:xfrm>
            <a:off x="1422400" y="44513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Line 40"/>
          <p:cNvSpPr>
            <a:spLocks noChangeShapeType="1"/>
          </p:cNvSpPr>
          <p:nvPr/>
        </p:nvSpPr>
        <p:spPr bwMode="auto">
          <a:xfrm flipH="1">
            <a:off x="4448175" y="4011613"/>
            <a:ext cx="0" cy="830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3" name="Line 41"/>
          <p:cNvSpPr>
            <a:spLocks noChangeShapeType="1"/>
          </p:cNvSpPr>
          <p:nvPr/>
        </p:nvSpPr>
        <p:spPr bwMode="auto">
          <a:xfrm>
            <a:off x="4451350" y="4619625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4" name="Line 42"/>
          <p:cNvSpPr>
            <a:spLocks noChangeShapeType="1"/>
          </p:cNvSpPr>
          <p:nvPr/>
        </p:nvSpPr>
        <p:spPr bwMode="auto">
          <a:xfrm flipH="1">
            <a:off x="2794000" y="4427538"/>
            <a:ext cx="1643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5" name="Freeform 43"/>
          <p:cNvSpPr>
            <a:spLocks/>
          </p:cNvSpPr>
          <p:nvPr/>
        </p:nvSpPr>
        <p:spPr bwMode="auto">
          <a:xfrm>
            <a:off x="4540250" y="4700588"/>
            <a:ext cx="239713" cy="249237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6" name="Oval 44"/>
          <p:cNvSpPr>
            <a:spLocks noChangeArrowheads="1"/>
          </p:cNvSpPr>
          <p:nvPr/>
        </p:nvSpPr>
        <p:spPr bwMode="auto">
          <a:xfrm>
            <a:off x="4019550" y="3816350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7" name="Line 45"/>
          <p:cNvSpPr>
            <a:spLocks noChangeShapeType="1"/>
          </p:cNvSpPr>
          <p:nvPr/>
        </p:nvSpPr>
        <p:spPr bwMode="auto">
          <a:xfrm flipV="1">
            <a:off x="4451350" y="38481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8" name="Line 46"/>
          <p:cNvSpPr>
            <a:spLocks noChangeShapeType="1"/>
          </p:cNvSpPr>
          <p:nvPr/>
        </p:nvSpPr>
        <p:spPr bwMode="auto">
          <a:xfrm flipV="1">
            <a:off x="4835525" y="2193925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79" name="Line 47"/>
          <p:cNvSpPr>
            <a:spLocks noChangeShapeType="1"/>
          </p:cNvSpPr>
          <p:nvPr/>
        </p:nvSpPr>
        <p:spPr bwMode="auto">
          <a:xfrm flipV="1">
            <a:off x="4835525" y="4984750"/>
            <a:ext cx="0" cy="1736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0" name="Text Box 48"/>
          <p:cNvSpPr txBox="1">
            <a:spLocks noChangeArrowheads="1"/>
          </p:cNvSpPr>
          <p:nvPr/>
        </p:nvSpPr>
        <p:spPr bwMode="auto">
          <a:xfrm>
            <a:off x="1787525" y="5705475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49181" name="Text Box 52"/>
          <p:cNvSpPr txBox="1">
            <a:spLocks noChangeArrowheads="1"/>
          </p:cNvSpPr>
          <p:nvPr/>
        </p:nvSpPr>
        <p:spPr bwMode="auto">
          <a:xfrm>
            <a:off x="6299200" y="2667000"/>
            <a:ext cx="92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82" name="Text Box 53"/>
          <p:cNvSpPr txBox="1">
            <a:spLocks noChangeArrowheads="1"/>
          </p:cNvSpPr>
          <p:nvPr/>
        </p:nvSpPr>
        <p:spPr bwMode="auto">
          <a:xfrm>
            <a:off x="6223000" y="4419600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60" name="Text Box 55"/>
          <p:cNvSpPr txBox="1">
            <a:spLocks noChangeArrowheads="1"/>
          </p:cNvSpPr>
          <p:nvPr/>
        </p:nvSpPr>
        <p:spPr bwMode="auto">
          <a:xfrm>
            <a:off x="5461000" y="3657600"/>
            <a:ext cx="77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Line 56"/>
          <p:cNvSpPr>
            <a:spLocks noChangeShapeType="1"/>
          </p:cNvSpPr>
          <p:nvPr/>
        </p:nvSpPr>
        <p:spPr bwMode="auto">
          <a:xfrm flipV="1">
            <a:off x="5842000" y="2209800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Line 57"/>
          <p:cNvSpPr>
            <a:spLocks noChangeShapeType="1"/>
          </p:cNvSpPr>
          <p:nvPr/>
        </p:nvSpPr>
        <p:spPr bwMode="auto">
          <a:xfrm>
            <a:off x="5842000" y="4267200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60" grpId="0" autoUpdateAnimBg="0"/>
      <p:bldP spid="61" grpId="0" animBg="1"/>
      <p:bldP spid="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6"/>
          <p:cNvSpPr txBox="1">
            <a:spLocks noChangeArrowheads="1"/>
          </p:cNvSpPr>
          <p:nvPr/>
        </p:nvSpPr>
        <p:spPr bwMode="auto">
          <a:xfrm>
            <a:off x="0" y="549275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latin typeface="Arial" panose="020B0604020202020204" pitchFamily="34" charset="0"/>
                <a:cs typeface="Arial" panose="020B0604020202020204" pitchFamily="34" charset="0"/>
              </a:rPr>
              <a:t>The Base-Emitter Loop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3" name="Text Box 16"/>
          <p:cNvSpPr txBox="1">
            <a:spLocks noChangeArrowheads="1"/>
          </p:cNvSpPr>
          <p:nvPr/>
        </p:nvSpPr>
        <p:spPr bwMode="auto">
          <a:xfrm>
            <a:off x="533400" y="2036763"/>
            <a:ext cx="396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Kirchhoff’s voltage law:</a:t>
            </a:r>
          </a:p>
        </p:txBody>
      </p:sp>
      <p:sp>
        <p:nvSpPr>
          <p:cNvPr id="51204" name="Text Box 17"/>
          <p:cNvSpPr txBox="1">
            <a:spLocks noChangeArrowheads="1"/>
          </p:cNvSpPr>
          <p:nvPr/>
        </p:nvSpPr>
        <p:spPr bwMode="auto">
          <a:xfrm>
            <a:off x="457200" y="3941763"/>
            <a:ext cx="419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Solving for base current:</a:t>
            </a:r>
          </a:p>
        </p:txBody>
      </p:sp>
      <p:grpSp>
        <p:nvGrpSpPr>
          <p:cNvPr id="51205" name="Group 12"/>
          <p:cNvGrpSpPr>
            <a:grpSpLocks/>
          </p:cNvGrpSpPr>
          <p:nvPr/>
        </p:nvGrpSpPr>
        <p:grpSpPr bwMode="auto">
          <a:xfrm>
            <a:off x="838200" y="2895600"/>
            <a:ext cx="3048000" cy="762000"/>
            <a:chOff x="432" y="1824"/>
            <a:chExt cx="1920" cy="480"/>
          </a:xfrm>
        </p:grpSpPr>
        <p:sp>
          <p:nvSpPr>
            <p:cNvPr id="51210" name="AutoShape 11"/>
            <p:cNvSpPr>
              <a:spLocks noChangeArrowheads="1"/>
            </p:cNvSpPr>
            <p:nvPr/>
          </p:nvSpPr>
          <p:spPr bwMode="auto">
            <a:xfrm>
              <a:off x="432" y="1824"/>
              <a:ext cx="1920" cy="48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1211" name="Rectangle 18"/>
            <p:cNvSpPr>
              <a:spLocks noChangeArrowheads="1"/>
            </p:cNvSpPr>
            <p:nvPr/>
          </p:nvSpPr>
          <p:spPr bwMode="auto">
            <a:xfrm>
              <a:off x="575" y="1939"/>
              <a:ext cx="16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r>
                <a:rPr lang="en-US" altLang="en-US" sz="2000" i="1"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altLang="en-US" sz="2000" i="1" baseline="-25000">
                  <a:latin typeface="Arial" panose="020B0604020202020204" pitchFamily="34" charset="0"/>
                  <a:cs typeface="Arial" panose="020B0604020202020204" pitchFamily="34" charset="0"/>
                </a:rPr>
                <a:t>CC</a:t>
              </a:r>
              <a:r>
                <a:rPr lang="en-US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altLang="en-US" sz="2000" i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en-US" sz="2000" i="1" baseline="-2500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altLang="en-US" sz="2000" i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en-US" sz="2000" i="1" baseline="-2500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en-US" altLang="en-US" sz="2000" i="1"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altLang="en-US" sz="2000" i="1" baseline="-25000">
                  <a:latin typeface="Arial" panose="020B0604020202020204" pitchFamily="34" charset="0"/>
                  <a:cs typeface="Arial" panose="020B0604020202020204" pitchFamily="34" charset="0"/>
                </a:rPr>
                <a:t>BE</a:t>
              </a:r>
              <a:r>
                <a:rPr lang="en-US" altLang="en-US" sz="200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</p:txBody>
        </p:sp>
      </p:grpSp>
      <p:grpSp>
        <p:nvGrpSpPr>
          <p:cNvPr id="51206" name="Group 14"/>
          <p:cNvGrpSpPr>
            <a:grpSpLocks/>
          </p:cNvGrpSpPr>
          <p:nvPr/>
        </p:nvGrpSpPr>
        <p:grpSpPr bwMode="auto">
          <a:xfrm>
            <a:off x="1143000" y="4572000"/>
            <a:ext cx="2438400" cy="1143000"/>
            <a:chOff x="768" y="2880"/>
            <a:chExt cx="1536" cy="720"/>
          </a:xfrm>
        </p:grpSpPr>
        <p:sp>
          <p:nvSpPr>
            <p:cNvPr id="51208" name="AutoShape 13"/>
            <p:cNvSpPr>
              <a:spLocks noChangeArrowheads="1"/>
            </p:cNvSpPr>
            <p:nvPr/>
          </p:nvSpPr>
          <p:spPr bwMode="auto">
            <a:xfrm>
              <a:off x="768" y="2880"/>
              <a:ext cx="1536" cy="72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51209" name="Object 19"/>
            <p:cNvGraphicFramePr>
              <a:graphicFrameLocks noChangeAspect="1"/>
            </p:cNvGraphicFramePr>
            <p:nvPr/>
          </p:nvGraphicFramePr>
          <p:xfrm>
            <a:off x="892" y="2989"/>
            <a:ext cx="1288" cy="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Equation" r:id="rId3" imgW="939392" imgH="431613" progId="Equation.3">
                    <p:embed/>
                  </p:oleObj>
                </mc:Choice>
                <mc:Fallback>
                  <p:oleObj name="Equation" r:id="rId3" imgW="939392" imgH="431613" progId="Equation.3">
                    <p:embed/>
                    <p:pic>
                      <p:nvPicPr>
                        <p:cNvPr id="5120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" y="2989"/>
                          <a:ext cx="1288" cy="5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1207" name="Picture 14" descr="fg04_00400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63" y="2057400"/>
            <a:ext cx="3919537" cy="3717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6"/>
          <p:cNvSpPr txBox="1">
            <a:spLocks noChangeArrowheads="1"/>
          </p:cNvSpPr>
          <p:nvPr/>
        </p:nvSpPr>
        <p:spPr bwMode="auto">
          <a:xfrm>
            <a:off x="0" y="638175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latin typeface="Arial" panose="020B0604020202020204" pitchFamily="34" charset="0"/>
                <a:cs typeface="Arial" panose="020B0604020202020204" pitchFamily="34" charset="0"/>
              </a:rPr>
              <a:t>Collector-Emitter Loop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34"/>
          <p:cNvSpPr>
            <a:spLocks noChangeArrowheads="1"/>
          </p:cNvSpPr>
          <p:nvPr/>
        </p:nvSpPr>
        <p:spPr bwMode="auto">
          <a:xfrm>
            <a:off x="533400" y="2460625"/>
            <a:ext cx="2741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Collector current:</a:t>
            </a:r>
          </a:p>
        </p:txBody>
      </p:sp>
      <p:sp>
        <p:nvSpPr>
          <p:cNvPr id="52228" name="Text Box 35"/>
          <p:cNvSpPr txBox="1">
            <a:spLocks noChangeArrowheads="1"/>
          </p:cNvSpPr>
          <p:nvPr/>
        </p:nvSpPr>
        <p:spPr bwMode="auto">
          <a:xfrm>
            <a:off x="533400" y="38100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Kirchhoff’s voltage law:</a:t>
            </a:r>
          </a:p>
        </p:txBody>
      </p:sp>
      <p:grpSp>
        <p:nvGrpSpPr>
          <p:cNvPr id="52229" name="Group 15"/>
          <p:cNvGrpSpPr>
            <a:grpSpLocks/>
          </p:cNvGrpSpPr>
          <p:nvPr/>
        </p:nvGrpSpPr>
        <p:grpSpPr bwMode="auto">
          <a:xfrm>
            <a:off x="1905000" y="2971800"/>
            <a:ext cx="1524000" cy="609600"/>
            <a:chOff x="1200" y="1920"/>
            <a:chExt cx="720" cy="336"/>
          </a:xfrm>
        </p:grpSpPr>
        <p:sp>
          <p:nvSpPr>
            <p:cNvPr id="52234" name="AutoShape 13"/>
            <p:cNvSpPr>
              <a:spLocks noChangeArrowheads="1"/>
            </p:cNvSpPr>
            <p:nvPr/>
          </p:nvSpPr>
          <p:spPr bwMode="auto">
            <a:xfrm>
              <a:off x="1200" y="1920"/>
              <a:ext cx="720" cy="3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52235" name="Object 37"/>
            <p:cNvGraphicFramePr>
              <a:graphicFrameLocks noChangeAspect="1"/>
            </p:cNvGraphicFramePr>
            <p:nvPr/>
          </p:nvGraphicFramePr>
          <p:xfrm>
            <a:off x="1295" y="1971"/>
            <a:ext cx="53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3" imgW="520700" imgH="228600" progId="Equation.3">
                    <p:embed/>
                  </p:oleObj>
                </mc:Choice>
                <mc:Fallback>
                  <p:oleObj name="Equation" r:id="rId3" imgW="520700" imgH="228600" progId="Equation.3">
                    <p:embed/>
                    <p:pic>
                      <p:nvPicPr>
                        <p:cNvPr id="52235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" y="1971"/>
                          <a:ext cx="530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230" name="Group 16"/>
          <p:cNvGrpSpPr>
            <a:grpSpLocks/>
          </p:cNvGrpSpPr>
          <p:nvPr/>
        </p:nvGrpSpPr>
        <p:grpSpPr bwMode="auto">
          <a:xfrm>
            <a:off x="1600200" y="4419600"/>
            <a:ext cx="2133600" cy="685800"/>
            <a:chOff x="1008" y="2784"/>
            <a:chExt cx="1344" cy="432"/>
          </a:xfrm>
        </p:grpSpPr>
        <p:sp>
          <p:nvSpPr>
            <p:cNvPr id="52232" name="AutoShape 14"/>
            <p:cNvSpPr>
              <a:spLocks noChangeArrowheads="1"/>
            </p:cNvSpPr>
            <p:nvPr/>
          </p:nvSpPr>
          <p:spPr bwMode="auto">
            <a:xfrm>
              <a:off x="1008" y="2784"/>
              <a:ext cx="1344" cy="4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52233" name="Object 38"/>
            <p:cNvGraphicFramePr>
              <a:graphicFrameLocks noChangeAspect="1"/>
            </p:cNvGraphicFramePr>
            <p:nvPr/>
          </p:nvGraphicFramePr>
          <p:xfrm>
            <a:off x="1146" y="2886"/>
            <a:ext cx="106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5" imgW="1079500" imgH="228600" progId="Equation.3">
                    <p:embed/>
                  </p:oleObj>
                </mc:Choice>
                <mc:Fallback>
                  <p:oleObj name="Equation" r:id="rId5" imgW="1079500" imgH="228600" progId="Equation.3">
                    <p:embed/>
                    <p:pic>
                      <p:nvPicPr>
                        <p:cNvPr id="52233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6" y="2886"/>
                          <a:ext cx="106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2231" name="Picture 16" descr="fg04_00500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176463"/>
            <a:ext cx="3151188" cy="34623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Load line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A </a:t>
            </a:r>
            <a:r>
              <a:rPr lang="en-US" altLang="en-US" b="1" u="sng">
                <a:solidFill>
                  <a:schemeClr val="accent2"/>
                </a:solidFill>
              </a:rPr>
              <a:t>visual</a:t>
            </a:r>
            <a:r>
              <a:rPr lang="en-US" altLang="en-US" b="1">
                <a:solidFill>
                  <a:schemeClr val="accent2"/>
                </a:solidFill>
              </a:rPr>
              <a:t> summary of all the possible transistor operating points </a:t>
            </a:r>
          </a:p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Connects </a:t>
            </a:r>
            <a:r>
              <a:rPr lang="en-US" altLang="en-US" b="1" u="sng">
                <a:solidFill>
                  <a:schemeClr val="accent2"/>
                </a:solidFill>
              </a:rPr>
              <a:t>saturation</a:t>
            </a:r>
            <a:r>
              <a:rPr lang="en-US" altLang="en-US" b="1">
                <a:solidFill>
                  <a:schemeClr val="accent2"/>
                </a:solidFill>
              </a:rPr>
              <a:t> current (</a:t>
            </a:r>
            <a:r>
              <a:rPr lang="en-US" altLang="en-US" b="1">
                <a:solidFill>
                  <a:srgbClr val="FF0000"/>
                </a:solidFill>
              </a:rPr>
              <a:t>I</a:t>
            </a:r>
            <a:r>
              <a:rPr lang="en-US" altLang="en-US" b="1" baseline="-25000">
                <a:solidFill>
                  <a:srgbClr val="FF0000"/>
                </a:solidFill>
              </a:rPr>
              <a:t>Csat</a:t>
            </a:r>
            <a:r>
              <a:rPr lang="en-US" altLang="en-US" b="1">
                <a:solidFill>
                  <a:schemeClr val="accent2"/>
                </a:solidFill>
              </a:rPr>
              <a:t>) to </a:t>
            </a:r>
            <a:r>
              <a:rPr lang="en-US" altLang="en-US" b="1" u="sng">
                <a:solidFill>
                  <a:schemeClr val="accent2"/>
                </a:solidFill>
              </a:rPr>
              <a:t>cutoff</a:t>
            </a:r>
            <a:r>
              <a:rPr lang="en-US" altLang="en-US" b="1">
                <a:solidFill>
                  <a:schemeClr val="accent2"/>
                </a:solidFill>
              </a:rPr>
              <a:t> voltage (</a:t>
            </a:r>
            <a:r>
              <a:rPr lang="en-US" altLang="en-US" b="1">
                <a:solidFill>
                  <a:srgbClr val="FF0000"/>
                </a:solidFill>
              </a:rPr>
              <a:t>V</a:t>
            </a:r>
            <a:r>
              <a:rPr lang="en-US" altLang="en-US" b="1" baseline="-25000">
                <a:solidFill>
                  <a:srgbClr val="FF0000"/>
                </a:solidFill>
              </a:rPr>
              <a:t>CEcutoff</a:t>
            </a:r>
            <a:r>
              <a:rPr lang="en-US" altLang="en-US" b="1" baseline="-25000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chemeClr val="accent2"/>
                </a:solidFill>
              </a:rPr>
              <a:t>)</a:t>
            </a:r>
            <a:endParaRPr lang="en-US" altLang="en-US" b="1" baseline="-250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286000" y="55626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781300" y="55610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3289300" y="55610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3797300" y="55483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4335463" y="55641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4764088" y="55610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5308600" y="55610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5803900" y="55626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6308725" y="55483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6819900" y="55626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2049463" y="48847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2070100" y="44418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2070100" y="40306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4287" name="Text Box 15"/>
          <p:cNvSpPr txBox="1">
            <a:spLocks noChangeArrowheads="1"/>
          </p:cNvSpPr>
          <p:nvPr/>
        </p:nvSpPr>
        <p:spPr bwMode="auto">
          <a:xfrm>
            <a:off x="2070100" y="36052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1938338" y="31575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4289" name="Text Box 17"/>
          <p:cNvSpPr txBox="1">
            <a:spLocks noChangeArrowheads="1"/>
          </p:cNvSpPr>
          <p:nvPr/>
        </p:nvSpPr>
        <p:spPr bwMode="auto">
          <a:xfrm>
            <a:off x="1935163" y="27305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1935163" y="227488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3956050" y="6119813"/>
            <a:ext cx="204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Volts</a:t>
            </a:r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423863" y="3603625"/>
            <a:ext cx="1525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mA</a:t>
            </a:r>
          </a:p>
        </p:txBody>
      </p:sp>
      <p:grpSp>
        <p:nvGrpSpPr>
          <p:cNvPr id="54293" name="Group 22"/>
          <p:cNvGrpSpPr>
            <a:grpSpLocks/>
          </p:cNvGrpSpPr>
          <p:nvPr/>
        </p:nvGrpSpPr>
        <p:grpSpPr bwMode="auto">
          <a:xfrm>
            <a:off x="2471738" y="4567238"/>
            <a:ext cx="6145212" cy="1020762"/>
            <a:chOff x="1571" y="2430"/>
            <a:chExt cx="3871" cy="643"/>
          </a:xfrm>
        </p:grpSpPr>
        <p:sp>
          <p:nvSpPr>
            <p:cNvPr id="54338" name="Freeform 23"/>
            <p:cNvSpPr>
              <a:spLocks/>
            </p:cNvSpPr>
            <p:nvPr/>
          </p:nvSpPr>
          <p:spPr bwMode="auto">
            <a:xfrm>
              <a:off x="1571" y="2606"/>
              <a:ext cx="3208" cy="467"/>
            </a:xfrm>
            <a:custGeom>
              <a:avLst/>
              <a:gdLst>
                <a:gd name="T0" fmla="*/ 5 w 3208"/>
                <a:gd name="T1" fmla="*/ 467 h 467"/>
                <a:gd name="T2" fmla="*/ 27 w 3208"/>
                <a:gd name="T3" fmla="*/ 368 h 467"/>
                <a:gd name="T4" fmla="*/ 167 w 3208"/>
                <a:gd name="T5" fmla="*/ 83 h 467"/>
                <a:gd name="T6" fmla="*/ 746 w 3208"/>
                <a:gd name="T7" fmla="*/ 21 h 467"/>
                <a:gd name="T8" fmla="*/ 3208 w 3208"/>
                <a:gd name="T9" fmla="*/ 0 h 4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8" h="467">
                  <a:moveTo>
                    <a:pt x="5" y="467"/>
                  </a:moveTo>
                  <a:cubicBezTo>
                    <a:pt x="7" y="451"/>
                    <a:pt x="0" y="432"/>
                    <a:pt x="27" y="368"/>
                  </a:cubicBezTo>
                  <a:cubicBezTo>
                    <a:pt x="54" y="304"/>
                    <a:pt x="47" y="141"/>
                    <a:pt x="167" y="83"/>
                  </a:cubicBezTo>
                  <a:cubicBezTo>
                    <a:pt x="287" y="25"/>
                    <a:pt x="239" y="35"/>
                    <a:pt x="746" y="21"/>
                  </a:cubicBezTo>
                  <a:cubicBezTo>
                    <a:pt x="1253" y="7"/>
                    <a:pt x="2695" y="4"/>
                    <a:pt x="3208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9" name="Text Box 24"/>
            <p:cNvSpPr txBox="1">
              <a:spLocks noChangeArrowheads="1"/>
            </p:cNvSpPr>
            <p:nvPr/>
          </p:nvSpPr>
          <p:spPr bwMode="auto">
            <a:xfrm>
              <a:off x="4755" y="24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20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4" name="Group 25"/>
          <p:cNvGrpSpPr>
            <a:grpSpLocks/>
          </p:cNvGrpSpPr>
          <p:nvPr/>
        </p:nvGrpSpPr>
        <p:grpSpPr bwMode="auto">
          <a:xfrm>
            <a:off x="2457450" y="5308600"/>
            <a:ext cx="5984875" cy="519113"/>
            <a:chOff x="1562" y="2897"/>
            <a:chExt cx="3770" cy="327"/>
          </a:xfrm>
        </p:grpSpPr>
        <p:sp>
          <p:nvSpPr>
            <p:cNvPr id="54336" name="Line 26"/>
            <p:cNvSpPr>
              <a:spLocks noChangeShapeType="1"/>
            </p:cNvSpPr>
            <p:nvPr/>
          </p:nvSpPr>
          <p:spPr bwMode="auto">
            <a:xfrm>
              <a:off x="1562" y="3061"/>
              <a:ext cx="3217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7" name="Text Box 27"/>
            <p:cNvSpPr txBox="1">
              <a:spLocks noChangeArrowheads="1"/>
            </p:cNvSpPr>
            <p:nvPr/>
          </p:nvSpPr>
          <p:spPr bwMode="auto">
            <a:xfrm>
              <a:off x="4757" y="2897"/>
              <a:ext cx="5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5" name="Group 28"/>
          <p:cNvGrpSpPr>
            <a:grpSpLocks/>
          </p:cNvGrpSpPr>
          <p:nvPr/>
        </p:nvGrpSpPr>
        <p:grpSpPr bwMode="auto">
          <a:xfrm>
            <a:off x="2457450" y="2160588"/>
            <a:ext cx="6335713" cy="3409950"/>
            <a:chOff x="1562" y="914"/>
            <a:chExt cx="3991" cy="2148"/>
          </a:xfrm>
        </p:grpSpPr>
        <p:sp>
          <p:nvSpPr>
            <p:cNvPr id="54334" name="Freeform 29"/>
            <p:cNvSpPr>
              <a:spLocks/>
            </p:cNvSpPr>
            <p:nvPr/>
          </p:nvSpPr>
          <p:spPr bwMode="auto">
            <a:xfrm>
              <a:off x="1562" y="1096"/>
              <a:ext cx="3227" cy="1966"/>
            </a:xfrm>
            <a:custGeom>
              <a:avLst/>
              <a:gdLst>
                <a:gd name="T0" fmla="*/ 0 w 3227"/>
                <a:gd name="T1" fmla="*/ 1966 h 1966"/>
                <a:gd name="T2" fmla="*/ 82 w 3227"/>
                <a:gd name="T3" fmla="*/ 404 h 1966"/>
                <a:gd name="T4" fmla="*/ 217 w 3227"/>
                <a:gd name="T5" fmla="*/ 114 h 1966"/>
                <a:gd name="T6" fmla="*/ 858 w 3227"/>
                <a:gd name="T7" fmla="*/ 73 h 1966"/>
                <a:gd name="T8" fmla="*/ 3227 w 3227"/>
                <a:gd name="T9" fmla="*/ 0 h 19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7" h="1966">
                  <a:moveTo>
                    <a:pt x="0" y="1966"/>
                  </a:moveTo>
                  <a:cubicBezTo>
                    <a:pt x="14" y="1706"/>
                    <a:pt x="46" y="713"/>
                    <a:pt x="82" y="404"/>
                  </a:cubicBezTo>
                  <a:cubicBezTo>
                    <a:pt x="118" y="95"/>
                    <a:pt x="88" y="169"/>
                    <a:pt x="217" y="114"/>
                  </a:cubicBezTo>
                  <a:cubicBezTo>
                    <a:pt x="346" y="59"/>
                    <a:pt x="356" y="92"/>
                    <a:pt x="858" y="73"/>
                  </a:cubicBezTo>
                  <a:cubicBezTo>
                    <a:pt x="1360" y="54"/>
                    <a:pt x="2734" y="15"/>
                    <a:pt x="3227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5" name="Text Box 30"/>
            <p:cNvSpPr txBox="1">
              <a:spLocks noChangeArrowheads="1"/>
            </p:cNvSpPr>
            <p:nvPr/>
          </p:nvSpPr>
          <p:spPr bwMode="auto">
            <a:xfrm>
              <a:off x="4754" y="914"/>
              <a:ext cx="7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solidFill>
                    <a:srgbClr val="C0504D"/>
                  </a:solidFill>
                  <a:latin typeface="Times New Roman" panose="02020603050405020304" pitchFamily="18" charset="0"/>
                </a:rPr>
                <a:t>100 </a:t>
              </a:r>
              <a:r>
                <a:rPr lang="en-US" altLang="en-US" sz="2800" dirty="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 dirty="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6" name="Group 31"/>
          <p:cNvGrpSpPr>
            <a:grpSpLocks/>
          </p:cNvGrpSpPr>
          <p:nvPr/>
        </p:nvGrpSpPr>
        <p:grpSpPr bwMode="auto">
          <a:xfrm>
            <a:off x="2438400" y="2116138"/>
            <a:ext cx="5138738" cy="3497262"/>
            <a:chOff x="1269" y="927"/>
            <a:chExt cx="3237" cy="2203"/>
          </a:xfrm>
        </p:grpSpPr>
        <p:sp>
          <p:nvSpPr>
            <p:cNvPr id="54314" name="Line 32"/>
            <p:cNvSpPr>
              <a:spLocks noChangeShapeType="1"/>
            </p:cNvSpPr>
            <p:nvPr/>
          </p:nvSpPr>
          <p:spPr bwMode="auto">
            <a:xfrm>
              <a:off x="1269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5" name="Line 33"/>
            <p:cNvSpPr>
              <a:spLocks noChangeShapeType="1"/>
            </p:cNvSpPr>
            <p:nvPr/>
          </p:nvSpPr>
          <p:spPr bwMode="auto">
            <a:xfrm>
              <a:off x="1272" y="929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6" name="Line 34"/>
            <p:cNvSpPr>
              <a:spLocks noChangeShapeType="1"/>
            </p:cNvSpPr>
            <p:nvPr/>
          </p:nvSpPr>
          <p:spPr bwMode="auto">
            <a:xfrm>
              <a:off x="1274" y="1201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7" name="Line 35"/>
            <p:cNvSpPr>
              <a:spLocks noChangeShapeType="1"/>
            </p:cNvSpPr>
            <p:nvPr/>
          </p:nvSpPr>
          <p:spPr bwMode="auto">
            <a:xfrm>
              <a:off x="1274" y="147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8" name="Line 36"/>
            <p:cNvSpPr>
              <a:spLocks noChangeShapeType="1"/>
            </p:cNvSpPr>
            <p:nvPr/>
          </p:nvSpPr>
          <p:spPr bwMode="auto">
            <a:xfrm>
              <a:off x="1274" y="175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9" name="Line 37"/>
            <p:cNvSpPr>
              <a:spLocks noChangeShapeType="1"/>
            </p:cNvSpPr>
            <p:nvPr/>
          </p:nvSpPr>
          <p:spPr bwMode="auto">
            <a:xfrm>
              <a:off x="1274" y="2022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0" name="Line 38"/>
            <p:cNvSpPr>
              <a:spLocks noChangeShapeType="1"/>
            </p:cNvSpPr>
            <p:nvPr/>
          </p:nvSpPr>
          <p:spPr bwMode="auto">
            <a:xfrm>
              <a:off x="1274" y="229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1" name="Line 39"/>
            <p:cNvSpPr>
              <a:spLocks noChangeShapeType="1"/>
            </p:cNvSpPr>
            <p:nvPr/>
          </p:nvSpPr>
          <p:spPr bwMode="auto">
            <a:xfrm>
              <a:off x="1274" y="257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2" name="Line 40"/>
            <p:cNvSpPr>
              <a:spLocks noChangeShapeType="1"/>
            </p:cNvSpPr>
            <p:nvPr/>
          </p:nvSpPr>
          <p:spPr bwMode="auto">
            <a:xfrm>
              <a:off x="1274" y="2844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3" name="Line 41"/>
            <p:cNvSpPr>
              <a:spLocks noChangeShapeType="1"/>
            </p:cNvSpPr>
            <p:nvPr/>
          </p:nvSpPr>
          <p:spPr bwMode="auto">
            <a:xfrm>
              <a:off x="1274" y="3117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4" name="Line 42"/>
            <p:cNvSpPr>
              <a:spLocks noChangeShapeType="1"/>
            </p:cNvSpPr>
            <p:nvPr/>
          </p:nvSpPr>
          <p:spPr bwMode="auto">
            <a:xfrm>
              <a:off x="1591" y="937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5" name="Line 43"/>
            <p:cNvSpPr>
              <a:spLocks noChangeShapeType="1"/>
            </p:cNvSpPr>
            <p:nvPr/>
          </p:nvSpPr>
          <p:spPr bwMode="auto">
            <a:xfrm>
              <a:off x="1918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6" name="Line 44"/>
            <p:cNvSpPr>
              <a:spLocks noChangeShapeType="1"/>
            </p:cNvSpPr>
            <p:nvPr/>
          </p:nvSpPr>
          <p:spPr bwMode="auto">
            <a:xfrm>
              <a:off x="2244" y="936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7" name="Line 45"/>
            <p:cNvSpPr>
              <a:spLocks noChangeShapeType="1"/>
            </p:cNvSpPr>
            <p:nvPr/>
          </p:nvSpPr>
          <p:spPr bwMode="auto">
            <a:xfrm>
              <a:off x="2572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8" name="Line 46"/>
            <p:cNvSpPr>
              <a:spLocks noChangeShapeType="1"/>
            </p:cNvSpPr>
            <p:nvPr/>
          </p:nvSpPr>
          <p:spPr bwMode="auto">
            <a:xfrm>
              <a:off x="2905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29" name="Line 47"/>
            <p:cNvSpPr>
              <a:spLocks noChangeShapeType="1"/>
            </p:cNvSpPr>
            <p:nvPr/>
          </p:nvSpPr>
          <p:spPr bwMode="auto">
            <a:xfrm>
              <a:off x="3226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0" name="Line 48"/>
            <p:cNvSpPr>
              <a:spLocks noChangeShapeType="1"/>
            </p:cNvSpPr>
            <p:nvPr/>
          </p:nvSpPr>
          <p:spPr bwMode="auto">
            <a:xfrm>
              <a:off x="3558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1" name="Line 49"/>
            <p:cNvSpPr>
              <a:spLocks noChangeShapeType="1"/>
            </p:cNvSpPr>
            <p:nvPr/>
          </p:nvSpPr>
          <p:spPr bwMode="auto">
            <a:xfrm>
              <a:off x="3875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2" name="Line 50"/>
            <p:cNvSpPr>
              <a:spLocks noChangeShapeType="1"/>
            </p:cNvSpPr>
            <p:nvPr/>
          </p:nvSpPr>
          <p:spPr bwMode="auto">
            <a:xfrm>
              <a:off x="4193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33" name="Line 51"/>
            <p:cNvSpPr>
              <a:spLocks noChangeShapeType="1"/>
            </p:cNvSpPr>
            <p:nvPr/>
          </p:nvSpPr>
          <p:spPr bwMode="auto">
            <a:xfrm>
              <a:off x="4500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4297" name="Group 52"/>
          <p:cNvGrpSpPr>
            <a:grpSpLocks/>
          </p:cNvGrpSpPr>
          <p:nvPr/>
        </p:nvGrpSpPr>
        <p:grpSpPr bwMode="auto">
          <a:xfrm>
            <a:off x="2463800" y="2720975"/>
            <a:ext cx="6149975" cy="2867025"/>
            <a:chOff x="1566" y="1267"/>
            <a:chExt cx="3874" cy="1806"/>
          </a:xfrm>
        </p:grpSpPr>
        <p:sp>
          <p:nvSpPr>
            <p:cNvPr id="54312" name="Freeform 53"/>
            <p:cNvSpPr>
              <a:spLocks/>
            </p:cNvSpPr>
            <p:nvPr/>
          </p:nvSpPr>
          <p:spPr bwMode="auto">
            <a:xfrm>
              <a:off x="1566" y="1452"/>
              <a:ext cx="3209" cy="1621"/>
            </a:xfrm>
            <a:custGeom>
              <a:avLst/>
              <a:gdLst>
                <a:gd name="T0" fmla="*/ 0 w 3209"/>
                <a:gd name="T1" fmla="*/ 1621 h 1621"/>
                <a:gd name="T2" fmla="*/ 64 w 3209"/>
                <a:gd name="T3" fmla="*/ 404 h 1621"/>
                <a:gd name="T4" fmla="*/ 199 w 3209"/>
                <a:gd name="T5" fmla="*/ 114 h 1621"/>
                <a:gd name="T6" fmla="*/ 840 w 3209"/>
                <a:gd name="T7" fmla="*/ 73 h 1621"/>
                <a:gd name="T8" fmla="*/ 3209 w 3209"/>
                <a:gd name="T9" fmla="*/ 0 h 16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9" h="1621">
                  <a:moveTo>
                    <a:pt x="0" y="1621"/>
                  </a:moveTo>
                  <a:cubicBezTo>
                    <a:pt x="11" y="1416"/>
                    <a:pt x="31" y="655"/>
                    <a:pt x="64" y="404"/>
                  </a:cubicBezTo>
                  <a:cubicBezTo>
                    <a:pt x="97" y="153"/>
                    <a:pt x="70" y="169"/>
                    <a:pt x="199" y="114"/>
                  </a:cubicBezTo>
                  <a:cubicBezTo>
                    <a:pt x="328" y="59"/>
                    <a:pt x="338" y="92"/>
                    <a:pt x="840" y="73"/>
                  </a:cubicBezTo>
                  <a:cubicBezTo>
                    <a:pt x="1342" y="54"/>
                    <a:pt x="2716" y="15"/>
                    <a:pt x="3209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3" name="Text Box 54"/>
            <p:cNvSpPr txBox="1">
              <a:spLocks noChangeArrowheads="1"/>
            </p:cNvSpPr>
            <p:nvPr/>
          </p:nvSpPr>
          <p:spPr bwMode="auto">
            <a:xfrm>
              <a:off x="4753" y="1267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80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8" name="Group 55"/>
          <p:cNvGrpSpPr>
            <a:grpSpLocks/>
          </p:cNvGrpSpPr>
          <p:nvPr/>
        </p:nvGrpSpPr>
        <p:grpSpPr bwMode="auto">
          <a:xfrm>
            <a:off x="2463800" y="3297238"/>
            <a:ext cx="6149975" cy="2290762"/>
            <a:chOff x="1566" y="1630"/>
            <a:chExt cx="3874" cy="1443"/>
          </a:xfrm>
        </p:grpSpPr>
        <p:sp>
          <p:nvSpPr>
            <p:cNvPr id="54310" name="Freeform 56"/>
            <p:cNvSpPr>
              <a:spLocks/>
            </p:cNvSpPr>
            <p:nvPr/>
          </p:nvSpPr>
          <p:spPr bwMode="auto">
            <a:xfrm>
              <a:off x="1566" y="1820"/>
              <a:ext cx="3223" cy="1253"/>
            </a:xfrm>
            <a:custGeom>
              <a:avLst/>
              <a:gdLst>
                <a:gd name="T0" fmla="*/ 0 w 3223"/>
                <a:gd name="T1" fmla="*/ 1253 h 1253"/>
                <a:gd name="T2" fmla="*/ 50 w 3223"/>
                <a:gd name="T3" fmla="*/ 412 h 1253"/>
                <a:gd name="T4" fmla="*/ 185 w 3223"/>
                <a:gd name="T5" fmla="*/ 122 h 1253"/>
                <a:gd name="T6" fmla="*/ 826 w 3223"/>
                <a:gd name="T7" fmla="*/ 81 h 1253"/>
                <a:gd name="T8" fmla="*/ 3223 w 3223"/>
                <a:gd name="T9" fmla="*/ 0 h 1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3" h="1253">
                  <a:moveTo>
                    <a:pt x="0" y="1253"/>
                  </a:moveTo>
                  <a:cubicBezTo>
                    <a:pt x="7" y="1113"/>
                    <a:pt x="19" y="600"/>
                    <a:pt x="50" y="412"/>
                  </a:cubicBezTo>
                  <a:cubicBezTo>
                    <a:pt x="81" y="224"/>
                    <a:pt x="56" y="177"/>
                    <a:pt x="185" y="122"/>
                  </a:cubicBezTo>
                  <a:cubicBezTo>
                    <a:pt x="314" y="67"/>
                    <a:pt x="320" y="101"/>
                    <a:pt x="826" y="81"/>
                  </a:cubicBezTo>
                  <a:cubicBezTo>
                    <a:pt x="1332" y="61"/>
                    <a:pt x="2724" y="17"/>
                    <a:pt x="3223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11" name="Text Box 57"/>
            <p:cNvSpPr txBox="1">
              <a:spLocks noChangeArrowheads="1"/>
            </p:cNvSpPr>
            <p:nvPr/>
          </p:nvSpPr>
          <p:spPr bwMode="auto">
            <a:xfrm>
              <a:off x="4753" y="16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60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4299" name="Group 58"/>
          <p:cNvGrpSpPr>
            <a:grpSpLocks/>
          </p:cNvGrpSpPr>
          <p:nvPr/>
        </p:nvGrpSpPr>
        <p:grpSpPr bwMode="auto">
          <a:xfrm>
            <a:off x="2462213" y="3921125"/>
            <a:ext cx="6169025" cy="1682750"/>
            <a:chOff x="1565" y="2023"/>
            <a:chExt cx="3886" cy="1060"/>
          </a:xfrm>
        </p:grpSpPr>
        <p:sp>
          <p:nvSpPr>
            <p:cNvPr id="54308" name="Freeform 59"/>
            <p:cNvSpPr>
              <a:spLocks/>
            </p:cNvSpPr>
            <p:nvPr/>
          </p:nvSpPr>
          <p:spPr bwMode="auto">
            <a:xfrm>
              <a:off x="1565" y="2213"/>
              <a:ext cx="3214" cy="870"/>
            </a:xfrm>
            <a:custGeom>
              <a:avLst/>
              <a:gdLst>
                <a:gd name="T0" fmla="*/ 0 w 3214"/>
                <a:gd name="T1" fmla="*/ 870 h 870"/>
                <a:gd name="T2" fmla="*/ 47 w 3214"/>
                <a:gd name="T3" fmla="*/ 385 h 870"/>
                <a:gd name="T4" fmla="*/ 182 w 3214"/>
                <a:gd name="T5" fmla="*/ 95 h 870"/>
                <a:gd name="T6" fmla="*/ 823 w 3214"/>
                <a:gd name="T7" fmla="*/ 54 h 870"/>
                <a:gd name="T8" fmla="*/ 3214 w 3214"/>
                <a:gd name="T9" fmla="*/ 0 h 8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4" h="870">
                  <a:moveTo>
                    <a:pt x="0" y="870"/>
                  </a:moveTo>
                  <a:cubicBezTo>
                    <a:pt x="6" y="789"/>
                    <a:pt x="17" y="514"/>
                    <a:pt x="47" y="385"/>
                  </a:cubicBezTo>
                  <a:cubicBezTo>
                    <a:pt x="77" y="256"/>
                    <a:pt x="53" y="150"/>
                    <a:pt x="182" y="95"/>
                  </a:cubicBezTo>
                  <a:cubicBezTo>
                    <a:pt x="311" y="40"/>
                    <a:pt x="318" y="70"/>
                    <a:pt x="823" y="54"/>
                  </a:cubicBezTo>
                  <a:cubicBezTo>
                    <a:pt x="1328" y="38"/>
                    <a:pt x="2716" y="11"/>
                    <a:pt x="3214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09" name="Text Box 60"/>
            <p:cNvSpPr txBox="1">
              <a:spLocks noChangeArrowheads="1"/>
            </p:cNvSpPr>
            <p:nvPr/>
          </p:nvSpPr>
          <p:spPr bwMode="auto">
            <a:xfrm>
              <a:off x="4764" y="2023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40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4162" name="Freeform 66"/>
          <p:cNvSpPr>
            <a:spLocks/>
          </p:cNvSpPr>
          <p:nvPr/>
        </p:nvSpPr>
        <p:spPr bwMode="auto">
          <a:xfrm>
            <a:off x="2439988" y="2986088"/>
            <a:ext cx="3109912" cy="2595562"/>
          </a:xfrm>
          <a:custGeom>
            <a:avLst/>
            <a:gdLst>
              <a:gd name="T0" fmla="*/ 0 w 1959"/>
              <a:gd name="T1" fmla="*/ 0 h 1635"/>
              <a:gd name="T2" fmla="*/ 2147483646 w 1959"/>
              <a:gd name="T3" fmla="*/ 2147483646 h 163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59" h="1635">
                <a:moveTo>
                  <a:pt x="0" y="0"/>
                </a:moveTo>
                <a:lnTo>
                  <a:pt x="1959" y="1635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3" name="Text Box 67"/>
          <p:cNvSpPr txBox="1">
            <a:spLocks noChangeArrowheads="1"/>
          </p:cNvSpPr>
          <p:nvPr/>
        </p:nvSpPr>
        <p:spPr bwMode="auto">
          <a:xfrm>
            <a:off x="434975" y="1211263"/>
            <a:ext cx="788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=</a:t>
            </a:r>
          </a:p>
        </p:txBody>
      </p:sp>
      <p:sp>
        <p:nvSpPr>
          <p:cNvPr id="4164" name="Text Box 68"/>
          <p:cNvSpPr txBox="1">
            <a:spLocks noChangeArrowheads="1"/>
          </p:cNvSpPr>
          <p:nvPr/>
        </p:nvSpPr>
        <p:spPr bwMode="auto">
          <a:xfrm>
            <a:off x="1333500" y="928688"/>
            <a:ext cx="1679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CC</a:t>
            </a: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- V</a:t>
            </a:r>
            <a:r>
              <a:rPr lang="en-US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CE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5" name="Text Box 69"/>
          <p:cNvSpPr txBox="1">
            <a:spLocks noChangeArrowheads="1"/>
          </p:cNvSpPr>
          <p:nvPr/>
        </p:nvSpPr>
        <p:spPr bwMode="auto">
          <a:xfrm>
            <a:off x="1789113" y="1420813"/>
            <a:ext cx="615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6" name="Line 70"/>
          <p:cNvSpPr>
            <a:spLocks noChangeShapeType="1"/>
          </p:cNvSpPr>
          <p:nvPr/>
        </p:nvSpPr>
        <p:spPr bwMode="auto">
          <a:xfrm>
            <a:off x="1320800" y="1487488"/>
            <a:ext cx="1600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7" name="Text Box 71"/>
          <p:cNvSpPr txBox="1">
            <a:spLocks noChangeArrowheads="1"/>
          </p:cNvSpPr>
          <p:nvPr/>
        </p:nvSpPr>
        <p:spPr bwMode="auto">
          <a:xfrm>
            <a:off x="4397375" y="938213"/>
            <a:ext cx="39719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A graph of this equation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produces a load line.</a:t>
            </a:r>
          </a:p>
        </p:txBody>
      </p:sp>
      <p:sp>
        <p:nvSpPr>
          <p:cNvPr id="4168" name="AutoShape 72"/>
          <p:cNvSpPr>
            <a:spLocks noChangeArrowheads="1"/>
          </p:cNvSpPr>
          <p:nvPr/>
        </p:nvSpPr>
        <p:spPr bwMode="auto">
          <a:xfrm>
            <a:off x="3152775" y="1411288"/>
            <a:ext cx="1219200" cy="152400"/>
          </a:xfrm>
          <a:prstGeom prst="leftArrow">
            <a:avLst>
              <a:gd name="adj1" fmla="val 50000"/>
              <a:gd name="adj2" fmla="val 2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07" name="Rectangle 2"/>
          <p:cNvSpPr txBox="1">
            <a:spLocks noChangeArrowheads="1"/>
          </p:cNvSpPr>
          <p:nvPr/>
        </p:nvSpPr>
        <p:spPr bwMode="auto">
          <a:xfrm>
            <a:off x="457200" y="138113"/>
            <a:ext cx="8229600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Load 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2" grpId="0" animBg="1"/>
      <p:bldP spid="4163" grpId="0" autoUpdateAnimBg="0"/>
      <p:bldP spid="4164" grpId="0" autoUpdateAnimBg="0"/>
      <p:bldP spid="4165" grpId="0" autoUpdateAnimBg="0"/>
      <p:bldP spid="4166" grpId="0" animBg="1"/>
      <p:bldP spid="4167" grpId="0" autoUpdateAnimBg="0"/>
      <p:bldP spid="41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6"/>
          <p:cNvSpPr txBox="1">
            <a:spLocks noChangeArrowheads="1"/>
          </p:cNvSpPr>
          <p:nvPr/>
        </p:nvSpPr>
        <p:spPr bwMode="auto">
          <a:xfrm>
            <a:off x="-114300" y="381000"/>
            <a:ext cx="9144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latin typeface="Arial" panose="020B0604020202020204" pitchFamily="34" charset="0"/>
                <a:cs typeface="Arial" panose="020B0604020202020204" pitchFamily="34" charset="0"/>
              </a:rPr>
              <a:t>Saturation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299" name="Rectangle 10"/>
          <p:cNvSpPr>
            <a:spLocks noChangeArrowheads="1"/>
          </p:cNvSpPr>
          <p:nvPr/>
        </p:nvSpPr>
        <p:spPr bwMode="auto">
          <a:xfrm>
            <a:off x="685800" y="1208088"/>
            <a:ext cx="78486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the transistor is operating in </a:t>
            </a:r>
            <a:r>
              <a:rPr lang="en-US" alt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saturation</a:t>
            </a:r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current through the transistor is at its </a:t>
            </a:r>
            <a:r>
              <a:rPr lang="en-US" altLang="en-US" i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</a:t>
            </a:r>
            <a:r>
              <a:rPr lang="en-US" altLang="en-US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possible value.</a:t>
            </a:r>
          </a:p>
        </p:txBody>
      </p:sp>
      <p:grpSp>
        <p:nvGrpSpPr>
          <p:cNvPr id="55300" name="Group 11"/>
          <p:cNvGrpSpPr>
            <a:grpSpLocks/>
          </p:cNvGrpSpPr>
          <p:nvPr/>
        </p:nvGrpSpPr>
        <p:grpSpPr bwMode="auto">
          <a:xfrm>
            <a:off x="6172200" y="3124200"/>
            <a:ext cx="2500313" cy="1633538"/>
            <a:chOff x="2160" y="2256"/>
            <a:chExt cx="1296" cy="672"/>
          </a:xfrm>
        </p:grpSpPr>
        <p:sp>
          <p:nvSpPr>
            <p:cNvPr id="55305" name="AutoShape 9"/>
            <p:cNvSpPr>
              <a:spLocks noChangeArrowheads="1"/>
            </p:cNvSpPr>
            <p:nvPr/>
          </p:nvSpPr>
          <p:spPr bwMode="auto">
            <a:xfrm>
              <a:off x="2160" y="2256"/>
              <a:ext cx="1296" cy="6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55306" name="Object 11"/>
            <p:cNvGraphicFramePr>
              <a:graphicFrameLocks noChangeAspect="1"/>
            </p:cNvGraphicFramePr>
            <p:nvPr/>
          </p:nvGraphicFramePr>
          <p:xfrm>
            <a:off x="2285" y="2330"/>
            <a:ext cx="1045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Equation" r:id="rId3" imgW="800100" imgH="508000" progId="Equation.3">
                    <p:embed/>
                  </p:oleObj>
                </mc:Choice>
                <mc:Fallback>
                  <p:oleObj name="Equation" r:id="rId3" imgW="800100" imgH="508000" progId="Equation.3">
                    <p:embed/>
                    <p:pic>
                      <p:nvPicPr>
                        <p:cNvPr id="5530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" y="2330"/>
                          <a:ext cx="1045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301" name="Group 12"/>
          <p:cNvGrpSpPr>
            <a:grpSpLocks/>
          </p:cNvGrpSpPr>
          <p:nvPr/>
        </p:nvGrpSpPr>
        <p:grpSpPr bwMode="auto">
          <a:xfrm>
            <a:off x="6388100" y="5122863"/>
            <a:ext cx="2036763" cy="1049337"/>
            <a:chOff x="2208" y="3120"/>
            <a:chExt cx="1056" cy="432"/>
          </a:xfrm>
        </p:grpSpPr>
        <p:sp>
          <p:nvSpPr>
            <p:cNvPr id="55303" name="AutoShape 10"/>
            <p:cNvSpPr>
              <a:spLocks noChangeArrowheads="1"/>
            </p:cNvSpPr>
            <p:nvPr/>
          </p:nvSpPr>
          <p:spPr bwMode="auto">
            <a:xfrm>
              <a:off x="2208" y="3120"/>
              <a:ext cx="1056" cy="4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graphicFrame>
          <p:nvGraphicFramePr>
            <p:cNvPr id="55304" name="Object 12"/>
            <p:cNvGraphicFramePr>
              <a:graphicFrameLocks noChangeAspect="1"/>
            </p:cNvGraphicFramePr>
            <p:nvPr/>
          </p:nvGraphicFramePr>
          <p:xfrm>
            <a:off x="2339" y="3186"/>
            <a:ext cx="79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Equation" r:id="rId5" imgW="672808" imgH="253890" progId="Equation.3">
                    <p:embed/>
                  </p:oleObj>
                </mc:Choice>
                <mc:Fallback>
                  <p:oleObj name="Equation" r:id="rId5" imgW="672808" imgH="253890" progId="Equation.3">
                    <p:embed/>
                    <p:pic>
                      <p:nvPicPr>
                        <p:cNvPr id="5530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" y="3186"/>
                          <a:ext cx="795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5302" name="Picture 1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3276600"/>
            <a:ext cx="555307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2"/>
          <p:cNvGrpSpPr>
            <a:grpSpLocks/>
          </p:cNvGrpSpPr>
          <p:nvPr/>
        </p:nvGrpSpPr>
        <p:grpSpPr bwMode="auto">
          <a:xfrm rot="10800000">
            <a:off x="7366000" y="1590675"/>
            <a:ext cx="330200" cy="984250"/>
            <a:chOff x="2000" y="1771"/>
            <a:chExt cx="208" cy="620"/>
          </a:xfrm>
        </p:grpSpPr>
        <p:sp>
          <p:nvSpPr>
            <p:cNvPr id="56377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8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9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0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1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2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83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23" name="Group 10"/>
          <p:cNvGrpSpPr>
            <a:grpSpLocks/>
          </p:cNvGrpSpPr>
          <p:nvPr/>
        </p:nvGrpSpPr>
        <p:grpSpPr bwMode="auto">
          <a:xfrm rot="16200000" flipH="1">
            <a:off x="7304882" y="3423443"/>
            <a:ext cx="482600" cy="614363"/>
            <a:chOff x="864" y="1152"/>
            <a:chExt cx="417" cy="480"/>
          </a:xfrm>
        </p:grpSpPr>
        <p:sp>
          <p:nvSpPr>
            <p:cNvPr id="56373" name="Line 11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4" name="Line 12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5" name="Line 13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6" name="Line 14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24" name="Group 15"/>
          <p:cNvGrpSpPr>
            <a:grpSpLocks/>
          </p:cNvGrpSpPr>
          <p:nvPr/>
        </p:nvGrpSpPr>
        <p:grpSpPr bwMode="auto">
          <a:xfrm rot="16200000" flipH="1">
            <a:off x="1208882" y="4810918"/>
            <a:ext cx="482600" cy="614363"/>
            <a:chOff x="864" y="1152"/>
            <a:chExt cx="417" cy="480"/>
          </a:xfrm>
        </p:grpSpPr>
        <p:sp>
          <p:nvSpPr>
            <p:cNvPr id="56369" name="Line 16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0" name="Line 17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1" name="Line 18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72" name="Line 19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325" name="Group 20"/>
          <p:cNvGrpSpPr>
            <a:grpSpLocks/>
          </p:cNvGrpSpPr>
          <p:nvPr/>
        </p:nvGrpSpPr>
        <p:grpSpPr bwMode="auto">
          <a:xfrm rot="5400000">
            <a:off x="2146300" y="3025775"/>
            <a:ext cx="330200" cy="984250"/>
            <a:chOff x="2000" y="1771"/>
            <a:chExt cx="208" cy="620"/>
          </a:xfrm>
        </p:grpSpPr>
        <p:sp>
          <p:nvSpPr>
            <p:cNvPr id="56362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3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4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5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6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7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8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326" name="Text Box 28"/>
          <p:cNvSpPr txBox="1">
            <a:spLocks noChangeArrowheads="1"/>
          </p:cNvSpPr>
          <p:nvPr/>
        </p:nvSpPr>
        <p:spPr bwMode="auto">
          <a:xfrm>
            <a:off x="7924800" y="3505200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7" name="Text Box 29"/>
          <p:cNvSpPr txBox="1">
            <a:spLocks noChangeArrowheads="1"/>
          </p:cNvSpPr>
          <p:nvPr/>
        </p:nvSpPr>
        <p:spPr bwMode="auto">
          <a:xfrm>
            <a:off x="7772400" y="18288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8" name="Text Box 30"/>
          <p:cNvSpPr txBox="1">
            <a:spLocks noChangeArrowheads="1"/>
          </p:cNvSpPr>
          <p:nvPr/>
        </p:nvSpPr>
        <p:spPr bwMode="auto">
          <a:xfrm>
            <a:off x="1981200" y="367188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9" name="Text Box 31"/>
          <p:cNvSpPr txBox="1">
            <a:spLocks noChangeArrowheads="1"/>
          </p:cNvSpPr>
          <p:nvPr/>
        </p:nvSpPr>
        <p:spPr bwMode="auto">
          <a:xfrm>
            <a:off x="304800" y="48006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0" name="Line 32"/>
          <p:cNvSpPr>
            <a:spLocks noChangeShapeType="1"/>
          </p:cNvSpPr>
          <p:nvPr/>
        </p:nvSpPr>
        <p:spPr bwMode="auto">
          <a:xfrm>
            <a:off x="7543800" y="2574925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1" name="Line 33"/>
          <p:cNvSpPr>
            <a:spLocks noChangeShapeType="1"/>
          </p:cNvSpPr>
          <p:nvPr/>
        </p:nvSpPr>
        <p:spPr bwMode="auto">
          <a:xfrm flipH="1">
            <a:off x="4876800" y="129540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2" name="Line 34"/>
          <p:cNvSpPr>
            <a:spLocks noChangeShapeType="1"/>
          </p:cNvSpPr>
          <p:nvPr/>
        </p:nvSpPr>
        <p:spPr bwMode="auto">
          <a:xfrm>
            <a:off x="7543800" y="1295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3" name="Line 35"/>
          <p:cNvSpPr>
            <a:spLocks noChangeShapeType="1"/>
          </p:cNvSpPr>
          <p:nvPr/>
        </p:nvSpPr>
        <p:spPr bwMode="auto">
          <a:xfrm>
            <a:off x="1447800" y="5791200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4" name="Line 36"/>
          <p:cNvSpPr>
            <a:spLocks noChangeShapeType="1"/>
          </p:cNvSpPr>
          <p:nvPr/>
        </p:nvSpPr>
        <p:spPr bwMode="auto">
          <a:xfrm flipV="1">
            <a:off x="1447800" y="53498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5" name="Line 37"/>
          <p:cNvSpPr>
            <a:spLocks noChangeShapeType="1"/>
          </p:cNvSpPr>
          <p:nvPr/>
        </p:nvSpPr>
        <p:spPr bwMode="auto">
          <a:xfrm>
            <a:off x="7543800" y="39624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6" name="Line 38"/>
          <p:cNvSpPr>
            <a:spLocks noChangeShapeType="1"/>
          </p:cNvSpPr>
          <p:nvPr/>
        </p:nvSpPr>
        <p:spPr bwMode="auto">
          <a:xfrm flipV="1">
            <a:off x="1447800" y="3521075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7" name="Line 39"/>
          <p:cNvSpPr>
            <a:spLocks noChangeShapeType="1"/>
          </p:cNvSpPr>
          <p:nvPr/>
        </p:nvSpPr>
        <p:spPr bwMode="auto">
          <a:xfrm>
            <a:off x="1447800" y="35369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8" name="Line 40"/>
          <p:cNvSpPr>
            <a:spLocks noChangeShapeType="1"/>
          </p:cNvSpPr>
          <p:nvPr/>
        </p:nvSpPr>
        <p:spPr bwMode="auto">
          <a:xfrm flipH="1">
            <a:off x="4473575" y="3097213"/>
            <a:ext cx="0" cy="830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9" name="Line 41"/>
          <p:cNvSpPr>
            <a:spLocks noChangeShapeType="1"/>
          </p:cNvSpPr>
          <p:nvPr/>
        </p:nvSpPr>
        <p:spPr bwMode="auto">
          <a:xfrm>
            <a:off x="4476750" y="3705225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0" name="Line 42"/>
          <p:cNvSpPr>
            <a:spLocks noChangeShapeType="1"/>
          </p:cNvSpPr>
          <p:nvPr/>
        </p:nvSpPr>
        <p:spPr bwMode="auto">
          <a:xfrm flipH="1">
            <a:off x="2819400" y="3513138"/>
            <a:ext cx="1643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1" name="Freeform 43"/>
          <p:cNvSpPr>
            <a:spLocks/>
          </p:cNvSpPr>
          <p:nvPr/>
        </p:nvSpPr>
        <p:spPr bwMode="auto">
          <a:xfrm>
            <a:off x="4565650" y="3786188"/>
            <a:ext cx="239713" cy="249237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2" name="Oval 44"/>
          <p:cNvSpPr>
            <a:spLocks noChangeArrowheads="1"/>
          </p:cNvSpPr>
          <p:nvPr/>
        </p:nvSpPr>
        <p:spPr bwMode="auto">
          <a:xfrm>
            <a:off x="4044950" y="2901950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3" name="Line 45"/>
          <p:cNvSpPr>
            <a:spLocks noChangeShapeType="1"/>
          </p:cNvSpPr>
          <p:nvPr/>
        </p:nvSpPr>
        <p:spPr bwMode="auto">
          <a:xfrm flipV="1">
            <a:off x="4476750" y="29337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4" name="Line 46"/>
          <p:cNvSpPr>
            <a:spLocks noChangeShapeType="1"/>
          </p:cNvSpPr>
          <p:nvPr/>
        </p:nvSpPr>
        <p:spPr bwMode="auto">
          <a:xfrm flipV="1">
            <a:off x="4860925" y="1279525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5" name="Line 47"/>
          <p:cNvSpPr>
            <a:spLocks noChangeShapeType="1"/>
          </p:cNvSpPr>
          <p:nvPr/>
        </p:nvSpPr>
        <p:spPr bwMode="auto">
          <a:xfrm flipV="1">
            <a:off x="4860925" y="4070350"/>
            <a:ext cx="0" cy="1736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6" name="Text Box 48"/>
          <p:cNvSpPr txBox="1">
            <a:spLocks noChangeArrowheads="1"/>
          </p:cNvSpPr>
          <p:nvPr/>
        </p:nvSpPr>
        <p:spPr bwMode="auto">
          <a:xfrm>
            <a:off x="1812925" y="4791075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56347" name="Text Box 49"/>
          <p:cNvSpPr txBox="1">
            <a:spLocks noChangeArrowheads="1"/>
          </p:cNvSpPr>
          <p:nvPr/>
        </p:nvSpPr>
        <p:spPr bwMode="auto">
          <a:xfrm>
            <a:off x="6324600" y="1752600"/>
            <a:ext cx="92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</a:p>
        </p:txBody>
      </p:sp>
      <p:sp>
        <p:nvSpPr>
          <p:cNvPr id="56348" name="Text Box 50"/>
          <p:cNvSpPr txBox="1">
            <a:spLocks noChangeArrowheads="1"/>
          </p:cNvSpPr>
          <p:nvPr/>
        </p:nvSpPr>
        <p:spPr bwMode="auto">
          <a:xfrm>
            <a:off x="6248400" y="3505200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grpSp>
        <p:nvGrpSpPr>
          <p:cNvPr id="5180" name="Group 60"/>
          <p:cNvGrpSpPr>
            <a:grpSpLocks/>
          </p:cNvGrpSpPr>
          <p:nvPr/>
        </p:nvGrpSpPr>
        <p:grpSpPr bwMode="auto">
          <a:xfrm>
            <a:off x="4772025" y="2270125"/>
            <a:ext cx="866775" cy="2530475"/>
            <a:chOff x="3006" y="1430"/>
            <a:chExt cx="546" cy="1594"/>
          </a:xfrm>
        </p:grpSpPr>
        <p:sp>
          <p:nvSpPr>
            <p:cNvPr id="56357" name="Line 55"/>
            <p:cNvSpPr>
              <a:spLocks noChangeShapeType="1"/>
            </p:cNvSpPr>
            <p:nvPr/>
          </p:nvSpPr>
          <p:spPr bwMode="auto">
            <a:xfrm>
              <a:off x="3072" y="1488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58" name="Line 56"/>
            <p:cNvSpPr>
              <a:spLocks noChangeShapeType="1"/>
            </p:cNvSpPr>
            <p:nvPr/>
          </p:nvSpPr>
          <p:spPr bwMode="auto">
            <a:xfrm>
              <a:off x="3552" y="1488"/>
              <a:ext cx="0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59" name="Line 57"/>
            <p:cNvSpPr>
              <a:spLocks noChangeShapeType="1"/>
            </p:cNvSpPr>
            <p:nvPr/>
          </p:nvSpPr>
          <p:spPr bwMode="auto">
            <a:xfrm flipH="1">
              <a:off x="3072" y="2976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0" name="Oval 58"/>
            <p:cNvSpPr>
              <a:spLocks noChangeArrowheads="1"/>
            </p:cNvSpPr>
            <p:nvPr/>
          </p:nvSpPr>
          <p:spPr bwMode="auto">
            <a:xfrm>
              <a:off x="3006" y="143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61" name="Oval 59"/>
            <p:cNvSpPr>
              <a:spLocks noChangeArrowheads="1"/>
            </p:cNvSpPr>
            <p:nvPr/>
          </p:nvSpPr>
          <p:spPr bwMode="auto">
            <a:xfrm>
              <a:off x="3014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81" name="Text Box 61"/>
          <p:cNvSpPr txBox="1">
            <a:spLocks noChangeArrowheads="1"/>
          </p:cNvSpPr>
          <p:nvPr/>
        </p:nvSpPr>
        <p:spPr bwMode="auto">
          <a:xfrm>
            <a:off x="5588000" y="2438400"/>
            <a:ext cx="127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Mental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short</a:t>
            </a:r>
          </a:p>
        </p:txBody>
      </p:sp>
      <p:grpSp>
        <p:nvGrpSpPr>
          <p:cNvPr id="5186" name="Group 66"/>
          <p:cNvGrpSpPr>
            <a:grpSpLocks/>
          </p:cNvGrpSpPr>
          <p:nvPr/>
        </p:nvGrpSpPr>
        <p:grpSpPr bwMode="auto">
          <a:xfrm>
            <a:off x="1471613" y="838200"/>
            <a:ext cx="1804987" cy="990600"/>
            <a:chOff x="927" y="528"/>
            <a:chExt cx="1137" cy="624"/>
          </a:xfrm>
        </p:grpSpPr>
        <p:sp>
          <p:nvSpPr>
            <p:cNvPr id="56353" name="Text Box 62"/>
            <p:cNvSpPr txBox="1">
              <a:spLocks noChangeArrowheads="1"/>
            </p:cNvSpPr>
            <p:nvPr/>
          </p:nvSpPr>
          <p:spPr bwMode="auto">
            <a:xfrm>
              <a:off x="927" y="709"/>
              <a:ext cx="5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sz="28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= </a:t>
              </a:r>
            </a:p>
          </p:txBody>
        </p:sp>
        <p:sp>
          <p:nvSpPr>
            <p:cNvPr id="56354" name="Text Box 63"/>
            <p:cNvSpPr txBox="1">
              <a:spLocks noChangeArrowheads="1"/>
            </p:cNvSpPr>
            <p:nvPr/>
          </p:nvSpPr>
          <p:spPr bwMode="auto">
            <a:xfrm>
              <a:off x="1488" y="528"/>
              <a:ext cx="5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12 V</a:t>
              </a:r>
            </a:p>
          </p:txBody>
        </p:sp>
        <p:sp>
          <p:nvSpPr>
            <p:cNvPr id="56355" name="Text Box 64"/>
            <p:cNvSpPr txBox="1">
              <a:spLocks noChangeArrowheads="1"/>
            </p:cNvSpPr>
            <p:nvPr/>
          </p:nvSpPr>
          <p:spPr bwMode="auto">
            <a:xfrm>
              <a:off x="1483" y="825"/>
              <a:ext cx="5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 k</a:t>
              </a:r>
              <a:r>
                <a:rPr lang="en-US" altLang="en-US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W</a:t>
              </a:r>
            </a:p>
          </p:txBody>
        </p:sp>
        <p:sp>
          <p:nvSpPr>
            <p:cNvPr id="56356" name="Line 65"/>
            <p:cNvSpPr>
              <a:spLocks noChangeShapeType="1"/>
            </p:cNvSpPr>
            <p:nvPr/>
          </p:nvSpPr>
          <p:spPr bwMode="auto">
            <a:xfrm>
              <a:off x="1488" y="864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352" name="Rectangle 2"/>
          <p:cNvSpPr txBox="1">
            <a:spLocks noChangeArrowheads="1"/>
          </p:cNvSpPr>
          <p:nvPr/>
        </p:nvSpPr>
        <p:spPr bwMode="auto">
          <a:xfrm>
            <a:off x="457200" y="107950"/>
            <a:ext cx="8229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Understanding Saturation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354263" y="54943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2849563" y="54927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3357563" y="54927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3865563" y="54800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4403725" y="54959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4832350" y="54927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5376863" y="54927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5872163" y="54943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6376988" y="54800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6888163" y="54943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2117725" y="48164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2138363" y="43735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7358" name="Text Box 14"/>
          <p:cNvSpPr txBox="1">
            <a:spLocks noChangeArrowheads="1"/>
          </p:cNvSpPr>
          <p:nvPr/>
        </p:nvSpPr>
        <p:spPr bwMode="auto">
          <a:xfrm>
            <a:off x="2138363" y="39624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7359" name="Text Box 15"/>
          <p:cNvSpPr txBox="1">
            <a:spLocks noChangeArrowheads="1"/>
          </p:cNvSpPr>
          <p:nvPr/>
        </p:nvSpPr>
        <p:spPr bwMode="auto">
          <a:xfrm>
            <a:off x="2138363" y="35369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2006600" y="30892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7361" name="Text Box 17"/>
          <p:cNvSpPr txBox="1">
            <a:spLocks noChangeArrowheads="1"/>
          </p:cNvSpPr>
          <p:nvPr/>
        </p:nvSpPr>
        <p:spPr bwMode="auto">
          <a:xfrm>
            <a:off x="2003425" y="26622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7362" name="Text Box 18"/>
          <p:cNvSpPr txBox="1">
            <a:spLocks noChangeArrowheads="1"/>
          </p:cNvSpPr>
          <p:nvPr/>
        </p:nvSpPr>
        <p:spPr bwMode="auto">
          <a:xfrm>
            <a:off x="2003425" y="220662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7363" name="Text Box 19"/>
          <p:cNvSpPr txBox="1">
            <a:spLocks noChangeArrowheads="1"/>
          </p:cNvSpPr>
          <p:nvPr/>
        </p:nvSpPr>
        <p:spPr bwMode="auto">
          <a:xfrm>
            <a:off x="4024313" y="6051550"/>
            <a:ext cx="204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Volts</a:t>
            </a:r>
          </a:p>
        </p:txBody>
      </p:sp>
      <p:sp>
        <p:nvSpPr>
          <p:cNvPr id="57364" name="Text Box 20"/>
          <p:cNvSpPr txBox="1">
            <a:spLocks noChangeArrowheads="1"/>
          </p:cNvSpPr>
          <p:nvPr/>
        </p:nvSpPr>
        <p:spPr bwMode="auto">
          <a:xfrm>
            <a:off x="492125" y="3535363"/>
            <a:ext cx="1525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mA</a:t>
            </a:r>
          </a:p>
        </p:txBody>
      </p:sp>
      <p:grpSp>
        <p:nvGrpSpPr>
          <p:cNvPr id="57365" name="Group 21"/>
          <p:cNvGrpSpPr>
            <a:grpSpLocks/>
          </p:cNvGrpSpPr>
          <p:nvPr/>
        </p:nvGrpSpPr>
        <p:grpSpPr bwMode="auto">
          <a:xfrm>
            <a:off x="2540000" y="4498975"/>
            <a:ext cx="6145213" cy="1020763"/>
            <a:chOff x="1571" y="2430"/>
            <a:chExt cx="3871" cy="643"/>
          </a:xfrm>
        </p:grpSpPr>
        <p:sp>
          <p:nvSpPr>
            <p:cNvPr id="57413" name="Freeform 22"/>
            <p:cNvSpPr>
              <a:spLocks/>
            </p:cNvSpPr>
            <p:nvPr/>
          </p:nvSpPr>
          <p:spPr bwMode="auto">
            <a:xfrm>
              <a:off x="1571" y="2606"/>
              <a:ext cx="3208" cy="467"/>
            </a:xfrm>
            <a:custGeom>
              <a:avLst/>
              <a:gdLst>
                <a:gd name="T0" fmla="*/ 5 w 3208"/>
                <a:gd name="T1" fmla="*/ 467 h 467"/>
                <a:gd name="T2" fmla="*/ 27 w 3208"/>
                <a:gd name="T3" fmla="*/ 368 h 467"/>
                <a:gd name="T4" fmla="*/ 167 w 3208"/>
                <a:gd name="T5" fmla="*/ 83 h 467"/>
                <a:gd name="T6" fmla="*/ 746 w 3208"/>
                <a:gd name="T7" fmla="*/ 21 h 467"/>
                <a:gd name="T8" fmla="*/ 3208 w 3208"/>
                <a:gd name="T9" fmla="*/ 0 h 4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8" h="467">
                  <a:moveTo>
                    <a:pt x="5" y="467"/>
                  </a:moveTo>
                  <a:cubicBezTo>
                    <a:pt x="7" y="451"/>
                    <a:pt x="0" y="432"/>
                    <a:pt x="27" y="368"/>
                  </a:cubicBezTo>
                  <a:cubicBezTo>
                    <a:pt x="54" y="304"/>
                    <a:pt x="47" y="141"/>
                    <a:pt x="167" y="83"/>
                  </a:cubicBezTo>
                  <a:cubicBezTo>
                    <a:pt x="287" y="25"/>
                    <a:pt x="239" y="35"/>
                    <a:pt x="746" y="21"/>
                  </a:cubicBezTo>
                  <a:cubicBezTo>
                    <a:pt x="1253" y="7"/>
                    <a:pt x="2695" y="4"/>
                    <a:pt x="3208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14" name="Text Box 23"/>
            <p:cNvSpPr txBox="1">
              <a:spLocks noChangeArrowheads="1"/>
            </p:cNvSpPr>
            <p:nvPr/>
          </p:nvSpPr>
          <p:spPr bwMode="auto">
            <a:xfrm>
              <a:off x="4755" y="24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20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66" name="Group 24"/>
          <p:cNvGrpSpPr>
            <a:grpSpLocks/>
          </p:cNvGrpSpPr>
          <p:nvPr/>
        </p:nvGrpSpPr>
        <p:grpSpPr bwMode="auto">
          <a:xfrm>
            <a:off x="2525713" y="5240338"/>
            <a:ext cx="5984875" cy="519112"/>
            <a:chOff x="1562" y="2897"/>
            <a:chExt cx="3770" cy="327"/>
          </a:xfrm>
        </p:grpSpPr>
        <p:sp>
          <p:nvSpPr>
            <p:cNvPr id="57411" name="Line 25"/>
            <p:cNvSpPr>
              <a:spLocks noChangeShapeType="1"/>
            </p:cNvSpPr>
            <p:nvPr/>
          </p:nvSpPr>
          <p:spPr bwMode="auto">
            <a:xfrm>
              <a:off x="1562" y="3061"/>
              <a:ext cx="3217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12" name="Text Box 26"/>
            <p:cNvSpPr txBox="1">
              <a:spLocks noChangeArrowheads="1"/>
            </p:cNvSpPr>
            <p:nvPr/>
          </p:nvSpPr>
          <p:spPr bwMode="auto">
            <a:xfrm>
              <a:off x="4757" y="2897"/>
              <a:ext cx="5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67" name="Group 27"/>
          <p:cNvGrpSpPr>
            <a:grpSpLocks/>
          </p:cNvGrpSpPr>
          <p:nvPr/>
        </p:nvGrpSpPr>
        <p:grpSpPr bwMode="auto">
          <a:xfrm>
            <a:off x="2525713" y="2092325"/>
            <a:ext cx="6335712" cy="3409950"/>
            <a:chOff x="1562" y="914"/>
            <a:chExt cx="3991" cy="2148"/>
          </a:xfrm>
        </p:grpSpPr>
        <p:sp>
          <p:nvSpPr>
            <p:cNvPr id="57409" name="Freeform 28"/>
            <p:cNvSpPr>
              <a:spLocks/>
            </p:cNvSpPr>
            <p:nvPr/>
          </p:nvSpPr>
          <p:spPr bwMode="auto">
            <a:xfrm>
              <a:off x="1562" y="1096"/>
              <a:ext cx="3227" cy="1966"/>
            </a:xfrm>
            <a:custGeom>
              <a:avLst/>
              <a:gdLst>
                <a:gd name="T0" fmla="*/ 0 w 3227"/>
                <a:gd name="T1" fmla="*/ 1966 h 1966"/>
                <a:gd name="T2" fmla="*/ 82 w 3227"/>
                <a:gd name="T3" fmla="*/ 404 h 1966"/>
                <a:gd name="T4" fmla="*/ 217 w 3227"/>
                <a:gd name="T5" fmla="*/ 114 h 1966"/>
                <a:gd name="T6" fmla="*/ 858 w 3227"/>
                <a:gd name="T7" fmla="*/ 73 h 1966"/>
                <a:gd name="T8" fmla="*/ 3227 w 3227"/>
                <a:gd name="T9" fmla="*/ 0 h 19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7" h="1966">
                  <a:moveTo>
                    <a:pt x="0" y="1966"/>
                  </a:moveTo>
                  <a:cubicBezTo>
                    <a:pt x="14" y="1706"/>
                    <a:pt x="46" y="713"/>
                    <a:pt x="82" y="404"/>
                  </a:cubicBezTo>
                  <a:cubicBezTo>
                    <a:pt x="118" y="95"/>
                    <a:pt x="88" y="169"/>
                    <a:pt x="217" y="114"/>
                  </a:cubicBezTo>
                  <a:cubicBezTo>
                    <a:pt x="346" y="59"/>
                    <a:pt x="356" y="92"/>
                    <a:pt x="858" y="73"/>
                  </a:cubicBezTo>
                  <a:cubicBezTo>
                    <a:pt x="1360" y="54"/>
                    <a:pt x="2734" y="15"/>
                    <a:pt x="3227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10" name="Text Box 29"/>
            <p:cNvSpPr txBox="1">
              <a:spLocks noChangeArrowheads="1"/>
            </p:cNvSpPr>
            <p:nvPr/>
          </p:nvSpPr>
          <p:spPr bwMode="auto">
            <a:xfrm>
              <a:off x="4754" y="914"/>
              <a:ext cx="7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100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68" name="Group 30"/>
          <p:cNvGrpSpPr>
            <a:grpSpLocks/>
          </p:cNvGrpSpPr>
          <p:nvPr/>
        </p:nvGrpSpPr>
        <p:grpSpPr bwMode="auto">
          <a:xfrm>
            <a:off x="2506663" y="2047875"/>
            <a:ext cx="5138737" cy="3497263"/>
            <a:chOff x="1269" y="927"/>
            <a:chExt cx="3237" cy="2203"/>
          </a:xfrm>
        </p:grpSpPr>
        <p:sp>
          <p:nvSpPr>
            <p:cNvPr id="57389" name="Line 31"/>
            <p:cNvSpPr>
              <a:spLocks noChangeShapeType="1"/>
            </p:cNvSpPr>
            <p:nvPr/>
          </p:nvSpPr>
          <p:spPr bwMode="auto">
            <a:xfrm>
              <a:off x="1269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0" name="Line 32"/>
            <p:cNvSpPr>
              <a:spLocks noChangeShapeType="1"/>
            </p:cNvSpPr>
            <p:nvPr/>
          </p:nvSpPr>
          <p:spPr bwMode="auto">
            <a:xfrm>
              <a:off x="1272" y="929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1" name="Line 33"/>
            <p:cNvSpPr>
              <a:spLocks noChangeShapeType="1"/>
            </p:cNvSpPr>
            <p:nvPr/>
          </p:nvSpPr>
          <p:spPr bwMode="auto">
            <a:xfrm>
              <a:off x="1274" y="1201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2" name="Line 34"/>
            <p:cNvSpPr>
              <a:spLocks noChangeShapeType="1"/>
            </p:cNvSpPr>
            <p:nvPr/>
          </p:nvSpPr>
          <p:spPr bwMode="auto">
            <a:xfrm>
              <a:off x="1274" y="147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3" name="Line 35"/>
            <p:cNvSpPr>
              <a:spLocks noChangeShapeType="1"/>
            </p:cNvSpPr>
            <p:nvPr/>
          </p:nvSpPr>
          <p:spPr bwMode="auto">
            <a:xfrm>
              <a:off x="1274" y="175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4" name="Line 36"/>
            <p:cNvSpPr>
              <a:spLocks noChangeShapeType="1"/>
            </p:cNvSpPr>
            <p:nvPr/>
          </p:nvSpPr>
          <p:spPr bwMode="auto">
            <a:xfrm>
              <a:off x="1274" y="2022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5" name="Line 37"/>
            <p:cNvSpPr>
              <a:spLocks noChangeShapeType="1"/>
            </p:cNvSpPr>
            <p:nvPr/>
          </p:nvSpPr>
          <p:spPr bwMode="auto">
            <a:xfrm>
              <a:off x="1274" y="229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6" name="Line 38"/>
            <p:cNvSpPr>
              <a:spLocks noChangeShapeType="1"/>
            </p:cNvSpPr>
            <p:nvPr/>
          </p:nvSpPr>
          <p:spPr bwMode="auto">
            <a:xfrm>
              <a:off x="1274" y="257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7" name="Line 39"/>
            <p:cNvSpPr>
              <a:spLocks noChangeShapeType="1"/>
            </p:cNvSpPr>
            <p:nvPr/>
          </p:nvSpPr>
          <p:spPr bwMode="auto">
            <a:xfrm>
              <a:off x="1274" y="2844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8" name="Line 40"/>
            <p:cNvSpPr>
              <a:spLocks noChangeShapeType="1"/>
            </p:cNvSpPr>
            <p:nvPr/>
          </p:nvSpPr>
          <p:spPr bwMode="auto">
            <a:xfrm>
              <a:off x="1274" y="3117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9" name="Line 41"/>
            <p:cNvSpPr>
              <a:spLocks noChangeShapeType="1"/>
            </p:cNvSpPr>
            <p:nvPr/>
          </p:nvSpPr>
          <p:spPr bwMode="auto">
            <a:xfrm>
              <a:off x="1591" y="937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0" name="Line 42"/>
            <p:cNvSpPr>
              <a:spLocks noChangeShapeType="1"/>
            </p:cNvSpPr>
            <p:nvPr/>
          </p:nvSpPr>
          <p:spPr bwMode="auto">
            <a:xfrm>
              <a:off x="1918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1" name="Line 43"/>
            <p:cNvSpPr>
              <a:spLocks noChangeShapeType="1"/>
            </p:cNvSpPr>
            <p:nvPr/>
          </p:nvSpPr>
          <p:spPr bwMode="auto">
            <a:xfrm>
              <a:off x="2244" y="936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2" name="Line 44"/>
            <p:cNvSpPr>
              <a:spLocks noChangeShapeType="1"/>
            </p:cNvSpPr>
            <p:nvPr/>
          </p:nvSpPr>
          <p:spPr bwMode="auto">
            <a:xfrm>
              <a:off x="2572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3" name="Line 45"/>
            <p:cNvSpPr>
              <a:spLocks noChangeShapeType="1"/>
            </p:cNvSpPr>
            <p:nvPr/>
          </p:nvSpPr>
          <p:spPr bwMode="auto">
            <a:xfrm>
              <a:off x="2905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4" name="Line 46"/>
            <p:cNvSpPr>
              <a:spLocks noChangeShapeType="1"/>
            </p:cNvSpPr>
            <p:nvPr/>
          </p:nvSpPr>
          <p:spPr bwMode="auto">
            <a:xfrm>
              <a:off x="3226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5" name="Line 47"/>
            <p:cNvSpPr>
              <a:spLocks noChangeShapeType="1"/>
            </p:cNvSpPr>
            <p:nvPr/>
          </p:nvSpPr>
          <p:spPr bwMode="auto">
            <a:xfrm>
              <a:off x="3558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6" name="Line 48"/>
            <p:cNvSpPr>
              <a:spLocks noChangeShapeType="1"/>
            </p:cNvSpPr>
            <p:nvPr/>
          </p:nvSpPr>
          <p:spPr bwMode="auto">
            <a:xfrm>
              <a:off x="3875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7" name="Line 49"/>
            <p:cNvSpPr>
              <a:spLocks noChangeShapeType="1"/>
            </p:cNvSpPr>
            <p:nvPr/>
          </p:nvSpPr>
          <p:spPr bwMode="auto">
            <a:xfrm>
              <a:off x="4193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408" name="Line 50"/>
            <p:cNvSpPr>
              <a:spLocks noChangeShapeType="1"/>
            </p:cNvSpPr>
            <p:nvPr/>
          </p:nvSpPr>
          <p:spPr bwMode="auto">
            <a:xfrm>
              <a:off x="4500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7369" name="Group 51"/>
          <p:cNvGrpSpPr>
            <a:grpSpLocks/>
          </p:cNvGrpSpPr>
          <p:nvPr/>
        </p:nvGrpSpPr>
        <p:grpSpPr bwMode="auto">
          <a:xfrm>
            <a:off x="2532063" y="2652713"/>
            <a:ext cx="6149975" cy="2867025"/>
            <a:chOff x="1566" y="1267"/>
            <a:chExt cx="3874" cy="1806"/>
          </a:xfrm>
        </p:grpSpPr>
        <p:sp>
          <p:nvSpPr>
            <p:cNvPr id="57387" name="Freeform 52"/>
            <p:cNvSpPr>
              <a:spLocks/>
            </p:cNvSpPr>
            <p:nvPr/>
          </p:nvSpPr>
          <p:spPr bwMode="auto">
            <a:xfrm>
              <a:off x="1566" y="1452"/>
              <a:ext cx="3209" cy="1621"/>
            </a:xfrm>
            <a:custGeom>
              <a:avLst/>
              <a:gdLst>
                <a:gd name="T0" fmla="*/ 0 w 3209"/>
                <a:gd name="T1" fmla="*/ 1621 h 1621"/>
                <a:gd name="T2" fmla="*/ 64 w 3209"/>
                <a:gd name="T3" fmla="*/ 404 h 1621"/>
                <a:gd name="T4" fmla="*/ 199 w 3209"/>
                <a:gd name="T5" fmla="*/ 114 h 1621"/>
                <a:gd name="T6" fmla="*/ 840 w 3209"/>
                <a:gd name="T7" fmla="*/ 73 h 1621"/>
                <a:gd name="T8" fmla="*/ 3209 w 3209"/>
                <a:gd name="T9" fmla="*/ 0 h 16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9" h="1621">
                  <a:moveTo>
                    <a:pt x="0" y="1621"/>
                  </a:moveTo>
                  <a:cubicBezTo>
                    <a:pt x="11" y="1416"/>
                    <a:pt x="31" y="655"/>
                    <a:pt x="64" y="404"/>
                  </a:cubicBezTo>
                  <a:cubicBezTo>
                    <a:pt x="97" y="153"/>
                    <a:pt x="70" y="169"/>
                    <a:pt x="199" y="114"/>
                  </a:cubicBezTo>
                  <a:cubicBezTo>
                    <a:pt x="328" y="59"/>
                    <a:pt x="338" y="92"/>
                    <a:pt x="840" y="73"/>
                  </a:cubicBezTo>
                  <a:cubicBezTo>
                    <a:pt x="1342" y="54"/>
                    <a:pt x="2716" y="15"/>
                    <a:pt x="3209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8" name="Text Box 53"/>
            <p:cNvSpPr txBox="1">
              <a:spLocks noChangeArrowheads="1"/>
            </p:cNvSpPr>
            <p:nvPr/>
          </p:nvSpPr>
          <p:spPr bwMode="auto">
            <a:xfrm>
              <a:off x="4753" y="1267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80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70" name="Group 54"/>
          <p:cNvGrpSpPr>
            <a:grpSpLocks/>
          </p:cNvGrpSpPr>
          <p:nvPr/>
        </p:nvGrpSpPr>
        <p:grpSpPr bwMode="auto">
          <a:xfrm>
            <a:off x="2532063" y="3228975"/>
            <a:ext cx="6149975" cy="2290763"/>
            <a:chOff x="1566" y="1630"/>
            <a:chExt cx="3874" cy="1443"/>
          </a:xfrm>
        </p:grpSpPr>
        <p:sp>
          <p:nvSpPr>
            <p:cNvPr id="57385" name="Freeform 55"/>
            <p:cNvSpPr>
              <a:spLocks/>
            </p:cNvSpPr>
            <p:nvPr/>
          </p:nvSpPr>
          <p:spPr bwMode="auto">
            <a:xfrm>
              <a:off x="1566" y="1820"/>
              <a:ext cx="3223" cy="1253"/>
            </a:xfrm>
            <a:custGeom>
              <a:avLst/>
              <a:gdLst>
                <a:gd name="T0" fmla="*/ 0 w 3223"/>
                <a:gd name="T1" fmla="*/ 1253 h 1253"/>
                <a:gd name="T2" fmla="*/ 50 w 3223"/>
                <a:gd name="T3" fmla="*/ 412 h 1253"/>
                <a:gd name="T4" fmla="*/ 185 w 3223"/>
                <a:gd name="T5" fmla="*/ 122 h 1253"/>
                <a:gd name="T6" fmla="*/ 826 w 3223"/>
                <a:gd name="T7" fmla="*/ 81 h 1253"/>
                <a:gd name="T8" fmla="*/ 3223 w 3223"/>
                <a:gd name="T9" fmla="*/ 0 h 1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3" h="1253">
                  <a:moveTo>
                    <a:pt x="0" y="1253"/>
                  </a:moveTo>
                  <a:cubicBezTo>
                    <a:pt x="7" y="1113"/>
                    <a:pt x="19" y="600"/>
                    <a:pt x="50" y="412"/>
                  </a:cubicBezTo>
                  <a:cubicBezTo>
                    <a:pt x="81" y="224"/>
                    <a:pt x="56" y="177"/>
                    <a:pt x="185" y="122"/>
                  </a:cubicBezTo>
                  <a:cubicBezTo>
                    <a:pt x="314" y="67"/>
                    <a:pt x="320" y="101"/>
                    <a:pt x="826" y="81"/>
                  </a:cubicBezTo>
                  <a:cubicBezTo>
                    <a:pt x="1332" y="61"/>
                    <a:pt x="2724" y="17"/>
                    <a:pt x="3223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6" name="Text Box 56"/>
            <p:cNvSpPr txBox="1">
              <a:spLocks noChangeArrowheads="1"/>
            </p:cNvSpPr>
            <p:nvPr/>
          </p:nvSpPr>
          <p:spPr bwMode="auto">
            <a:xfrm>
              <a:off x="4753" y="16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60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7371" name="Group 57"/>
          <p:cNvGrpSpPr>
            <a:grpSpLocks/>
          </p:cNvGrpSpPr>
          <p:nvPr/>
        </p:nvGrpSpPr>
        <p:grpSpPr bwMode="auto">
          <a:xfrm>
            <a:off x="2530475" y="3852863"/>
            <a:ext cx="6169025" cy="1682750"/>
            <a:chOff x="1565" y="2023"/>
            <a:chExt cx="3886" cy="1060"/>
          </a:xfrm>
        </p:grpSpPr>
        <p:sp>
          <p:nvSpPr>
            <p:cNvPr id="57383" name="Freeform 58"/>
            <p:cNvSpPr>
              <a:spLocks/>
            </p:cNvSpPr>
            <p:nvPr/>
          </p:nvSpPr>
          <p:spPr bwMode="auto">
            <a:xfrm>
              <a:off x="1565" y="2213"/>
              <a:ext cx="3214" cy="870"/>
            </a:xfrm>
            <a:custGeom>
              <a:avLst/>
              <a:gdLst>
                <a:gd name="T0" fmla="*/ 0 w 3214"/>
                <a:gd name="T1" fmla="*/ 870 h 870"/>
                <a:gd name="T2" fmla="*/ 47 w 3214"/>
                <a:gd name="T3" fmla="*/ 385 h 870"/>
                <a:gd name="T4" fmla="*/ 182 w 3214"/>
                <a:gd name="T5" fmla="*/ 95 h 870"/>
                <a:gd name="T6" fmla="*/ 823 w 3214"/>
                <a:gd name="T7" fmla="*/ 54 h 870"/>
                <a:gd name="T8" fmla="*/ 3214 w 3214"/>
                <a:gd name="T9" fmla="*/ 0 h 8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4" h="870">
                  <a:moveTo>
                    <a:pt x="0" y="870"/>
                  </a:moveTo>
                  <a:cubicBezTo>
                    <a:pt x="6" y="789"/>
                    <a:pt x="17" y="514"/>
                    <a:pt x="47" y="385"/>
                  </a:cubicBezTo>
                  <a:cubicBezTo>
                    <a:pt x="77" y="256"/>
                    <a:pt x="53" y="150"/>
                    <a:pt x="182" y="95"/>
                  </a:cubicBezTo>
                  <a:cubicBezTo>
                    <a:pt x="311" y="40"/>
                    <a:pt x="318" y="70"/>
                    <a:pt x="823" y="54"/>
                  </a:cubicBezTo>
                  <a:cubicBezTo>
                    <a:pt x="1328" y="38"/>
                    <a:pt x="2716" y="11"/>
                    <a:pt x="3214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4" name="Text Box 59"/>
            <p:cNvSpPr txBox="1">
              <a:spLocks noChangeArrowheads="1"/>
            </p:cNvSpPr>
            <p:nvPr/>
          </p:nvSpPr>
          <p:spPr bwMode="auto">
            <a:xfrm>
              <a:off x="4764" y="2023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40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57372" name="Freeform 60"/>
          <p:cNvSpPr>
            <a:spLocks/>
          </p:cNvSpPr>
          <p:nvPr/>
        </p:nvSpPr>
        <p:spPr bwMode="auto">
          <a:xfrm>
            <a:off x="2508250" y="2917825"/>
            <a:ext cx="3109913" cy="2595563"/>
          </a:xfrm>
          <a:custGeom>
            <a:avLst/>
            <a:gdLst>
              <a:gd name="T0" fmla="*/ 0 w 1959"/>
              <a:gd name="T1" fmla="*/ 0 h 1635"/>
              <a:gd name="T2" fmla="*/ 2147483646 w 1959"/>
              <a:gd name="T3" fmla="*/ 2147483646 h 163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59" h="1635">
                <a:moveTo>
                  <a:pt x="0" y="0"/>
                </a:moveTo>
                <a:lnTo>
                  <a:pt x="1959" y="1635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10" name="AutoShape 66"/>
          <p:cNvSpPr>
            <a:spLocks noChangeArrowheads="1"/>
          </p:cNvSpPr>
          <p:nvPr/>
        </p:nvSpPr>
        <p:spPr bwMode="auto">
          <a:xfrm>
            <a:off x="3703638" y="1403350"/>
            <a:ext cx="1219200" cy="152400"/>
          </a:xfrm>
          <a:prstGeom prst="leftArrow">
            <a:avLst>
              <a:gd name="adj1" fmla="val 50000"/>
              <a:gd name="adj2" fmla="val 2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7374" name="Group 67"/>
          <p:cNvGrpSpPr>
            <a:grpSpLocks/>
          </p:cNvGrpSpPr>
          <p:nvPr/>
        </p:nvGrpSpPr>
        <p:grpSpPr bwMode="auto">
          <a:xfrm>
            <a:off x="503238" y="946150"/>
            <a:ext cx="1804987" cy="990600"/>
            <a:chOff x="927" y="528"/>
            <a:chExt cx="1137" cy="624"/>
          </a:xfrm>
        </p:grpSpPr>
        <p:sp>
          <p:nvSpPr>
            <p:cNvPr id="57379" name="Text Box 68"/>
            <p:cNvSpPr txBox="1">
              <a:spLocks noChangeArrowheads="1"/>
            </p:cNvSpPr>
            <p:nvPr/>
          </p:nvSpPr>
          <p:spPr bwMode="auto">
            <a:xfrm>
              <a:off x="927" y="709"/>
              <a:ext cx="5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sz="28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= </a:t>
              </a:r>
            </a:p>
          </p:txBody>
        </p:sp>
        <p:sp>
          <p:nvSpPr>
            <p:cNvPr id="57380" name="Text Box 69"/>
            <p:cNvSpPr txBox="1">
              <a:spLocks noChangeArrowheads="1"/>
            </p:cNvSpPr>
            <p:nvPr/>
          </p:nvSpPr>
          <p:spPr bwMode="auto">
            <a:xfrm>
              <a:off x="1488" y="528"/>
              <a:ext cx="5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12 V</a:t>
              </a:r>
            </a:p>
          </p:txBody>
        </p:sp>
        <p:sp>
          <p:nvSpPr>
            <p:cNvPr id="57381" name="Text Box 70"/>
            <p:cNvSpPr txBox="1">
              <a:spLocks noChangeArrowheads="1"/>
            </p:cNvSpPr>
            <p:nvPr/>
          </p:nvSpPr>
          <p:spPr bwMode="auto">
            <a:xfrm>
              <a:off x="1483" y="825"/>
              <a:ext cx="5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 k</a:t>
              </a:r>
              <a:r>
                <a:rPr lang="en-US" altLang="en-US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W</a:t>
              </a:r>
            </a:p>
          </p:txBody>
        </p:sp>
        <p:sp>
          <p:nvSpPr>
            <p:cNvPr id="57382" name="Line 71"/>
            <p:cNvSpPr>
              <a:spLocks noChangeShapeType="1"/>
            </p:cNvSpPr>
            <p:nvPr/>
          </p:nvSpPr>
          <p:spPr bwMode="auto">
            <a:xfrm>
              <a:off x="1488" y="864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16" name="Text Box 72"/>
          <p:cNvSpPr txBox="1">
            <a:spLocks noChangeArrowheads="1"/>
          </p:cNvSpPr>
          <p:nvPr/>
        </p:nvSpPr>
        <p:spPr bwMode="auto">
          <a:xfrm>
            <a:off x="2255838" y="1201738"/>
            <a:ext cx="1474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 12 mA</a:t>
            </a:r>
          </a:p>
        </p:txBody>
      </p:sp>
      <p:sp>
        <p:nvSpPr>
          <p:cNvPr id="6217" name="Text Box 73"/>
          <p:cNvSpPr txBox="1">
            <a:spLocks noChangeArrowheads="1"/>
          </p:cNvSpPr>
          <p:nvPr/>
        </p:nvSpPr>
        <p:spPr bwMode="auto">
          <a:xfrm>
            <a:off x="3962400" y="990600"/>
            <a:ext cx="49990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This is the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Saturation (maximum) current.</a:t>
            </a:r>
          </a:p>
        </p:txBody>
      </p:sp>
      <p:sp>
        <p:nvSpPr>
          <p:cNvPr id="6218" name="AutoShape 74"/>
          <p:cNvSpPr>
            <a:spLocks noChangeArrowheads="1"/>
          </p:cNvSpPr>
          <p:nvPr/>
        </p:nvSpPr>
        <p:spPr bwMode="auto">
          <a:xfrm flipH="1">
            <a:off x="808038" y="2851150"/>
            <a:ext cx="1219200" cy="152400"/>
          </a:xfrm>
          <a:prstGeom prst="leftArrow">
            <a:avLst>
              <a:gd name="adj1" fmla="val 50000"/>
              <a:gd name="adj2" fmla="val 2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78" name="Rectangle 2"/>
          <p:cNvSpPr txBox="1">
            <a:spLocks noChangeArrowheads="1"/>
          </p:cNvSpPr>
          <p:nvPr/>
        </p:nvSpPr>
        <p:spPr bwMode="auto">
          <a:xfrm>
            <a:off x="457200" y="107950"/>
            <a:ext cx="82296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Understanding Saturation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0" grpId="0" animBg="1"/>
      <p:bldP spid="6216" grpId="0" autoUpdateAnimBg="0"/>
      <p:bldP spid="6217" grpId="0" autoUpdateAnimBg="0"/>
      <p:bldP spid="62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2"/>
          <p:cNvGrpSpPr>
            <a:grpSpLocks/>
          </p:cNvGrpSpPr>
          <p:nvPr/>
        </p:nvGrpSpPr>
        <p:grpSpPr bwMode="auto">
          <a:xfrm rot="10800000">
            <a:off x="7366000" y="1590675"/>
            <a:ext cx="330200" cy="984250"/>
            <a:chOff x="2000" y="1771"/>
            <a:chExt cx="208" cy="620"/>
          </a:xfrm>
        </p:grpSpPr>
        <p:sp>
          <p:nvSpPr>
            <p:cNvPr id="58419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0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1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2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3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4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25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1" name="Group 10"/>
          <p:cNvGrpSpPr>
            <a:grpSpLocks/>
          </p:cNvGrpSpPr>
          <p:nvPr/>
        </p:nvGrpSpPr>
        <p:grpSpPr bwMode="auto">
          <a:xfrm rot="16200000" flipH="1">
            <a:off x="7304882" y="3423443"/>
            <a:ext cx="482600" cy="614363"/>
            <a:chOff x="864" y="1152"/>
            <a:chExt cx="417" cy="480"/>
          </a:xfrm>
        </p:grpSpPr>
        <p:sp>
          <p:nvSpPr>
            <p:cNvPr id="58415" name="Line 11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6" name="Line 12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7" name="Line 13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8" name="Line 14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2" name="Group 15"/>
          <p:cNvGrpSpPr>
            <a:grpSpLocks/>
          </p:cNvGrpSpPr>
          <p:nvPr/>
        </p:nvGrpSpPr>
        <p:grpSpPr bwMode="auto">
          <a:xfrm rot="16200000" flipH="1">
            <a:off x="1208882" y="4810918"/>
            <a:ext cx="482600" cy="614363"/>
            <a:chOff x="864" y="1152"/>
            <a:chExt cx="417" cy="480"/>
          </a:xfrm>
        </p:grpSpPr>
        <p:sp>
          <p:nvSpPr>
            <p:cNvPr id="58411" name="Line 16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2" name="Line 17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3" name="Line 18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4" name="Line 19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8373" name="Group 20"/>
          <p:cNvGrpSpPr>
            <a:grpSpLocks/>
          </p:cNvGrpSpPr>
          <p:nvPr/>
        </p:nvGrpSpPr>
        <p:grpSpPr bwMode="auto">
          <a:xfrm rot="5400000">
            <a:off x="2146300" y="3025775"/>
            <a:ext cx="330200" cy="984250"/>
            <a:chOff x="2000" y="1771"/>
            <a:chExt cx="208" cy="620"/>
          </a:xfrm>
        </p:grpSpPr>
        <p:sp>
          <p:nvSpPr>
            <p:cNvPr id="58404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5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6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7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8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09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10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374" name="Text Box 28"/>
          <p:cNvSpPr txBox="1">
            <a:spLocks noChangeArrowheads="1"/>
          </p:cNvSpPr>
          <p:nvPr/>
        </p:nvSpPr>
        <p:spPr bwMode="auto">
          <a:xfrm>
            <a:off x="7924800" y="3505200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5" name="Text Box 29"/>
          <p:cNvSpPr txBox="1">
            <a:spLocks noChangeArrowheads="1"/>
          </p:cNvSpPr>
          <p:nvPr/>
        </p:nvSpPr>
        <p:spPr bwMode="auto">
          <a:xfrm>
            <a:off x="7772400" y="18288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6" name="Text Box 30"/>
          <p:cNvSpPr txBox="1">
            <a:spLocks noChangeArrowheads="1"/>
          </p:cNvSpPr>
          <p:nvPr/>
        </p:nvSpPr>
        <p:spPr bwMode="auto">
          <a:xfrm>
            <a:off x="1981200" y="367188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7" name="Text Box 31"/>
          <p:cNvSpPr txBox="1">
            <a:spLocks noChangeArrowheads="1"/>
          </p:cNvSpPr>
          <p:nvPr/>
        </p:nvSpPr>
        <p:spPr bwMode="auto">
          <a:xfrm>
            <a:off x="304800" y="4800600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8" name="Line 32"/>
          <p:cNvSpPr>
            <a:spLocks noChangeShapeType="1"/>
          </p:cNvSpPr>
          <p:nvPr/>
        </p:nvSpPr>
        <p:spPr bwMode="auto">
          <a:xfrm>
            <a:off x="7543800" y="2574925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Line 33"/>
          <p:cNvSpPr>
            <a:spLocks noChangeShapeType="1"/>
          </p:cNvSpPr>
          <p:nvPr/>
        </p:nvSpPr>
        <p:spPr bwMode="auto">
          <a:xfrm flipH="1">
            <a:off x="4876800" y="129540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0" name="Line 34"/>
          <p:cNvSpPr>
            <a:spLocks noChangeShapeType="1"/>
          </p:cNvSpPr>
          <p:nvPr/>
        </p:nvSpPr>
        <p:spPr bwMode="auto">
          <a:xfrm>
            <a:off x="7543800" y="129540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1" name="Line 35"/>
          <p:cNvSpPr>
            <a:spLocks noChangeShapeType="1"/>
          </p:cNvSpPr>
          <p:nvPr/>
        </p:nvSpPr>
        <p:spPr bwMode="auto">
          <a:xfrm>
            <a:off x="1447800" y="5791200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2" name="Line 36"/>
          <p:cNvSpPr>
            <a:spLocks noChangeShapeType="1"/>
          </p:cNvSpPr>
          <p:nvPr/>
        </p:nvSpPr>
        <p:spPr bwMode="auto">
          <a:xfrm flipV="1">
            <a:off x="1447800" y="5349875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3" name="Line 37"/>
          <p:cNvSpPr>
            <a:spLocks noChangeShapeType="1"/>
          </p:cNvSpPr>
          <p:nvPr/>
        </p:nvSpPr>
        <p:spPr bwMode="auto">
          <a:xfrm>
            <a:off x="7543800" y="39624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4" name="Line 38"/>
          <p:cNvSpPr>
            <a:spLocks noChangeShapeType="1"/>
          </p:cNvSpPr>
          <p:nvPr/>
        </p:nvSpPr>
        <p:spPr bwMode="auto">
          <a:xfrm flipV="1">
            <a:off x="1447800" y="3521075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5" name="Line 39"/>
          <p:cNvSpPr>
            <a:spLocks noChangeShapeType="1"/>
          </p:cNvSpPr>
          <p:nvPr/>
        </p:nvSpPr>
        <p:spPr bwMode="auto">
          <a:xfrm>
            <a:off x="1447800" y="353695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6" name="Line 40"/>
          <p:cNvSpPr>
            <a:spLocks noChangeShapeType="1"/>
          </p:cNvSpPr>
          <p:nvPr/>
        </p:nvSpPr>
        <p:spPr bwMode="auto">
          <a:xfrm flipH="1">
            <a:off x="4473575" y="3097213"/>
            <a:ext cx="0" cy="830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7" name="Line 41"/>
          <p:cNvSpPr>
            <a:spLocks noChangeShapeType="1"/>
          </p:cNvSpPr>
          <p:nvPr/>
        </p:nvSpPr>
        <p:spPr bwMode="auto">
          <a:xfrm>
            <a:off x="4476750" y="3705225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8" name="Line 42"/>
          <p:cNvSpPr>
            <a:spLocks noChangeShapeType="1"/>
          </p:cNvSpPr>
          <p:nvPr/>
        </p:nvSpPr>
        <p:spPr bwMode="auto">
          <a:xfrm flipH="1">
            <a:off x="2819400" y="3513138"/>
            <a:ext cx="1643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Freeform 43"/>
          <p:cNvSpPr>
            <a:spLocks/>
          </p:cNvSpPr>
          <p:nvPr/>
        </p:nvSpPr>
        <p:spPr bwMode="auto">
          <a:xfrm>
            <a:off x="4565650" y="3786188"/>
            <a:ext cx="239713" cy="249237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Oval 44"/>
          <p:cNvSpPr>
            <a:spLocks noChangeArrowheads="1"/>
          </p:cNvSpPr>
          <p:nvPr/>
        </p:nvSpPr>
        <p:spPr bwMode="auto">
          <a:xfrm>
            <a:off x="4044950" y="2901950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91" name="Line 45"/>
          <p:cNvSpPr>
            <a:spLocks noChangeShapeType="1"/>
          </p:cNvSpPr>
          <p:nvPr/>
        </p:nvSpPr>
        <p:spPr bwMode="auto">
          <a:xfrm flipV="1">
            <a:off x="4476750" y="29337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2" name="Line 46"/>
          <p:cNvSpPr>
            <a:spLocks noChangeShapeType="1"/>
          </p:cNvSpPr>
          <p:nvPr/>
        </p:nvSpPr>
        <p:spPr bwMode="auto">
          <a:xfrm flipV="1">
            <a:off x="4860925" y="1279525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3" name="Line 47"/>
          <p:cNvSpPr>
            <a:spLocks noChangeShapeType="1"/>
          </p:cNvSpPr>
          <p:nvPr/>
        </p:nvSpPr>
        <p:spPr bwMode="auto">
          <a:xfrm flipV="1">
            <a:off x="4860925" y="4070350"/>
            <a:ext cx="0" cy="1736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4" name="Text Box 48"/>
          <p:cNvSpPr txBox="1">
            <a:spLocks noChangeArrowheads="1"/>
          </p:cNvSpPr>
          <p:nvPr/>
        </p:nvSpPr>
        <p:spPr bwMode="auto">
          <a:xfrm>
            <a:off x="1812925" y="4791075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58395" name="Text Box 49"/>
          <p:cNvSpPr txBox="1">
            <a:spLocks noChangeArrowheads="1"/>
          </p:cNvSpPr>
          <p:nvPr/>
        </p:nvSpPr>
        <p:spPr bwMode="auto">
          <a:xfrm>
            <a:off x="6324600" y="1752600"/>
            <a:ext cx="92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</a:p>
        </p:txBody>
      </p:sp>
      <p:sp>
        <p:nvSpPr>
          <p:cNvPr id="58396" name="Text Box 50"/>
          <p:cNvSpPr txBox="1">
            <a:spLocks noChangeArrowheads="1"/>
          </p:cNvSpPr>
          <p:nvPr/>
        </p:nvSpPr>
        <p:spPr bwMode="auto">
          <a:xfrm>
            <a:off x="6248400" y="3505200"/>
            <a:ext cx="88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 V</a:t>
            </a:r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5334000" y="2559050"/>
            <a:ext cx="127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Mental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open</a:t>
            </a:r>
          </a:p>
        </p:txBody>
      </p:sp>
      <p:sp>
        <p:nvSpPr>
          <p:cNvPr id="7231" name="Rectangle 63"/>
          <p:cNvSpPr>
            <a:spLocks noChangeArrowheads="1"/>
          </p:cNvSpPr>
          <p:nvPr/>
        </p:nvSpPr>
        <p:spPr bwMode="auto">
          <a:xfrm>
            <a:off x="3946525" y="2771775"/>
            <a:ext cx="1371600" cy="1447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235" name="Group 67"/>
          <p:cNvGrpSpPr>
            <a:grpSpLocks/>
          </p:cNvGrpSpPr>
          <p:nvPr/>
        </p:nvGrpSpPr>
        <p:grpSpPr bwMode="auto">
          <a:xfrm>
            <a:off x="3810000" y="2619375"/>
            <a:ext cx="1127125" cy="1758950"/>
            <a:chOff x="2400" y="1650"/>
            <a:chExt cx="710" cy="1108"/>
          </a:xfrm>
        </p:grpSpPr>
        <p:sp>
          <p:nvSpPr>
            <p:cNvPr id="58401" name="Oval 64"/>
            <p:cNvSpPr>
              <a:spLocks noChangeArrowheads="1"/>
            </p:cNvSpPr>
            <p:nvPr/>
          </p:nvSpPr>
          <p:spPr bwMode="auto">
            <a:xfrm>
              <a:off x="3014" y="266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02" name="Oval 65"/>
            <p:cNvSpPr>
              <a:spLocks noChangeArrowheads="1"/>
            </p:cNvSpPr>
            <p:nvPr/>
          </p:nvSpPr>
          <p:spPr bwMode="auto">
            <a:xfrm>
              <a:off x="2400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03" name="Oval 66"/>
            <p:cNvSpPr>
              <a:spLocks noChangeArrowheads="1"/>
            </p:cNvSpPr>
            <p:nvPr/>
          </p:nvSpPr>
          <p:spPr bwMode="auto">
            <a:xfrm>
              <a:off x="3014" y="165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8400" name="Rectangle 2"/>
          <p:cNvSpPr txBox="1">
            <a:spLocks noChangeArrowheads="1"/>
          </p:cNvSpPr>
          <p:nvPr/>
        </p:nvSpPr>
        <p:spPr bwMode="auto">
          <a:xfrm>
            <a:off x="457200" y="107950"/>
            <a:ext cx="8229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Understanding Cutoff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5" grpId="0" autoUpdateAnimBg="0"/>
      <p:bldP spid="72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2286000" y="52752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2781300" y="52736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3289300" y="52736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3797300" y="52609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4335463" y="52768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4764088" y="52736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5308600" y="52736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5803900" y="52752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6308725" y="52609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6819900" y="52752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2049463" y="45974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9405" name="Text Box 13"/>
          <p:cNvSpPr txBox="1">
            <a:spLocks noChangeArrowheads="1"/>
          </p:cNvSpPr>
          <p:nvPr/>
        </p:nvSpPr>
        <p:spPr bwMode="auto">
          <a:xfrm>
            <a:off x="2070100" y="41544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9406" name="Text Box 14"/>
          <p:cNvSpPr txBox="1">
            <a:spLocks noChangeArrowheads="1"/>
          </p:cNvSpPr>
          <p:nvPr/>
        </p:nvSpPr>
        <p:spPr bwMode="auto">
          <a:xfrm>
            <a:off x="2070100" y="37433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9407" name="Text Box 15"/>
          <p:cNvSpPr txBox="1">
            <a:spLocks noChangeArrowheads="1"/>
          </p:cNvSpPr>
          <p:nvPr/>
        </p:nvSpPr>
        <p:spPr bwMode="auto">
          <a:xfrm>
            <a:off x="2070100" y="33178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9408" name="Text Box 16"/>
          <p:cNvSpPr txBox="1">
            <a:spLocks noChangeArrowheads="1"/>
          </p:cNvSpPr>
          <p:nvPr/>
        </p:nvSpPr>
        <p:spPr bwMode="auto">
          <a:xfrm>
            <a:off x="1938338" y="28702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9409" name="Text Box 17"/>
          <p:cNvSpPr txBox="1">
            <a:spLocks noChangeArrowheads="1"/>
          </p:cNvSpPr>
          <p:nvPr/>
        </p:nvSpPr>
        <p:spPr bwMode="auto">
          <a:xfrm>
            <a:off x="1935163" y="24431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59410" name="Text Box 18"/>
          <p:cNvSpPr txBox="1">
            <a:spLocks noChangeArrowheads="1"/>
          </p:cNvSpPr>
          <p:nvPr/>
        </p:nvSpPr>
        <p:spPr bwMode="auto">
          <a:xfrm>
            <a:off x="1935163" y="19875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504D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9411" name="Text Box 19"/>
          <p:cNvSpPr txBox="1">
            <a:spLocks noChangeArrowheads="1"/>
          </p:cNvSpPr>
          <p:nvPr/>
        </p:nvSpPr>
        <p:spPr bwMode="auto">
          <a:xfrm>
            <a:off x="2949575" y="5832475"/>
            <a:ext cx="204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Volts</a:t>
            </a:r>
          </a:p>
        </p:txBody>
      </p:sp>
      <p:sp>
        <p:nvSpPr>
          <p:cNvPr id="59412" name="Text Box 20"/>
          <p:cNvSpPr txBox="1">
            <a:spLocks noChangeArrowheads="1"/>
          </p:cNvSpPr>
          <p:nvPr/>
        </p:nvSpPr>
        <p:spPr bwMode="auto">
          <a:xfrm>
            <a:off x="423863" y="3316288"/>
            <a:ext cx="1525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in mA</a:t>
            </a:r>
          </a:p>
        </p:txBody>
      </p:sp>
      <p:grpSp>
        <p:nvGrpSpPr>
          <p:cNvPr id="59413" name="Group 21"/>
          <p:cNvGrpSpPr>
            <a:grpSpLocks/>
          </p:cNvGrpSpPr>
          <p:nvPr/>
        </p:nvGrpSpPr>
        <p:grpSpPr bwMode="auto">
          <a:xfrm>
            <a:off x="2471738" y="4279900"/>
            <a:ext cx="6145212" cy="1020763"/>
            <a:chOff x="1571" y="2430"/>
            <a:chExt cx="3871" cy="643"/>
          </a:xfrm>
        </p:grpSpPr>
        <p:sp>
          <p:nvSpPr>
            <p:cNvPr id="59454" name="Freeform 22"/>
            <p:cNvSpPr>
              <a:spLocks/>
            </p:cNvSpPr>
            <p:nvPr/>
          </p:nvSpPr>
          <p:spPr bwMode="auto">
            <a:xfrm>
              <a:off x="1571" y="2606"/>
              <a:ext cx="3208" cy="467"/>
            </a:xfrm>
            <a:custGeom>
              <a:avLst/>
              <a:gdLst>
                <a:gd name="T0" fmla="*/ 5 w 3208"/>
                <a:gd name="T1" fmla="*/ 467 h 467"/>
                <a:gd name="T2" fmla="*/ 27 w 3208"/>
                <a:gd name="T3" fmla="*/ 368 h 467"/>
                <a:gd name="T4" fmla="*/ 167 w 3208"/>
                <a:gd name="T5" fmla="*/ 83 h 467"/>
                <a:gd name="T6" fmla="*/ 746 w 3208"/>
                <a:gd name="T7" fmla="*/ 21 h 467"/>
                <a:gd name="T8" fmla="*/ 3208 w 3208"/>
                <a:gd name="T9" fmla="*/ 0 h 4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8" h="467">
                  <a:moveTo>
                    <a:pt x="5" y="467"/>
                  </a:moveTo>
                  <a:cubicBezTo>
                    <a:pt x="7" y="451"/>
                    <a:pt x="0" y="432"/>
                    <a:pt x="27" y="368"/>
                  </a:cubicBezTo>
                  <a:cubicBezTo>
                    <a:pt x="54" y="304"/>
                    <a:pt x="47" y="141"/>
                    <a:pt x="167" y="83"/>
                  </a:cubicBezTo>
                  <a:cubicBezTo>
                    <a:pt x="287" y="25"/>
                    <a:pt x="239" y="35"/>
                    <a:pt x="746" y="21"/>
                  </a:cubicBezTo>
                  <a:cubicBezTo>
                    <a:pt x="1253" y="7"/>
                    <a:pt x="2695" y="4"/>
                    <a:pt x="3208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5" name="Text Box 23"/>
            <p:cNvSpPr txBox="1">
              <a:spLocks noChangeArrowheads="1"/>
            </p:cNvSpPr>
            <p:nvPr/>
          </p:nvSpPr>
          <p:spPr bwMode="auto">
            <a:xfrm>
              <a:off x="4755" y="24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20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4" name="Group 24"/>
          <p:cNvGrpSpPr>
            <a:grpSpLocks/>
          </p:cNvGrpSpPr>
          <p:nvPr/>
        </p:nvGrpSpPr>
        <p:grpSpPr bwMode="auto">
          <a:xfrm>
            <a:off x="2457450" y="5021263"/>
            <a:ext cx="5984875" cy="519112"/>
            <a:chOff x="1562" y="2897"/>
            <a:chExt cx="3770" cy="327"/>
          </a:xfrm>
        </p:grpSpPr>
        <p:sp>
          <p:nvSpPr>
            <p:cNvPr id="59452" name="Line 25"/>
            <p:cNvSpPr>
              <a:spLocks noChangeShapeType="1"/>
            </p:cNvSpPr>
            <p:nvPr/>
          </p:nvSpPr>
          <p:spPr bwMode="auto">
            <a:xfrm>
              <a:off x="1562" y="3061"/>
              <a:ext cx="3217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3" name="Text Box 26"/>
            <p:cNvSpPr txBox="1">
              <a:spLocks noChangeArrowheads="1"/>
            </p:cNvSpPr>
            <p:nvPr/>
          </p:nvSpPr>
          <p:spPr bwMode="auto">
            <a:xfrm>
              <a:off x="4757" y="2897"/>
              <a:ext cx="5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5" name="Group 27"/>
          <p:cNvGrpSpPr>
            <a:grpSpLocks/>
          </p:cNvGrpSpPr>
          <p:nvPr/>
        </p:nvGrpSpPr>
        <p:grpSpPr bwMode="auto">
          <a:xfrm>
            <a:off x="2457450" y="1873250"/>
            <a:ext cx="6335713" cy="3409950"/>
            <a:chOff x="1562" y="914"/>
            <a:chExt cx="3991" cy="2148"/>
          </a:xfrm>
        </p:grpSpPr>
        <p:sp>
          <p:nvSpPr>
            <p:cNvPr id="59450" name="Freeform 28"/>
            <p:cNvSpPr>
              <a:spLocks/>
            </p:cNvSpPr>
            <p:nvPr/>
          </p:nvSpPr>
          <p:spPr bwMode="auto">
            <a:xfrm>
              <a:off x="1562" y="1096"/>
              <a:ext cx="3227" cy="1966"/>
            </a:xfrm>
            <a:custGeom>
              <a:avLst/>
              <a:gdLst>
                <a:gd name="T0" fmla="*/ 0 w 3227"/>
                <a:gd name="T1" fmla="*/ 1966 h 1966"/>
                <a:gd name="T2" fmla="*/ 82 w 3227"/>
                <a:gd name="T3" fmla="*/ 404 h 1966"/>
                <a:gd name="T4" fmla="*/ 217 w 3227"/>
                <a:gd name="T5" fmla="*/ 114 h 1966"/>
                <a:gd name="T6" fmla="*/ 858 w 3227"/>
                <a:gd name="T7" fmla="*/ 73 h 1966"/>
                <a:gd name="T8" fmla="*/ 3227 w 3227"/>
                <a:gd name="T9" fmla="*/ 0 h 19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7" h="1966">
                  <a:moveTo>
                    <a:pt x="0" y="1966"/>
                  </a:moveTo>
                  <a:cubicBezTo>
                    <a:pt x="14" y="1706"/>
                    <a:pt x="46" y="713"/>
                    <a:pt x="82" y="404"/>
                  </a:cubicBezTo>
                  <a:cubicBezTo>
                    <a:pt x="118" y="95"/>
                    <a:pt x="88" y="169"/>
                    <a:pt x="217" y="114"/>
                  </a:cubicBezTo>
                  <a:cubicBezTo>
                    <a:pt x="346" y="59"/>
                    <a:pt x="356" y="92"/>
                    <a:pt x="858" y="73"/>
                  </a:cubicBezTo>
                  <a:cubicBezTo>
                    <a:pt x="1360" y="54"/>
                    <a:pt x="2734" y="15"/>
                    <a:pt x="3227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51" name="Text Box 29"/>
            <p:cNvSpPr txBox="1">
              <a:spLocks noChangeArrowheads="1"/>
            </p:cNvSpPr>
            <p:nvPr/>
          </p:nvSpPr>
          <p:spPr bwMode="auto">
            <a:xfrm>
              <a:off x="4754" y="914"/>
              <a:ext cx="7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100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6" name="Group 30"/>
          <p:cNvGrpSpPr>
            <a:grpSpLocks/>
          </p:cNvGrpSpPr>
          <p:nvPr/>
        </p:nvGrpSpPr>
        <p:grpSpPr bwMode="auto">
          <a:xfrm>
            <a:off x="2438400" y="1828800"/>
            <a:ext cx="5138738" cy="3497263"/>
            <a:chOff x="1269" y="927"/>
            <a:chExt cx="3237" cy="2203"/>
          </a:xfrm>
        </p:grpSpPr>
        <p:sp>
          <p:nvSpPr>
            <p:cNvPr id="59430" name="Line 31"/>
            <p:cNvSpPr>
              <a:spLocks noChangeShapeType="1"/>
            </p:cNvSpPr>
            <p:nvPr/>
          </p:nvSpPr>
          <p:spPr bwMode="auto">
            <a:xfrm>
              <a:off x="1269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1" name="Line 32"/>
            <p:cNvSpPr>
              <a:spLocks noChangeShapeType="1"/>
            </p:cNvSpPr>
            <p:nvPr/>
          </p:nvSpPr>
          <p:spPr bwMode="auto">
            <a:xfrm>
              <a:off x="1272" y="929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2" name="Line 33"/>
            <p:cNvSpPr>
              <a:spLocks noChangeShapeType="1"/>
            </p:cNvSpPr>
            <p:nvPr/>
          </p:nvSpPr>
          <p:spPr bwMode="auto">
            <a:xfrm>
              <a:off x="1274" y="1201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3" name="Line 34"/>
            <p:cNvSpPr>
              <a:spLocks noChangeShapeType="1"/>
            </p:cNvSpPr>
            <p:nvPr/>
          </p:nvSpPr>
          <p:spPr bwMode="auto">
            <a:xfrm>
              <a:off x="1274" y="147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4" name="Line 35"/>
            <p:cNvSpPr>
              <a:spLocks noChangeShapeType="1"/>
            </p:cNvSpPr>
            <p:nvPr/>
          </p:nvSpPr>
          <p:spPr bwMode="auto">
            <a:xfrm>
              <a:off x="1274" y="175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5" name="Line 36"/>
            <p:cNvSpPr>
              <a:spLocks noChangeShapeType="1"/>
            </p:cNvSpPr>
            <p:nvPr/>
          </p:nvSpPr>
          <p:spPr bwMode="auto">
            <a:xfrm>
              <a:off x="1274" y="2022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6" name="Line 37"/>
            <p:cNvSpPr>
              <a:spLocks noChangeShapeType="1"/>
            </p:cNvSpPr>
            <p:nvPr/>
          </p:nvSpPr>
          <p:spPr bwMode="auto">
            <a:xfrm>
              <a:off x="1274" y="2296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7" name="Line 38"/>
            <p:cNvSpPr>
              <a:spLocks noChangeShapeType="1"/>
            </p:cNvSpPr>
            <p:nvPr/>
          </p:nvSpPr>
          <p:spPr bwMode="auto">
            <a:xfrm>
              <a:off x="1274" y="2570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8" name="Line 39"/>
            <p:cNvSpPr>
              <a:spLocks noChangeShapeType="1"/>
            </p:cNvSpPr>
            <p:nvPr/>
          </p:nvSpPr>
          <p:spPr bwMode="auto">
            <a:xfrm>
              <a:off x="1274" y="2844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9" name="Line 40"/>
            <p:cNvSpPr>
              <a:spLocks noChangeShapeType="1"/>
            </p:cNvSpPr>
            <p:nvPr/>
          </p:nvSpPr>
          <p:spPr bwMode="auto">
            <a:xfrm>
              <a:off x="1274" y="3117"/>
              <a:ext cx="3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0" name="Line 41"/>
            <p:cNvSpPr>
              <a:spLocks noChangeShapeType="1"/>
            </p:cNvSpPr>
            <p:nvPr/>
          </p:nvSpPr>
          <p:spPr bwMode="auto">
            <a:xfrm>
              <a:off x="1591" y="937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1" name="Line 42"/>
            <p:cNvSpPr>
              <a:spLocks noChangeShapeType="1"/>
            </p:cNvSpPr>
            <p:nvPr/>
          </p:nvSpPr>
          <p:spPr bwMode="auto">
            <a:xfrm>
              <a:off x="1918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2" name="Line 43"/>
            <p:cNvSpPr>
              <a:spLocks noChangeShapeType="1"/>
            </p:cNvSpPr>
            <p:nvPr/>
          </p:nvSpPr>
          <p:spPr bwMode="auto">
            <a:xfrm>
              <a:off x="2244" y="936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3" name="Line 44"/>
            <p:cNvSpPr>
              <a:spLocks noChangeShapeType="1"/>
            </p:cNvSpPr>
            <p:nvPr/>
          </p:nvSpPr>
          <p:spPr bwMode="auto">
            <a:xfrm>
              <a:off x="2572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4" name="Line 45"/>
            <p:cNvSpPr>
              <a:spLocks noChangeShapeType="1"/>
            </p:cNvSpPr>
            <p:nvPr/>
          </p:nvSpPr>
          <p:spPr bwMode="auto">
            <a:xfrm>
              <a:off x="2905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5" name="Line 46"/>
            <p:cNvSpPr>
              <a:spLocks noChangeShapeType="1"/>
            </p:cNvSpPr>
            <p:nvPr/>
          </p:nvSpPr>
          <p:spPr bwMode="auto">
            <a:xfrm>
              <a:off x="3226" y="931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6" name="Line 47"/>
            <p:cNvSpPr>
              <a:spLocks noChangeShapeType="1"/>
            </p:cNvSpPr>
            <p:nvPr/>
          </p:nvSpPr>
          <p:spPr bwMode="auto">
            <a:xfrm>
              <a:off x="3558" y="940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7" name="Line 48"/>
            <p:cNvSpPr>
              <a:spLocks noChangeShapeType="1"/>
            </p:cNvSpPr>
            <p:nvPr/>
          </p:nvSpPr>
          <p:spPr bwMode="auto">
            <a:xfrm>
              <a:off x="3875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8" name="Line 49"/>
            <p:cNvSpPr>
              <a:spLocks noChangeShapeType="1"/>
            </p:cNvSpPr>
            <p:nvPr/>
          </p:nvSpPr>
          <p:spPr bwMode="auto">
            <a:xfrm>
              <a:off x="4193" y="934"/>
              <a:ext cx="0" cy="2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49" name="Line 50"/>
            <p:cNvSpPr>
              <a:spLocks noChangeShapeType="1"/>
            </p:cNvSpPr>
            <p:nvPr/>
          </p:nvSpPr>
          <p:spPr bwMode="auto">
            <a:xfrm>
              <a:off x="4500" y="927"/>
              <a:ext cx="0" cy="2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9417" name="Group 51"/>
          <p:cNvGrpSpPr>
            <a:grpSpLocks/>
          </p:cNvGrpSpPr>
          <p:nvPr/>
        </p:nvGrpSpPr>
        <p:grpSpPr bwMode="auto">
          <a:xfrm>
            <a:off x="2463800" y="2433638"/>
            <a:ext cx="6149975" cy="2867025"/>
            <a:chOff x="1566" y="1267"/>
            <a:chExt cx="3874" cy="1806"/>
          </a:xfrm>
        </p:grpSpPr>
        <p:sp>
          <p:nvSpPr>
            <p:cNvPr id="59428" name="Freeform 52"/>
            <p:cNvSpPr>
              <a:spLocks/>
            </p:cNvSpPr>
            <p:nvPr/>
          </p:nvSpPr>
          <p:spPr bwMode="auto">
            <a:xfrm>
              <a:off x="1566" y="1452"/>
              <a:ext cx="3209" cy="1621"/>
            </a:xfrm>
            <a:custGeom>
              <a:avLst/>
              <a:gdLst>
                <a:gd name="T0" fmla="*/ 0 w 3209"/>
                <a:gd name="T1" fmla="*/ 1621 h 1621"/>
                <a:gd name="T2" fmla="*/ 64 w 3209"/>
                <a:gd name="T3" fmla="*/ 404 h 1621"/>
                <a:gd name="T4" fmla="*/ 199 w 3209"/>
                <a:gd name="T5" fmla="*/ 114 h 1621"/>
                <a:gd name="T6" fmla="*/ 840 w 3209"/>
                <a:gd name="T7" fmla="*/ 73 h 1621"/>
                <a:gd name="T8" fmla="*/ 3209 w 3209"/>
                <a:gd name="T9" fmla="*/ 0 h 16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09" h="1621">
                  <a:moveTo>
                    <a:pt x="0" y="1621"/>
                  </a:moveTo>
                  <a:cubicBezTo>
                    <a:pt x="11" y="1416"/>
                    <a:pt x="31" y="655"/>
                    <a:pt x="64" y="404"/>
                  </a:cubicBezTo>
                  <a:cubicBezTo>
                    <a:pt x="97" y="153"/>
                    <a:pt x="70" y="169"/>
                    <a:pt x="199" y="114"/>
                  </a:cubicBezTo>
                  <a:cubicBezTo>
                    <a:pt x="328" y="59"/>
                    <a:pt x="338" y="92"/>
                    <a:pt x="840" y="73"/>
                  </a:cubicBezTo>
                  <a:cubicBezTo>
                    <a:pt x="1342" y="54"/>
                    <a:pt x="2716" y="15"/>
                    <a:pt x="3209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9" name="Text Box 53"/>
            <p:cNvSpPr txBox="1">
              <a:spLocks noChangeArrowheads="1"/>
            </p:cNvSpPr>
            <p:nvPr/>
          </p:nvSpPr>
          <p:spPr bwMode="auto">
            <a:xfrm>
              <a:off x="4753" y="1267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80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8" name="Group 54"/>
          <p:cNvGrpSpPr>
            <a:grpSpLocks/>
          </p:cNvGrpSpPr>
          <p:nvPr/>
        </p:nvGrpSpPr>
        <p:grpSpPr bwMode="auto">
          <a:xfrm>
            <a:off x="2463800" y="3009900"/>
            <a:ext cx="6149975" cy="2290763"/>
            <a:chOff x="1566" y="1630"/>
            <a:chExt cx="3874" cy="1443"/>
          </a:xfrm>
        </p:grpSpPr>
        <p:sp>
          <p:nvSpPr>
            <p:cNvPr id="59426" name="Freeform 55"/>
            <p:cNvSpPr>
              <a:spLocks/>
            </p:cNvSpPr>
            <p:nvPr/>
          </p:nvSpPr>
          <p:spPr bwMode="auto">
            <a:xfrm>
              <a:off x="1566" y="1820"/>
              <a:ext cx="3223" cy="1253"/>
            </a:xfrm>
            <a:custGeom>
              <a:avLst/>
              <a:gdLst>
                <a:gd name="T0" fmla="*/ 0 w 3223"/>
                <a:gd name="T1" fmla="*/ 1253 h 1253"/>
                <a:gd name="T2" fmla="*/ 50 w 3223"/>
                <a:gd name="T3" fmla="*/ 412 h 1253"/>
                <a:gd name="T4" fmla="*/ 185 w 3223"/>
                <a:gd name="T5" fmla="*/ 122 h 1253"/>
                <a:gd name="T6" fmla="*/ 826 w 3223"/>
                <a:gd name="T7" fmla="*/ 81 h 1253"/>
                <a:gd name="T8" fmla="*/ 3223 w 3223"/>
                <a:gd name="T9" fmla="*/ 0 h 12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23" h="1253">
                  <a:moveTo>
                    <a:pt x="0" y="1253"/>
                  </a:moveTo>
                  <a:cubicBezTo>
                    <a:pt x="7" y="1113"/>
                    <a:pt x="19" y="600"/>
                    <a:pt x="50" y="412"/>
                  </a:cubicBezTo>
                  <a:cubicBezTo>
                    <a:pt x="81" y="224"/>
                    <a:pt x="56" y="177"/>
                    <a:pt x="185" y="122"/>
                  </a:cubicBezTo>
                  <a:cubicBezTo>
                    <a:pt x="314" y="67"/>
                    <a:pt x="320" y="101"/>
                    <a:pt x="826" y="81"/>
                  </a:cubicBezTo>
                  <a:cubicBezTo>
                    <a:pt x="1332" y="61"/>
                    <a:pt x="2724" y="17"/>
                    <a:pt x="3223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7" name="Text Box 56"/>
            <p:cNvSpPr txBox="1">
              <a:spLocks noChangeArrowheads="1"/>
            </p:cNvSpPr>
            <p:nvPr/>
          </p:nvSpPr>
          <p:spPr bwMode="auto">
            <a:xfrm>
              <a:off x="4753" y="1630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60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9419" name="Group 57"/>
          <p:cNvGrpSpPr>
            <a:grpSpLocks/>
          </p:cNvGrpSpPr>
          <p:nvPr/>
        </p:nvGrpSpPr>
        <p:grpSpPr bwMode="auto">
          <a:xfrm>
            <a:off x="2462213" y="3633788"/>
            <a:ext cx="6169025" cy="1682750"/>
            <a:chOff x="1565" y="2023"/>
            <a:chExt cx="3886" cy="1060"/>
          </a:xfrm>
        </p:grpSpPr>
        <p:sp>
          <p:nvSpPr>
            <p:cNvPr id="59424" name="Freeform 58"/>
            <p:cNvSpPr>
              <a:spLocks/>
            </p:cNvSpPr>
            <p:nvPr/>
          </p:nvSpPr>
          <p:spPr bwMode="auto">
            <a:xfrm>
              <a:off x="1565" y="2213"/>
              <a:ext cx="3214" cy="870"/>
            </a:xfrm>
            <a:custGeom>
              <a:avLst/>
              <a:gdLst>
                <a:gd name="T0" fmla="*/ 0 w 3214"/>
                <a:gd name="T1" fmla="*/ 870 h 870"/>
                <a:gd name="T2" fmla="*/ 47 w 3214"/>
                <a:gd name="T3" fmla="*/ 385 h 870"/>
                <a:gd name="T4" fmla="*/ 182 w 3214"/>
                <a:gd name="T5" fmla="*/ 95 h 870"/>
                <a:gd name="T6" fmla="*/ 823 w 3214"/>
                <a:gd name="T7" fmla="*/ 54 h 870"/>
                <a:gd name="T8" fmla="*/ 3214 w 3214"/>
                <a:gd name="T9" fmla="*/ 0 h 8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4" h="870">
                  <a:moveTo>
                    <a:pt x="0" y="870"/>
                  </a:moveTo>
                  <a:cubicBezTo>
                    <a:pt x="6" y="789"/>
                    <a:pt x="17" y="514"/>
                    <a:pt x="47" y="385"/>
                  </a:cubicBezTo>
                  <a:cubicBezTo>
                    <a:pt x="77" y="256"/>
                    <a:pt x="53" y="150"/>
                    <a:pt x="182" y="95"/>
                  </a:cubicBezTo>
                  <a:cubicBezTo>
                    <a:pt x="311" y="40"/>
                    <a:pt x="318" y="70"/>
                    <a:pt x="823" y="54"/>
                  </a:cubicBezTo>
                  <a:cubicBezTo>
                    <a:pt x="1328" y="38"/>
                    <a:pt x="2716" y="11"/>
                    <a:pt x="3214" y="0"/>
                  </a:cubicBezTo>
                </a:path>
              </a:pathLst>
            </a:custGeom>
            <a:noFill/>
            <a:ln w="5715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25" name="Text Box 59"/>
            <p:cNvSpPr txBox="1">
              <a:spLocks noChangeArrowheads="1"/>
            </p:cNvSpPr>
            <p:nvPr/>
          </p:nvSpPr>
          <p:spPr bwMode="auto">
            <a:xfrm>
              <a:off x="4764" y="2023"/>
              <a:ext cx="6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40 </a:t>
              </a:r>
              <a:r>
                <a:rPr lang="en-US" altLang="en-US" sz="2800">
                  <a:solidFill>
                    <a:srgbClr val="C0504D"/>
                  </a:solidFill>
                  <a:latin typeface="Symbol" panose="05050102010706020507" pitchFamily="18" charset="2"/>
                </a:rPr>
                <a:t>m</a:t>
              </a:r>
              <a:r>
                <a:rPr lang="en-US" altLang="en-US" sz="2800">
                  <a:solidFill>
                    <a:srgbClr val="C0504D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59420" name="Freeform 60"/>
          <p:cNvSpPr>
            <a:spLocks/>
          </p:cNvSpPr>
          <p:nvPr/>
        </p:nvSpPr>
        <p:spPr bwMode="auto">
          <a:xfrm>
            <a:off x="2439988" y="2698750"/>
            <a:ext cx="3109912" cy="2595563"/>
          </a:xfrm>
          <a:custGeom>
            <a:avLst/>
            <a:gdLst>
              <a:gd name="T0" fmla="*/ 0 w 1959"/>
              <a:gd name="T1" fmla="*/ 0 h 1635"/>
              <a:gd name="T2" fmla="*/ 2147483646 w 1959"/>
              <a:gd name="T3" fmla="*/ 2147483646 h 163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959" h="1635">
                <a:moveTo>
                  <a:pt x="0" y="0"/>
                </a:moveTo>
                <a:lnTo>
                  <a:pt x="1959" y="1635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1" name="AutoShape 69"/>
          <p:cNvSpPr>
            <a:spLocks noChangeArrowheads="1"/>
          </p:cNvSpPr>
          <p:nvPr/>
        </p:nvSpPr>
        <p:spPr bwMode="auto">
          <a:xfrm rot="16200000" flipH="1">
            <a:off x="4930775" y="6061075"/>
            <a:ext cx="1219200" cy="152400"/>
          </a:xfrm>
          <a:prstGeom prst="leftArrow">
            <a:avLst>
              <a:gd name="adj1" fmla="val 50000"/>
              <a:gd name="adj2" fmla="val 20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62" name="Text Box 70"/>
          <p:cNvSpPr txBox="1">
            <a:spLocks noChangeArrowheads="1"/>
          </p:cNvSpPr>
          <p:nvPr/>
        </p:nvSpPr>
        <p:spPr bwMode="auto">
          <a:xfrm>
            <a:off x="3143250" y="946150"/>
            <a:ext cx="3008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CE(cutoff)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  =  V</a:t>
            </a:r>
            <a:r>
              <a:rPr lang="en-US" altLang="en-US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CC</a:t>
            </a:r>
            <a:endParaRPr lang="en-US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23" name="Rectangle 2"/>
          <p:cNvSpPr txBox="1">
            <a:spLocks noChangeArrowheads="1"/>
          </p:cNvSpPr>
          <p:nvPr/>
        </p:nvSpPr>
        <p:spPr bwMode="auto">
          <a:xfrm>
            <a:off x="457200" y="107950"/>
            <a:ext cx="8229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solidFill>
                  <a:srgbClr val="FF0000"/>
                </a:solidFill>
              </a:rPr>
              <a:t>Understanding Cutoff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1" grpId="0" animBg="1"/>
      <p:bldP spid="826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90675"/>
            <a:ext cx="830897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1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6375"/>
            <a:ext cx="50196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35063"/>
            <a:ext cx="406241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88" y="3962400"/>
            <a:ext cx="411480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4" name="Group 2"/>
          <p:cNvGrpSpPr>
            <a:grpSpLocks/>
          </p:cNvGrpSpPr>
          <p:nvPr/>
        </p:nvGrpSpPr>
        <p:grpSpPr bwMode="auto">
          <a:xfrm rot="10800000">
            <a:off x="7489825" y="519113"/>
            <a:ext cx="330200" cy="984250"/>
            <a:chOff x="2000" y="1771"/>
            <a:chExt cx="208" cy="620"/>
          </a:xfrm>
        </p:grpSpPr>
        <p:sp>
          <p:nvSpPr>
            <p:cNvPr id="85052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3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4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5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6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7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8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4995" name="Group 10"/>
          <p:cNvGrpSpPr>
            <a:grpSpLocks/>
          </p:cNvGrpSpPr>
          <p:nvPr/>
        </p:nvGrpSpPr>
        <p:grpSpPr bwMode="auto">
          <a:xfrm rot="16200000" flipH="1">
            <a:off x="7428707" y="2351881"/>
            <a:ext cx="482600" cy="614363"/>
            <a:chOff x="864" y="1152"/>
            <a:chExt cx="417" cy="480"/>
          </a:xfrm>
        </p:grpSpPr>
        <p:sp>
          <p:nvSpPr>
            <p:cNvPr id="85048" name="Line 11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9" name="Line 12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0" name="Line 13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51" name="Line 14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4996" name="Group 15"/>
          <p:cNvGrpSpPr>
            <a:grpSpLocks/>
          </p:cNvGrpSpPr>
          <p:nvPr/>
        </p:nvGrpSpPr>
        <p:grpSpPr bwMode="auto">
          <a:xfrm rot="16200000" flipH="1">
            <a:off x="1332707" y="3739356"/>
            <a:ext cx="482600" cy="614363"/>
            <a:chOff x="864" y="1152"/>
            <a:chExt cx="417" cy="480"/>
          </a:xfrm>
        </p:grpSpPr>
        <p:sp>
          <p:nvSpPr>
            <p:cNvPr id="85044" name="Line 16"/>
            <p:cNvSpPr>
              <a:spLocks noChangeShapeType="1"/>
            </p:cNvSpPr>
            <p:nvPr/>
          </p:nvSpPr>
          <p:spPr bwMode="auto">
            <a:xfrm>
              <a:off x="864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5" name="Line 17"/>
            <p:cNvSpPr>
              <a:spLocks noChangeShapeType="1"/>
            </p:cNvSpPr>
            <p:nvPr/>
          </p:nvSpPr>
          <p:spPr bwMode="auto">
            <a:xfrm>
              <a:off x="1152" y="115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6" name="Line 18"/>
            <p:cNvSpPr>
              <a:spLocks noChangeShapeType="1"/>
            </p:cNvSpPr>
            <p:nvPr/>
          </p:nvSpPr>
          <p:spPr bwMode="auto">
            <a:xfrm>
              <a:off x="1281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7" name="Line 19"/>
            <p:cNvSpPr>
              <a:spLocks noChangeShapeType="1"/>
            </p:cNvSpPr>
            <p:nvPr/>
          </p:nvSpPr>
          <p:spPr bwMode="auto">
            <a:xfrm>
              <a:off x="1008" y="1248"/>
              <a:ext cx="0" cy="3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4997" name="Group 20"/>
          <p:cNvGrpSpPr>
            <a:grpSpLocks/>
          </p:cNvGrpSpPr>
          <p:nvPr/>
        </p:nvGrpSpPr>
        <p:grpSpPr bwMode="auto">
          <a:xfrm>
            <a:off x="4822825" y="3325813"/>
            <a:ext cx="330200" cy="984250"/>
            <a:chOff x="2000" y="1771"/>
            <a:chExt cx="208" cy="620"/>
          </a:xfrm>
        </p:grpSpPr>
        <p:sp>
          <p:nvSpPr>
            <p:cNvPr id="85037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8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9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0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1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2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43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4998" name="Text Box 28"/>
          <p:cNvSpPr txBox="1">
            <a:spLocks noChangeArrowheads="1"/>
          </p:cNvSpPr>
          <p:nvPr/>
        </p:nvSpPr>
        <p:spPr bwMode="auto">
          <a:xfrm>
            <a:off x="8048625" y="2433638"/>
            <a:ext cx="790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9" name="Text Box 29"/>
          <p:cNvSpPr txBox="1">
            <a:spLocks noChangeArrowheads="1"/>
          </p:cNvSpPr>
          <p:nvPr/>
        </p:nvSpPr>
        <p:spPr bwMode="auto">
          <a:xfrm>
            <a:off x="7896225" y="757238"/>
            <a:ext cx="615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5229225" y="357663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1" name="Text Box 31"/>
          <p:cNvSpPr txBox="1">
            <a:spLocks noChangeArrowheads="1"/>
          </p:cNvSpPr>
          <p:nvPr/>
        </p:nvSpPr>
        <p:spPr bwMode="auto">
          <a:xfrm>
            <a:off x="428625" y="37290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2" name="Line 32"/>
          <p:cNvSpPr>
            <a:spLocks noChangeShapeType="1"/>
          </p:cNvSpPr>
          <p:nvPr/>
        </p:nvSpPr>
        <p:spPr bwMode="auto">
          <a:xfrm>
            <a:off x="7667625" y="1503363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3" name="Line 33"/>
          <p:cNvSpPr>
            <a:spLocks noChangeShapeType="1"/>
          </p:cNvSpPr>
          <p:nvPr/>
        </p:nvSpPr>
        <p:spPr bwMode="auto">
          <a:xfrm flipH="1">
            <a:off x="5000625" y="223838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4" name="Line 34"/>
          <p:cNvSpPr>
            <a:spLocks noChangeShapeType="1"/>
          </p:cNvSpPr>
          <p:nvPr/>
        </p:nvSpPr>
        <p:spPr bwMode="auto">
          <a:xfrm>
            <a:off x="7667625" y="223838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5" name="Line 35"/>
          <p:cNvSpPr>
            <a:spLocks noChangeShapeType="1"/>
          </p:cNvSpPr>
          <p:nvPr/>
        </p:nvSpPr>
        <p:spPr bwMode="auto">
          <a:xfrm>
            <a:off x="1571625" y="4719638"/>
            <a:ext cx="609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6" name="Line 36"/>
          <p:cNvSpPr>
            <a:spLocks noChangeShapeType="1"/>
          </p:cNvSpPr>
          <p:nvPr/>
        </p:nvSpPr>
        <p:spPr bwMode="auto">
          <a:xfrm flipV="1">
            <a:off x="1571625" y="42783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7" name="Line 37"/>
          <p:cNvSpPr>
            <a:spLocks noChangeShapeType="1"/>
          </p:cNvSpPr>
          <p:nvPr/>
        </p:nvSpPr>
        <p:spPr bwMode="auto">
          <a:xfrm>
            <a:off x="7667625" y="2890838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8" name="Line 38"/>
          <p:cNvSpPr>
            <a:spLocks noChangeShapeType="1"/>
          </p:cNvSpPr>
          <p:nvPr/>
        </p:nvSpPr>
        <p:spPr bwMode="auto">
          <a:xfrm flipV="1">
            <a:off x="1571625" y="2449513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9" name="Line 40"/>
          <p:cNvSpPr>
            <a:spLocks noChangeShapeType="1"/>
          </p:cNvSpPr>
          <p:nvPr/>
        </p:nvSpPr>
        <p:spPr bwMode="auto">
          <a:xfrm flipH="1">
            <a:off x="4597400" y="2025650"/>
            <a:ext cx="0" cy="830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0" name="Line 41"/>
          <p:cNvSpPr>
            <a:spLocks noChangeShapeType="1"/>
          </p:cNvSpPr>
          <p:nvPr/>
        </p:nvSpPr>
        <p:spPr bwMode="auto">
          <a:xfrm>
            <a:off x="4600575" y="2633663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1" name="Line 42"/>
          <p:cNvSpPr>
            <a:spLocks noChangeShapeType="1"/>
          </p:cNvSpPr>
          <p:nvPr/>
        </p:nvSpPr>
        <p:spPr bwMode="auto">
          <a:xfrm flipH="1">
            <a:off x="1571625" y="2441575"/>
            <a:ext cx="30146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2" name="Freeform 43"/>
          <p:cNvSpPr>
            <a:spLocks/>
          </p:cNvSpPr>
          <p:nvPr/>
        </p:nvSpPr>
        <p:spPr bwMode="auto">
          <a:xfrm>
            <a:off x="4689475" y="2714625"/>
            <a:ext cx="239713" cy="249238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3" name="Oval 44"/>
          <p:cNvSpPr>
            <a:spLocks noChangeArrowheads="1"/>
          </p:cNvSpPr>
          <p:nvPr/>
        </p:nvSpPr>
        <p:spPr bwMode="auto">
          <a:xfrm>
            <a:off x="4168775" y="1830388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14" name="Line 45"/>
          <p:cNvSpPr>
            <a:spLocks noChangeShapeType="1"/>
          </p:cNvSpPr>
          <p:nvPr/>
        </p:nvSpPr>
        <p:spPr bwMode="auto">
          <a:xfrm flipV="1">
            <a:off x="4600575" y="1862138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5" name="Line 46"/>
          <p:cNvSpPr>
            <a:spLocks noChangeShapeType="1"/>
          </p:cNvSpPr>
          <p:nvPr/>
        </p:nvSpPr>
        <p:spPr bwMode="auto">
          <a:xfrm flipV="1">
            <a:off x="4984750" y="207963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6" name="Line 47"/>
          <p:cNvSpPr>
            <a:spLocks noChangeShapeType="1"/>
          </p:cNvSpPr>
          <p:nvPr/>
        </p:nvSpPr>
        <p:spPr bwMode="auto">
          <a:xfrm flipV="1">
            <a:off x="4984750" y="2998788"/>
            <a:ext cx="0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17" name="Text Box 48"/>
          <p:cNvSpPr txBox="1">
            <a:spLocks noChangeArrowheads="1"/>
          </p:cNvSpPr>
          <p:nvPr/>
        </p:nvSpPr>
        <p:spPr bwMode="auto">
          <a:xfrm>
            <a:off x="1936750" y="3719513"/>
            <a:ext cx="708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5 V</a:t>
            </a:r>
          </a:p>
        </p:txBody>
      </p:sp>
      <p:sp>
        <p:nvSpPr>
          <p:cNvPr id="85018" name="Text Box 49"/>
          <p:cNvSpPr txBox="1">
            <a:spLocks noChangeArrowheads="1"/>
          </p:cNvSpPr>
          <p:nvPr/>
        </p:nvSpPr>
        <p:spPr bwMode="auto">
          <a:xfrm>
            <a:off x="6448425" y="681038"/>
            <a:ext cx="92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19" name="Text Box 50"/>
          <p:cNvSpPr txBox="1">
            <a:spLocks noChangeArrowheads="1"/>
          </p:cNvSpPr>
          <p:nvPr/>
        </p:nvSpPr>
        <p:spPr bwMode="auto">
          <a:xfrm>
            <a:off x="6372225" y="2433638"/>
            <a:ext cx="885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15 V</a:t>
            </a:r>
          </a:p>
        </p:txBody>
      </p:sp>
      <p:sp>
        <p:nvSpPr>
          <p:cNvPr id="85020" name="Rectangle 55"/>
          <p:cNvSpPr>
            <a:spLocks noChangeArrowheads="1"/>
          </p:cNvSpPr>
          <p:nvPr/>
        </p:nvSpPr>
        <p:spPr bwMode="auto">
          <a:xfrm>
            <a:off x="6448425" y="604838"/>
            <a:ext cx="9144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021" name="Line 57"/>
          <p:cNvSpPr>
            <a:spLocks noChangeShapeType="1"/>
          </p:cNvSpPr>
          <p:nvPr/>
        </p:nvSpPr>
        <p:spPr bwMode="auto">
          <a:xfrm>
            <a:off x="5000625" y="4283075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22" name="Text Box 58"/>
          <p:cNvSpPr txBox="1">
            <a:spLocks noChangeArrowheads="1"/>
          </p:cNvSpPr>
          <p:nvPr/>
        </p:nvSpPr>
        <p:spPr bwMode="auto">
          <a:xfrm>
            <a:off x="6524625" y="757238"/>
            <a:ext cx="92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92" name="Text Box 60"/>
          <p:cNvSpPr txBox="1">
            <a:spLocks noChangeArrowheads="1"/>
          </p:cNvSpPr>
          <p:nvPr/>
        </p:nvSpPr>
        <p:spPr bwMode="auto">
          <a:xfrm>
            <a:off x="3629025" y="3576638"/>
            <a:ext cx="1189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2.2 k</a:t>
            </a:r>
            <a:r>
              <a:rPr lang="en-US" altLang="en-US" sz="2800" b="1">
                <a:solidFill>
                  <a:srgbClr val="FF0000"/>
                </a:solidFill>
                <a:latin typeface="Symbol" panose="05050102010706020507" pitchFamily="18" charset="2"/>
              </a:rPr>
              <a:t>W</a:t>
            </a:r>
            <a:endParaRPr lang="en-US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94" name="Text Box 62"/>
          <p:cNvSpPr txBox="1">
            <a:spLocks noChangeArrowheads="1"/>
          </p:cNvSpPr>
          <p:nvPr/>
        </p:nvSpPr>
        <p:spPr bwMode="auto">
          <a:xfrm>
            <a:off x="504825" y="1300163"/>
            <a:ext cx="86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 =</a:t>
            </a:r>
          </a:p>
        </p:txBody>
      </p:sp>
      <p:sp>
        <p:nvSpPr>
          <p:cNvPr id="18495" name="Text Box 63"/>
          <p:cNvSpPr txBox="1">
            <a:spLocks noChangeArrowheads="1"/>
          </p:cNvSpPr>
          <p:nvPr/>
        </p:nvSpPr>
        <p:spPr bwMode="auto">
          <a:xfrm>
            <a:off x="1435100" y="919163"/>
            <a:ext cx="1636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BB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- 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BE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96" name="Text Box 64"/>
          <p:cNvSpPr txBox="1">
            <a:spLocks noChangeArrowheads="1"/>
          </p:cNvSpPr>
          <p:nvPr/>
        </p:nvSpPr>
        <p:spPr bwMode="auto">
          <a:xfrm>
            <a:off x="1892300" y="1614488"/>
            <a:ext cx="601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97" name="Line 65"/>
          <p:cNvSpPr>
            <a:spLocks noChangeShapeType="1"/>
          </p:cNvSpPr>
          <p:nvPr/>
        </p:nvSpPr>
        <p:spPr bwMode="auto">
          <a:xfrm>
            <a:off x="1466850" y="1570038"/>
            <a:ext cx="1600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98" name="Text Box 66"/>
          <p:cNvSpPr txBox="1">
            <a:spLocks noChangeArrowheads="1"/>
          </p:cNvSpPr>
          <p:nvPr/>
        </p:nvSpPr>
        <p:spPr bwMode="auto">
          <a:xfrm>
            <a:off x="3171825" y="1295400"/>
            <a:ext cx="1741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= 1.95 mA</a:t>
            </a:r>
          </a:p>
        </p:txBody>
      </p:sp>
      <p:sp>
        <p:nvSpPr>
          <p:cNvPr id="18499" name="Text Box 67"/>
          <p:cNvSpPr txBox="1">
            <a:spLocks noChangeArrowheads="1"/>
          </p:cNvSpPr>
          <p:nvPr/>
        </p:nvSpPr>
        <p:spPr bwMode="auto">
          <a:xfrm>
            <a:off x="1700213" y="5349875"/>
            <a:ext cx="5824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= 15 V - (1.95 mA)(1 k</a:t>
            </a:r>
            <a:r>
              <a:rPr lang="en-US" altLang="en-US" sz="2800" b="1">
                <a:solidFill>
                  <a:srgbClr val="C0504D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) = 13.1 V</a:t>
            </a:r>
          </a:p>
        </p:txBody>
      </p:sp>
      <p:sp>
        <p:nvSpPr>
          <p:cNvPr id="18500" name="Text Box 68"/>
          <p:cNvSpPr txBox="1">
            <a:spLocks noChangeArrowheads="1"/>
          </p:cNvSpPr>
          <p:nvPr/>
        </p:nvSpPr>
        <p:spPr bwMode="auto">
          <a:xfrm>
            <a:off x="304800" y="152400"/>
            <a:ext cx="406000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4.4 Emitter bias: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Contains an emitter resistor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01" name="Text Box 69"/>
          <p:cNvSpPr txBox="1">
            <a:spLocks noChangeArrowheads="1"/>
          </p:cNvSpPr>
          <p:nvPr/>
        </p:nvSpPr>
        <p:spPr bwMode="auto">
          <a:xfrm>
            <a:off x="2574925" y="5880100"/>
            <a:ext cx="4384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CE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= 13.1 V - 4.3 V = 8.8 V</a:t>
            </a:r>
          </a:p>
        </p:txBody>
      </p:sp>
      <p:grpSp>
        <p:nvGrpSpPr>
          <p:cNvPr id="85032" name="Group 70"/>
          <p:cNvGrpSpPr>
            <a:grpSpLocks/>
          </p:cNvGrpSpPr>
          <p:nvPr/>
        </p:nvGrpSpPr>
        <p:grpSpPr bwMode="auto">
          <a:xfrm>
            <a:off x="4619625" y="5045075"/>
            <a:ext cx="762000" cy="304800"/>
            <a:chOff x="1261" y="2969"/>
            <a:chExt cx="480" cy="192"/>
          </a:xfrm>
        </p:grpSpPr>
        <p:sp>
          <p:nvSpPr>
            <p:cNvPr id="85034" name="Line 71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5" name="Line 72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36" name="Line 73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506" name="Text Box 74"/>
          <p:cNvSpPr txBox="1">
            <a:spLocks noChangeArrowheads="1"/>
          </p:cNvSpPr>
          <p:nvPr/>
        </p:nvSpPr>
        <p:spPr bwMode="auto">
          <a:xfrm>
            <a:off x="5181600" y="941388"/>
            <a:ext cx="12636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b="1">
                <a:solidFill>
                  <a:srgbClr val="FF0000"/>
                </a:solidFill>
                <a:latin typeface="Symbol" panose="05050102010706020507" pitchFamily="18" charset="2"/>
              </a:rPr>
              <a:t>@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 I</a:t>
            </a:r>
            <a:r>
              <a:rPr lang="en-US" altLang="en-US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endParaRPr lang="en-US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2" grpId="0" autoUpdateAnimBg="0"/>
      <p:bldP spid="18492" grpId="0" autoUpdateAnimBg="0"/>
      <p:bldP spid="18494" grpId="0" autoUpdateAnimBg="0"/>
      <p:bldP spid="18495" grpId="0" autoUpdateAnimBg="0"/>
      <p:bldP spid="18496" grpId="0" autoUpdateAnimBg="0"/>
      <p:bldP spid="18497" grpId="0" animBg="1"/>
      <p:bldP spid="18498" grpId="0" autoUpdateAnimBg="0"/>
      <p:bldP spid="18499" grpId="0" autoUpdateAnimBg="0"/>
      <p:bldP spid="18500" grpId="0" autoUpdateAnimBg="0"/>
      <p:bldP spid="18501" grpId="0" autoUpdateAnimBg="0"/>
      <p:bldP spid="1850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BJT DC biasing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990600"/>
                <a:ext cx="9144000" cy="58674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First give appropriate directions of the three currents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Apply KVL in the base-emitter loop.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𝐵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=0.7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/>
                        <a:ea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Apply KVL in the </a:t>
                </a:r>
                <a:r>
                  <a:rPr lang="en-US" dirty="0"/>
                  <a:t>collector-emitter </a:t>
                </a:r>
                <a:r>
                  <a:rPr lang="en-US" dirty="0">
                    <a:solidFill>
                      <a:schemeClr val="tx1"/>
                    </a:solidFill>
                  </a:rPr>
                  <a:t>loop.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Apply KVL in the base loop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=0.7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. </a:t>
                </a:r>
                <a:r>
                  <a:rPr lang="en-US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.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sub>
                    </m:sSub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Apply KVL in the emitter loop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90600"/>
                <a:ext cx="9144000" cy="5867400"/>
              </a:xfrm>
              <a:blipFill rotWithShape="1">
                <a:blip r:embed="rId2"/>
                <a:stretch>
                  <a:fillRect l="-1467" t="-2183" b="-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701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52" b="14671"/>
          <a:stretch/>
        </p:blipFill>
        <p:spPr>
          <a:xfrm>
            <a:off x="0" y="0"/>
            <a:ext cx="5181600" cy="37456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0"/>
            <a:ext cx="4114800" cy="304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1" b="83381"/>
          <a:stretch/>
        </p:blipFill>
        <p:spPr>
          <a:xfrm>
            <a:off x="0" y="3745681"/>
            <a:ext cx="5009882" cy="5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261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52" b="14671"/>
          <a:stretch/>
        </p:blipFill>
        <p:spPr>
          <a:xfrm>
            <a:off x="0" y="0"/>
            <a:ext cx="5181600" cy="37456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5" r="30806"/>
          <a:stretch/>
        </p:blipFill>
        <p:spPr>
          <a:xfrm>
            <a:off x="4609563" y="4250027"/>
            <a:ext cx="4534437" cy="26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34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0" name="Group 2"/>
          <p:cNvGrpSpPr>
            <a:grpSpLocks/>
          </p:cNvGrpSpPr>
          <p:nvPr/>
        </p:nvGrpSpPr>
        <p:grpSpPr bwMode="auto">
          <a:xfrm rot="10800000">
            <a:off x="7046913" y="1511300"/>
            <a:ext cx="330200" cy="984250"/>
            <a:chOff x="2000" y="1771"/>
            <a:chExt cx="208" cy="620"/>
          </a:xfrm>
        </p:grpSpPr>
        <p:sp>
          <p:nvSpPr>
            <p:cNvPr id="89146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7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8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9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0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1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2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091" name="Group 10"/>
          <p:cNvGrpSpPr>
            <a:grpSpLocks/>
          </p:cNvGrpSpPr>
          <p:nvPr/>
        </p:nvGrpSpPr>
        <p:grpSpPr bwMode="auto">
          <a:xfrm>
            <a:off x="7069138" y="4303713"/>
            <a:ext cx="330200" cy="984250"/>
            <a:chOff x="2000" y="1771"/>
            <a:chExt cx="208" cy="620"/>
          </a:xfrm>
        </p:grpSpPr>
        <p:sp>
          <p:nvSpPr>
            <p:cNvPr id="89139" name="Line 1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0" name="Line 1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1" name="Line 1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2" name="Line 1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3" name="Line 1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4" name="Freeform 1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45" name="Freeform 1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092" name="Text Box 18"/>
          <p:cNvSpPr txBox="1">
            <a:spLocks noChangeArrowheads="1"/>
          </p:cNvSpPr>
          <p:nvPr/>
        </p:nvSpPr>
        <p:spPr bwMode="auto">
          <a:xfrm>
            <a:off x="6742113" y="381000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+V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3" name="Text Box 19"/>
          <p:cNvSpPr txBox="1">
            <a:spLocks noChangeArrowheads="1"/>
          </p:cNvSpPr>
          <p:nvPr/>
        </p:nvSpPr>
        <p:spPr bwMode="auto">
          <a:xfrm>
            <a:off x="7427913" y="17399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4" name="Text Box 20"/>
          <p:cNvSpPr txBox="1">
            <a:spLocks noChangeArrowheads="1"/>
          </p:cNvSpPr>
          <p:nvPr/>
        </p:nvSpPr>
        <p:spPr bwMode="auto">
          <a:xfrm>
            <a:off x="7475538" y="4554538"/>
            <a:ext cx="6016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5" name="Line 21"/>
          <p:cNvSpPr>
            <a:spLocks noChangeShapeType="1"/>
          </p:cNvSpPr>
          <p:nvPr/>
        </p:nvSpPr>
        <p:spPr bwMode="auto">
          <a:xfrm flipH="1">
            <a:off x="6843713" y="3003550"/>
            <a:ext cx="0" cy="830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6" name="Line 22"/>
          <p:cNvSpPr>
            <a:spLocks noChangeShapeType="1"/>
          </p:cNvSpPr>
          <p:nvPr/>
        </p:nvSpPr>
        <p:spPr bwMode="auto">
          <a:xfrm>
            <a:off x="6846888" y="3611563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7" name="Line 23"/>
          <p:cNvSpPr>
            <a:spLocks noChangeShapeType="1"/>
          </p:cNvSpPr>
          <p:nvPr/>
        </p:nvSpPr>
        <p:spPr bwMode="auto">
          <a:xfrm flipH="1">
            <a:off x="5827713" y="3419475"/>
            <a:ext cx="1004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8" name="Freeform 24"/>
          <p:cNvSpPr>
            <a:spLocks/>
          </p:cNvSpPr>
          <p:nvPr/>
        </p:nvSpPr>
        <p:spPr bwMode="auto">
          <a:xfrm>
            <a:off x="6935788" y="3692525"/>
            <a:ext cx="239712" cy="249238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099" name="Oval 25"/>
          <p:cNvSpPr>
            <a:spLocks noChangeArrowheads="1"/>
          </p:cNvSpPr>
          <p:nvPr/>
        </p:nvSpPr>
        <p:spPr bwMode="auto">
          <a:xfrm>
            <a:off x="6415088" y="2808288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00" name="Line 26"/>
          <p:cNvSpPr>
            <a:spLocks noChangeShapeType="1"/>
          </p:cNvSpPr>
          <p:nvPr/>
        </p:nvSpPr>
        <p:spPr bwMode="auto">
          <a:xfrm flipV="1">
            <a:off x="6846888" y="2840038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1" name="Line 27"/>
          <p:cNvSpPr>
            <a:spLocks noChangeShapeType="1"/>
          </p:cNvSpPr>
          <p:nvPr/>
        </p:nvSpPr>
        <p:spPr bwMode="auto">
          <a:xfrm flipV="1">
            <a:off x="7231063" y="25019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2" name="Line 28"/>
          <p:cNvSpPr>
            <a:spLocks noChangeShapeType="1"/>
          </p:cNvSpPr>
          <p:nvPr/>
        </p:nvSpPr>
        <p:spPr bwMode="auto">
          <a:xfrm flipV="1">
            <a:off x="7231063" y="3976688"/>
            <a:ext cx="0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03" name="Line 29"/>
          <p:cNvSpPr>
            <a:spLocks noChangeShapeType="1"/>
          </p:cNvSpPr>
          <p:nvPr/>
        </p:nvSpPr>
        <p:spPr bwMode="auto">
          <a:xfrm>
            <a:off x="7246938" y="5260975"/>
            <a:ext cx="0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9104" name="Group 30"/>
          <p:cNvGrpSpPr>
            <a:grpSpLocks/>
          </p:cNvGrpSpPr>
          <p:nvPr/>
        </p:nvGrpSpPr>
        <p:grpSpPr bwMode="auto">
          <a:xfrm>
            <a:off x="6878638" y="5638800"/>
            <a:ext cx="762000" cy="304800"/>
            <a:chOff x="1261" y="2969"/>
            <a:chExt cx="480" cy="192"/>
          </a:xfrm>
        </p:grpSpPr>
        <p:sp>
          <p:nvSpPr>
            <p:cNvPr id="89136" name="Line 31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7" name="Line 32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8" name="Line 33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105" name="Group 34"/>
          <p:cNvGrpSpPr>
            <a:grpSpLocks/>
          </p:cNvGrpSpPr>
          <p:nvPr/>
        </p:nvGrpSpPr>
        <p:grpSpPr bwMode="auto">
          <a:xfrm rot="10800000">
            <a:off x="5649913" y="1835150"/>
            <a:ext cx="330200" cy="984250"/>
            <a:chOff x="2000" y="1771"/>
            <a:chExt cx="208" cy="620"/>
          </a:xfrm>
        </p:grpSpPr>
        <p:sp>
          <p:nvSpPr>
            <p:cNvPr id="89129" name="Line 35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0" name="Line 36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1" name="Line 37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2" name="Line 38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3" name="Line 39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4" name="Freeform 40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5" name="Freeform 41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9106" name="Group 42"/>
          <p:cNvGrpSpPr>
            <a:grpSpLocks/>
          </p:cNvGrpSpPr>
          <p:nvPr/>
        </p:nvGrpSpPr>
        <p:grpSpPr bwMode="auto">
          <a:xfrm rot="10800000">
            <a:off x="5649913" y="4267200"/>
            <a:ext cx="330200" cy="984250"/>
            <a:chOff x="2000" y="1771"/>
            <a:chExt cx="208" cy="620"/>
          </a:xfrm>
        </p:grpSpPr>
        <p:sp>
          <p:nvSpPr>
            <p:cNvPr id="89122" name="Line 4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3" name="Line 4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4" name="Line 4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5" name="Line 4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6" name="Line 4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7" name="Freeform 4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8" name="Freeform 4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107" name="Text Box 50"/>
          <p:cNvSpPr txBox="1">
            <a:spLocks noChangeArrowheads="1"/>
          </p:cNvSpPr>
          <p:nvPr/>
        </p:nvSpPr>
        <p:spPr bwMode="auto">
          <a:xfrm>
            <a:off x="6027738" y="2071688"/>
            <a:ext cx="561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1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08" name="Text Box 51"/>
          <p:cNvSpPr txBox="1">
            <a:spLocks noChangeArrowheads="1"/>
          </p:cNvSpPr>
          <p:nvPr/>
        </p:nvSpPr>
        <p:spPr bwMode="auto">
          <a:xfrm>
            <a:off x="6027738" y="4419600"/>
            <a:ext cx="561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09" name="Line 52"/>
          <p:cNvSpPr>
            <a:spLocks noChangeShapeType="1"/>
          </p:cNvSpPr>
          <p:nvPr/>
        </p:nvSpPr>
        <p:spPr bwMode="auto">
          <a:xfrm flipV="1">
            <a:off x="5827713" y="2819400"/>
            <a:ext cx="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9110" name="Group 53"/>
          <p:cNvGrpSpPr>
            <a:grpSpLocks/>
          </p:cNvGrpSpPr>
          <p:nvPr/>
        </p:nvGrpSpPr>
        <p:grpSpPr bwMode="auto">
          <a:xfrm>
            <a:off x="5446713" y="5638800"/>
            <a:ext cx="762000" cy="304800"/>
            <a:chOff x="1261" y="2969"/>
            <a:chExt cx="480" cy="192"/>
          </a:xfrm>
        </p:grpSpPr>
        <p:sp>
          <p:nvSpPr>
            <p:cNvPr id="89119" name="Line 54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0" name="Line 55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1" name="Line 56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111" name="Line 57"/>
          <p:cNvSpPr>
            <a:spLocks noChangeShapeType="1"/>
          </p:cNvSpPr>
          <p:nvPr/>
        </p:nvSpPr>
        <p:spPr bwMode="auto">
          <a:xfrm>
            <a:off x="5827713" y="5257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2" name="Line 58"/>
          <p:cNvSpPr>
            <a:spLocks noChangeShapeType="1"/>
          </p:cNvSpPr>
          <p:nvPr/>
        </p:nvSpPr>
        <p:spPr bwMode="auto">
          <a:xfrm flipV="1">
            <a:off x="7199313" y="1066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3" name="Line 59"/>
          <p:cNvSpPr>
            <a:spLocks noChangeShapeType="1"/>
          </p:cNvSpPr>
          <p:nvPr/>
        </p:nvSpPr>
        <p:spPr bwMode="auto">
          <a:xfrm flipH="1">
            <a:off x="5827713" y="1311275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4" name="Line 60"/>
          <p:cNvSpPr>
            <a:spLocks noChangeShapeType="1"/>
          </p:cNvSpPr>
          <p:nvPr/>
        </p:nvSpPr>
        <p:spPr bwMode="auto">
          <a:xfrm flipV="1">
            <a:off x="5827713" y="13112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115" name="Oval 61"/>
          <p:cNvSpPr>
            <a:spLocks noChangeArrowheads="1"/>
          </p:cNvSpPr>
          <p:nvPr/>
        </p:nvSpPr>
        <p:spPr bwMode="auto">
          <a:xfrm>
            <a:off x="7123113" y="914400"/>
            <a:ext cx="152400" cy="152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116" name="Text Box 62"/>
          <p:cNvSpPr txBox="1">
            <a:spLocks noChangeArrowheads="1"/>
          </p:cNvSpPr>
          <p:nvPr/>
        </p:nvSpPr>
        <p:spPr bwMode="auto">
          <a:xfrm>
            <a:off x="1295400" y="65088"/>
            <a:ext cx="527907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4.5 Voltage divider bias</a:t>
            </a:r>
          </a:p>
        </p:txBody>
      </p:sp>
      <p:sp>
        <p:nvSpPr>
          <p:cNvPr id="65" name="Rectangle 3"/>
          <p:cNvSpPr txBox="1">
            <a:spLocks noChangeArrowheads="1"/>
          </p:cNvSpPr>
          <p:nvPr/>
        </p:nvSpPr>
        <p:spPr>
          <a:xfrm>
            <a:off x="312738" y="1027113"/>
            <a:ext cx="4498975" cy="22098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en-US" b="1" u="sng" dirty="0">
                <a:solidFill>
                  <a:schemeClr val="accent2"/>
                </a:solidFill>
              </a:rPr>
              <a:t>Base</a:t>
            </a:r>
            <a:r>
              <a:rPr lang="en-US" altLang="en-US" b="1" dirty="0">
                <a:solidFill>
                  <a:schemeClr val="accent2"/>
                </a:solidFill>
              </a:rPr>
              <a:t> circuit contains a </a:t>
            </a:r>
            <a:r>
              <a:rPr lang="en-US" altLang="en-US" b="1" dirty="0">
                <a:solidFill>
                  <a:srgbClr val="FF0000"/>
                </a:solidFill>
              </a:rPr>
              <a:t>voltage divider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b="1" u="sng" dirty="0">
                <a:solidFill>
                  <a:schemeClr val="accent2"/>
                </a:solidFill>
              </a:rPr>
              <a:t>Most</a:t>
            </a:r>
            <a:r>
              <a:rPr lang="en-US" altLang="en-US" b="1" dirty="0">
                <a:solidFill>
                  <a:schemeClr val="accent2"/>
                </a:solidFill>
              </a:rPr>
              <a:t> widely used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b="1" dirty="0">
                <a:solidFill>
                  <a:schemeClr val="accent2"/>
                </a:solidFill>
              </a:rPr>
              <a:t>Known as </a:t>
            </a:r>
            <a:r>
              <a:rPr lang="en-US" altLang="en-US" b="1" dirty="0">
                <a:solidFill>
                  <a:srgbClr val="FF0000"/>
                </a:solidFill>
              </a:rPr>
              <a:t>VDB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 rot="10800000">
            <a:off x="7046913" y="1511300"/>
            <a:ext cx="330200" cy="984250"/>
            <a:chOff x="2000" y="1771"/>
            <a:chExt cx="208" cy="620"/>
          </a:xfrm>
        </p:grpSpPr>
        <p:sp>
          <p:nvSpPr>
            <p:cNvPr id="90170" name="Line 3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1" name="Line 4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2" name="Line 5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3" name="Line 6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4" name="Line 7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5" name="Freeform 8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76" name="Freeform 9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92" name="Group 20"/>
          <p:cNvGrpSpPr>
            <a:grpSpLocks/>
          </p:cNvGrpSpPr>
          <p:nvPr/>
        </p:nvGrpSpPr>
        <p:grpSpPr bwMode="auto">
          <a:xfrm>
            <a:off x="7069138" y="4303713"/>
            <a:ext cx="330200" cy="984250"/>
            <a:chOff x="2000" y="1771"/>
            <a:chExt cx="208" cy="620"/>
          </a:xfrm>
        </p:grpSpPr>
        <p:sp>
          <p:nvSpPr>
            <p:cNvPr id="90163" name="Line 21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4" name="Line 22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5" name="Line 23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6" name="Line 24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7" name="Line 25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8" name="Freeform 26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9" name="Freeform 27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00" name="Text Box 28"/>
          <p:cNvSpPr txBox="1">
            <a:spLocks noChangeArrowheads="1"/>
          </p:cNvSpPr>
          <p:nvPr/>
        </p:nvSpPr>
        <p:spPr bwMode="auto">
          <a:xfrm>
            <a:off x="6742113" y="381000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+V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01" name="Text Box 29"/>
          <p:cNvSpPr txBox="1">
            <a:spLocks noChangeArrowheads="1"/>
          </p:cNvSpPr>
          <p:nvPr/>
        </p:nvSpPr>
        <p:spPr bwMode="auto">
          <a:xfrm>
            <a:off x="7427913" y="1739900"/>
            <a:ext cx="61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C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02" name="Text Box 30"/>
          <p:cNvSpPr txBox="1">
            <a:spLocks noChangeArrowheads="1"/>
          </p:cNvSpPr>
          <p:nvPr/>
        </p:nvSpPr>
        <p:spPr bwMode="auto">
          <a:xfrm>
            <a:off x="7475538" y="4554538"/>
            <a:ext cx="6016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11" name="Line 39"/>
          <p:cNvSpPr>
            <a:spLocks noChangeShapeType="1"/>
          </p:cNvSpPr>
          <p:nvPr/>
        </p:nvSpPr>
        <p:spPr bwMode="auto">
          <a:xfrm flipH="1">
            <a:off x="6843713" y="3003550"/>
            <a:ext cx="0" cy="830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2" name="Line 40"/>
          <p:cNvSpPr>
            <a:spLocks noChangeShapeType="1"/>
          </p:cNvSpPr>
          <p:nvPr/>
        </p:nvSpPr>
        <p:spPr bwMode="auto">
          <a:xfrm>
            <a:off x="6846888" y="3611563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3" name="Line 41"/>
          <p:cNvSpPr>
            <a:spLocks noChangeShapeType="1"/>
          </p:cNvSpPr>
          <p:nvPr/>
        </p:nvSpPr>
        <p:spPr bwMode="auto">
          <a:xfrm flipH="1">
            <a:off x="5827713" y="3419475"/>
            <a:ext cx="10048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4" name="Freeform 42"/>
          <p:cNvSpPr>
            <a:spLocks/>
          </p:cNvSpPr>
          <p:nvPr/>
        </p:nvSpPr>
        <p:spPr bwMode="auto">
          <a:xfrm>
            <a:off x="6935788" y="3692525"/>
            <a:ext cx="239712" cy="249238"/>
          </a:xfrm>
          <a:custGeom>
            <a:avLst/>
            <a:gdLst>
              <a:gd name="T0" fmla="*/ 2147483646 w 151"/>
              <a:gd name="T1" fmla="*/ 2147483646 h 157"/>
              <a:gd name="T2" fmla="*/ 2147483646 w 151"/>
              <a:gd name="T3" fmla="*/ 0 h 157"/>
              <a:gd name="T4" fmla="*/ 0 w 151"/>
              <a:gd name="T5" fmla="*/ 2147483646 h 157"/>
              <a:gd name="T6" fmla="*/ 2147483646 w 151"/>
              <a:gd name="T7" fmla="*/ 2147483646 h 15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1" h="157">
                <a:moveTo>
                  <a:pt x="151" y="157"/>
                </a:moveTo>
                <a:lnTo>
                  <a:pt x="96" y="0"/>
                </a:lnTo>
                <a:lnTo>
                  <a:pt x="0" y="97"/>
                </a:lnTo>
                <a:lnTo>
                  <a:pt x="151" y="157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5" name="Oval 43"/>
          <p:cNvSpPr>
            <a:spLocks noChangeArrowheads="1"/>
          </p:cNvSpPr>
          <p:nvPr/>
        </p:nvSpPr>
        <p:spPr bwMode="auto">
          <a:xfrm>
            <a:off x="6415088" y="2808288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16" name="Line 44"/>
          <p:cNvSpPr>
            <a:spLocks noChangeShapeType="1"/>
          </p:cNvSpPr>
          <p:nvPr/>
        </p:nvSpPr>
        <p:spPr bwMode="auto">
          <a:xfrm flipV="1">
            <a:off x="6846888" y="2840038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7" name="Line 45"/>
          <p:cNvSpPr>
            <a:spLocks noChangeShapeType="1"/>
          </p:cNvSpPr>
          <p:nvPr/>
        </p:nvSpPr>
        <p:spPr bwMode="auto">
          <a:xfrm flipV="1">
            <a:off x="7231063" y="2501900"/>
            <a:ext cx="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8" name="Line 46"/>
          <p:cNvSpPr>
            <a:spLocks noChangeShapeType="1"/>
          </p:cNvSpPr>
          <p:nvPr/>
        </p:nvSpPr>
        <p:spPr bwMode="auto">
          <a:xfrm flipV="1">
            <a:off x="7231063" y="3976688"/>
            <a:ext cx="0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3" name="Line 51"/>
          <p:cNvSpPr>
            <a:spLocks noChangeShapeType="1"/>
          </p:cNvSpPr>
          <p:nvPr/>
        </p:nvSpPr>
        <p:spPr bwMode="auto">
          <a:xfrm>
            <a:off x="7246938" y="5260975"/>
            <a:ext cx="0" cy="365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34" name="Group 62"/>
          <p:cNvGrpSpPr>
            <a:grpSpLocks/>
          </p:cNvGrpSpPr>
          <p:nvPr/>
        </p:nvGrpSpPr>
        <p:grpSpPr bwMode="auto">
          <a:xfrm>
            <a:off x="6878638" y="5638800"/>
            <a:ext cx="762000" cy="304800"/>
            <a:chOff x="1261" y="2969"/>
            <a:chExt cx="480" cy="192"/>
          </a:xfrm>
        </p:grpSpPr>
        <p:sp>
          <p:nvSpPr>
            <p:cNvPr id="90160" name="Line 63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1" name="Line 64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62" name="Line 65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39" name="Group 67"/>
          <p:cNvGrpSpPr>
            <a:grpSpLocks/>
          </p:cNvGrpSpPr>
          <p:nvPr/>
        </p:nvGrpSpPr>
        <p:grpSpPr bwMode="auto">
          <a:xfrm rot="10800000">
            <a:off x="5649913" y="1835150"/>
            <a:ext cx="330200" cy="984250"/>
            <a:chOff x="2000" y="1771"/>
            <a:chExt cx="208" cy="620"/>
          </a:xfrm>
        </p:grpSpPr>
        <p:sp>
          <p:nvSpPr>
            <p:cNvPr id="90153" name="Line 68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4" name="Line 69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5" name="Line 70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6" name="Line 71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7" name="Line 72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8" name="Freeform 73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9" name="Freeform 74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47" name="Group 75"/>
          <p:cNvGrpSpPr>
            <a:grpSpLocks/>
          </p:cNvGrpSpPr>
          <p:nvPr/>
        </p:nvGrpSpPr>
        <p:grpSpPr bwMode="auto">
          <a:xfrm rot="10800000">
            <a:off x="5649913" y="4267200"/>
            <a:ext cx="330200" cy="984250"/>
            <a:chOff x="2000" y="1771"/>
            <a:chExt cx="208" cy="620"/>
          </a:xfrm>
        </p:grpSpPr>
        <p:sp>
          <p:nvSpPr>
            <p:cNvPr id="90146" name="Line 76"/>
            <p:cNvSpPr>
              <a:spLocks noChangeShapeType="1"/>
            </p:cNvSpPr>
            <p:nvPr/>
          </p:nvSpPr>
          <p:spPr bwMode="auto">
            <a:xfrm flipV="1">
              <a:off x="2001" y="1925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7" name="Line 77"/>
            <p:cNvSpPr>
              <a:spLocks noChangeShapeType="1"/>
            </p:cNvSpPr>
            <p:nvPr/>
          </p:nvSpPr>
          <p:spPr bwMode="auto">
            <a:xfrm flipV="1">
              <a:off x="2001" y="213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8" name="Line 78"/>
            <p:cNvSpPr>
              <a:spLocks noChangeShapeType="1"/>
            </p:cNvSpPr>
            <p:nvPr/>
          </p:nvSpPr>
          <p:spPr bwMode="auto">
            <a:xfrm flipH="1" flipV="1">
              <a:off x="2001" y="2028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9" name="Line 79"/>
            <p:cNvSpPr>
              <a:spLocks noChangeShapeType="1"/>
            </p:cNvSpPr>
            <p:nvPr/>
          </p:nvSpPr>
          <p:spPr bwMode="auto">
            <a:xfrm flipH="1" flipV="1">
              <a:off x="2001" y="2232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0" name="Line 80"/>
            <p:cNvSpPr>
              <a:spLocks noChangeShapeType="1"/>
            </p:cNvSpPr>
            <p:nvPr/>
          </p:nvSpPr>
          <p:spPr bwMode="auto">
            <a:xfrm flipH="1" flipV="1">
              <a:off x="2001" y="1821"/>
              <a:ext cx="207" cy="1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1" name="Freeform 81"/>
            <p:cNvSpPr>
              <a:spLocks/>
            </p:cNvSpPr>
            <p:nvPr/>
          </p:nvSpPr>
          <p:spPr bwMode="auto">
            <a:xfrm flipH="1">
              <a:off x="2101" y="2336"/>
              <a:ext cx="107" cy="55"/>
            </a:xfrm>
            <a:custGeom>
              <a:avLst/>
              <a:gdLst>
                <a:gd name="T0" fmla="*/ 20 w 131"/>
                <a:gd name="T1" fmla="*/ 10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52" name="Freeform 82"/>
            <p:cNvSpPr>
              <a:spLocks/>
            </p:cNvSpPr>
            <p:nvPr/>
          </p:nvSpPr>
          <p:spPr bwMode="auto">
            <a:xfrm flipH="1">
              <a:off x="2000" y="1771"/>
              <a:ext cx="100" cy="50"/>
            </a:xfrm>
            <a:custGeom>
              <a:avLst/>
              <a:gdLst>
                <a:gd name="T0" fmla="*/ 11 w 131"/>
                <a:gd name="T1" fmla="*/ 4 h 68"/>
                <a:gd name="T2" fmla="*/ 0 w 131"/>
                <a:gd name="T3" fmla="*/ 0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1" h="68">
                  <a:moveTo>
                    <a:pt x="131" y="68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55" name="Text Box 83"/>
          <p:cNvSpPr txBox="1">
            <a:spLocks noChangeArrowheads="1"/>
          </p:cNvSpPr>
          <p:nvPr/>
        </p:nvSpPr>
        <p:spPr bwMode="auto">
          <a:xfrm>
            <a:off x="6027738" y="2071688"/>
            <a:ext cx="561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1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56" name="Text Box 84"/>
          <p:cNvSpPr txBox="1">
            <a:spLocks noChangeArrowheads="1"/>
          </p:cNvSpPr>
          <p:nvPr/>
        </p:nvSpPr>
        <p:spPr bwMode="auto">
          <a:xfrm>
            <a:off x="6027738" y="4419600"/>
            <a:ext cx="561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57" name="Line 85"/>
          <p:cNvSpPr>
            <a:spLocks noChangeShapeType="1"/>
          </p:cNvSpPr>
          <p:nvPr/>
        </p:nvSpPr>
        <p:spPr bwMode="auto">
          <a:xfrm flipV="1">
            <a:off x="5827713" y="2819400"/>
            <a:ext cx="0" cy="144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58" name="Group 86"/>
          <p:cNvGrpSpPr>
            <a:grpSpLocks/>
          </p:cNvGrpSpPr>
          <p:nvPr/>
        </p:nvGrpSpPr>
        <p:grpSpPr bwMode="auto">
          <a:xfrm>
            <a:off x="5446713" y="5638800"/>
            <a:ext cx="762000" cy="304800"/>
            <a:chOff x="1261" y="2969"/>
            <a:chExt cx="480" cy="192"/>
          </a:xfrm>
        </p:grpSpPr>
        <p:sp>
          <p:nvSpPr>
            <p:cNvPr id="90143" name="Line 87"/>
            <p:cNvSpPr>
              <a:spLocks noChangeShapeType="1"/>
            </p:cNvSpPr>
            <p:nvPr/>
          </p:nvSpPr>
          <p:spPr bwMode="auto">
            <a:xfrm>
              <a:off x="1261" y="2969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4" name="Line 88"/>
            <p:cNvSpPr>
              <a:spLocks noChangeShapeType="1"/>
            </p:cNvSpPr>
            <p:nvPr/>
          </p:nvSpPr>
          <p:spPr bwMode="auto">
            <a:xfrm>
              <a:off x="1357" y="306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45" name="Line 89"/>
            <p:cNvSpPr>
              <a:spLocks noChangeShapeType="1"/>
            </p:cNvSpPr>
            <p:nvPr/>
          </p:nvSpPr>
          <p:spPr bwMode="auto">
            <a:xfrm>
              <a:off x="1453" y="3161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62" name="Line 90"/>
          <p:cNvSpPr>
            <a:spLocks noChangeShapeType="1"/>
          </p:cNvSpPr>
          <p:nvPr/>
        </p:nvSpPr>
        <p:spPr bwMode="auto">
          <a:xfrm>
            <a:off x="5827713" y="52578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3" name="Line 91"/>
          <p:cNvSpPr>
            <a:spLocks noChangeShapeType="1"/>
          </p:cNvSpPr>
          <p:nvPr/>
        </p:nvSpPr>
        <p:spPr bwMode="auto">
          <a:xfrm flipV="1">
            <a:off x="7199313" y="10668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4" name="Line 92"/>
          <p:cNvSpPr>
            <a:spLocks noChangeShapeType="1"/>
          </p:cNvSpPr>
          <p:nvPr/>
        </p:nvSpPr>
        <p:spPr bwMode="auto">
          <a:xfrm flipH="1">
            <a:off x="5827713" y="1311275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5" name="Line 93"/>
          <p:cNvSpPr>
            <a:spLocks noChangeShapeType="1"/>
          </p:cNvSpPr>
          <p:nvPr/>
        </p:nvSpPr>
        <p:spPr bwMode="auto">
          <a:xfrm flipV="1">
            <a:off x="5827713" y="1311275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6" name="Oval 94"/>
          <p:cNvSpPr>
            <a:spLocks noChangeArrowheads="1"/>
          </p:cNvSpPr>
          <p:nvPr/>
        </p:nvSpPr>
        <p:spPr bwMode="auto">
          <a:xfrm>
            <a:off x="7123113" y="914400"/>
            <a:ext cx="152400" cy="152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0" name="Text Box 95"/>
          <p:cNvSpPr txBox="1">
            <a:spLocks noChangeArrowheads="1"/>
          </p:cNvSpPr>
          <p:nvPr/>
        </p:nvSpPr>
        <p:spPr bwMode="auto">
          <a:xfrm>
            <a:off x="822325" y="247650"/>
            <a:ext cx="4968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Voltage divider bias circuit</a:t>
            </a:r>
          </a:p>
        </p:txBody>
      </p:sp>
      <p:sp>
        <p:nvSpPr>
          <p:cNvPr id="3168" name="Text Box 96"/>
          <p:cNvSpPr txBox="1">
            <a:spLocks noChangeArrowheads="1"/>
          </p:cNvSpPr>
          <p:nvPr/>
        </p:nvSpPr>
        <p:spPr bwMode="auto">
          <a:xfrm>
            <a:off x="3733800" y="381000"/>
            <a:ext cx="2232025" cy="521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3600">
                <a:solidFill>
                  <a:srgbClr val="C0504D"/>
                </a:solidFill>
                <a:latin typeface="Times New Roman" panose="02020603050405020304" pitchFamily="18" charset="0"/>
              </a:rPr>
              <a:t>{</a:t>
            </a:r>
          </a:p>
        </p:txBody>
      </p:sp>
      <p:sp>
        <p:nvSpPr>
          <p:cNvPr id="3169" name="Text Box 97"/>
          <p:cNvSpPr txBox="1">
            <a:spLocks noChangeArrowheads="1"/>
          </p:cNvSpPr>
          <p:nvPr/>
        </p:nvSpPr>
        <p:spPr bwMode="auto">
          <a:xfrm>
            <a:off x="1708150" y="3048000"/>
            <a:ext cx="27114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and R</a:t>
            </a:r>
            <a:r>
              <a:rPr lang="en-US" altLang="en-US" sz="2800" b="1" baseline="-2500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 form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C0504D"/>
                </a:solidFill>
                <a:latin typeface="Times New Roman" panose="02020603050405020304" pitchFamily="18" charset="0"/>
              </a:rPr>
              <a:t>a voltage divider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0" grpId="0" autoUpdateAnimBg="0"/>
      <p:bldP spid="3101" grpId="0" autoUpdateAnimBg="0"/>
      <p:bldP spid="3102" grpId="0" autoUpdateAnimBg="0"/>
      <p:bldP spid="3111" grpId="0" animBg="1"/>
      <p:bldP spid="3112" grpId="0" animBg="1"/>
      <p:bldP spid="3113" grpId="0" animBg="1"/>
      <p:bldP spid="3114" grpId="0" animBg="1"/>
      <p:bldP spid="3115" grpId="0" animBg="1"/>
      <p:bldP spid="3116" grpId="0" animBg="1"/>
      <p:bldP spid="3117" grpId="0" animBg="1"/>
      <p:bldP spid="3118" grpId="0" animBg="1"/>
      <p:bldP spid="3123" grpId="0" animBg="1"/>
      <p:bldP spid="3155" grpId="0" autoUpdateAnimBg="0"/>
      <p:bldP spid="3156" grpId="0" autoUpdateAnimBg="0"/>
      <p:bldP spid="3157" grpId="0" animBg="1"/>
      <p:bldP spid="3162" grpId="0" animBg="1"/>
      <p:bldP spid="3163" grpId="0" animBg="1"/>
      <p:bldP spid="3164" grpId="0" animBg="1"/>
      <p:bldP spid="3165" grpId="0" animBg="1"/>
      <p:bldP spid="3166" grpId="0" animBg="1"/>
      <p:bldP spid="3168" grpId="0" autoUpdateAnimBg="0"/>
      <p:bldP spid="316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52" name="Text Box 66"/>
          <p:cNvSpPr txBox="1">
            <a:spLocks noChangeArrowheads="1"/>
          </p:cNvSpPr>
          <p:nvPr/>
        </p:nvSpPr>
        <p:spPr bwMode="auto">
          <a:xfrm>
            <a:off x="946150" y="457200"/>
            <a:ext cx="3473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Divider analysis:</a:t>
            </a:r>
          </a:p>
        </p:txBody>
      </p:sp>
      <p:sp>
        <p:nvSpPr>
          <p:cNvPr id="4163" name="Text Box 67"/>
          <p:cNvSpPr txBox="1">
            <a:spLocks noChangeArrowheads="1"/>
          </p:cNvSpPr>
          <p:nvPr/>
        </p:nvSpPr>
        <p:spPr bwMode="auto">
          <a:xfrm>
            <a:off x="1066800" y="1143000"/>
            <a:ext cx="21980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 err="1">
                <a:solidFill>
                  <a:srgbClr val="C0504D"/>
                </a:solidFill>
                <a:latin typeface="Times New Roman" panose="02020603050405020304" pitchFamily="18" charset="0"/>
              </a:rPr>
              <a:t>th</a:t>
            </a: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= 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|| 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 dirty="0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4" name="Text Box 68"/>
          <p:cNvSpPr txBox="1">
            <a:spLocks noChangeArrowheads="1"/>
          </p:cNvSpPr>
          <p:nvPr/>
        </p:nvSpPr>
        <p:spPr bwMode="auto">
          <a:xfrm>
            <a:off x="2619912" y="1791050"/>
            <a:ext cx="561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 dirty="0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5" name="Text Box 69"/>
          <p:cNvSpPr txBox="1">
            <a:spLocks noChangeArrowheads="1"/>
          </p:cNvSpPr>
          <p:nvPr/>
        </p:nvSpPr>
        <p:spPr bwMode="auto">
          <a:xfrm>
            <a:off x="2315112" y="2362752"/>
            <a:ext cx="132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+ R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2</a:t>
            </a:r>
            <a:endParaRPr lang="en-US" altLang="en-US" sz="2800" b="1" dirty="0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66" name="Line 70"/>
          <p:cNvSpPr>
            <a:spLocks noChangeShapeType="1"/>
          </p:cNvSpPr>
          <p:nvPr/>
        </p:nvSpPr>
        <p:spPr bwMode="auto">
          <a:xfrm>
            <a:off x="2315112" y="2331002"/>
            <a:ext cx="1295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67" name="Text Box 71"/>
          <p:cNvSpPr txBox="1">
            <a:spLocks noChangeArrowheads="1"/>
          </p:cNvSpPr>
          <p:nvPr/>
        </p:nvSpPr>
        <p:spPr bwMode="auto">
          <a:xfrm>
            <a:off x="3810000" y="2071445"/>
            <a:ext cx="790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CC</a:t>
            </a:r>
            <a:endParaRPr lang="en-US" altLang="en-US" sz="2800" b="1" dirty="0">
              <a:solidFill>
                <a:srgbClr val="C0504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Text Box 67"/>
          <p:cNvSpPr txBox="1">
            <a:spLocks noChangeArrowheads="1"/>
          </p:cNvSpPr>
          <p:nvPr/>
        </p:nvSpPr>
        <p:spPr bwMode="auto">
          <a:xfrm>
            <a:off x="1066798" y="1905000"/>
            <a:ext cx="9316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2800" b="1" baseline="-25000" dirty="0">
                <a:solidFill>
                  <a:srgbClr val="C0504D"/>
                </a:solidFill>
                <a:latin typeface="Times New Roman" panose="02020603050405020304" pitchFamily="18" charset="0"/>
              </a:rPr>
              <a:t>th</a:t>
            </a:r>
            <a:r>
              <a:rPr lang="en-US" altLang="en-US" sz="2800" b="1" dirty="0">
                <a:solidFill>
                  <a:srgbClr val="C0504D"/>
                </a:solidFill>
                <a:latin typeface="Times New Roman" panose="02020603050405020304" pitchFamily="18" charset="0"/>
              </a:rPr>
              <a:t> =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435735"/>
            <a:ext cx="2638425" cy="4610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87" y="3048000"/>
            <a:ext cx="2524125" cy="37143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892" y="5257800"/>
            <a:ext cx="2657475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3" grpId="0" autoUpdateAnimBg="0"/>
      <p:bldP spid="4164" grpId="0" autoUpdateAnimBg="0"/>
      <p:bldP spid="4165" grpId="0" autoUpdateAnimBg="0"/>
      <p:bldP spid="4166" grpId="0" animBg="1"/>
      <p:bldP spid="4167" grpId="0" autoUpdateAnimBg="0"/>
      <p:bldP spid="4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1"/>
            <a:ext cx="3581400" cy="160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10200" cy="4953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5" r="7771" b="17428"/>
          <a:stretch/>
        </p:blipFill>
        <p:spPr>
          <a:xfrm>
            <a:off x="5638800" y="0"/>
            <a:ext cx="3505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36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57" name="Text Box 65"/>
          <p:cNvSpPr txBox="1">
            <a:spLocks noChangeArrowheads="1"/>
          </p:cNvSpPr>
          <p:nvPr/>
        </p:nvSpPr>
        <p:spPr bwMode="auto">
          <a:xfrm>
            <a:off x="824642" y="42863"/>
            <a:ext cx="610955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4.6 Collector-feedback bias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066799"/>
            <a:ext cx="2571750" cy="3781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097923"/>
            <a:ext cx="3438525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52474" y="4780486"/>
                <a:ext cx="7248525" cy="1239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eaLnBrk="1" hangingPunct="1"/>
                <a:r>
                  <a:rPr lang="en-US" altLang="en-US" sz="2400" b="1" dirty="0">
                    <a:cs typeface="Arial" panose="020B0604020202020204" pitchFamily="34" charset="0"/>
                  </a:rPr>
                  <a:t>Our text calls it </a:t>
                </a:r>
                <a:r>
                  <a:rPr lang="en-US" altLang="en-US" sz="2400" b="1" dirty="0">
                    <a:solidFill>
                      <a:srgbClr val="00B0F0"/>
                    </a:solidFill>
                    <a:cs typeface="Arial" panose="020B0604020202020204" pitchFamily="34" charset="0"/>
                  </a:rPr>
                  <a:t>DC Bias With Voltage Feedback</a:t>
                </a:r>
              </a:p>
              <a:p>
                <a:pPr algn="ctr" eaLnBrk="1" hangingPunct="1"/>
                <a:r>
                  <a:rPr lang="en-US" altLang="en-US" sz="2400" dirty="0">
                    <a:solidFill>
                      <a:srgbClr val="00B0F0"/>
                    </a:solidFill>
                    <a:cs typeface="Arial" panose="020B0604020202020204" pitchFamily="34" charset="0"/>
                  </a:rPr>
                  <a:t>Current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 altLang="en-US" sz="2400" b="0" i="1" smtClean="0">
                        <a:solidFill>
                          <a:srgbClr val="00B0F0"/>
                        </a:solidFill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𝐶</m:t>
                            </m:r>
                          </m:sub>
                        </m:sSub>
                      </m:sub>
                    </m:sSub>
                    <m:r>
                      <a:rPr lang="en-US" altLang="en-US" sz="2400" b="0" i="1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en-US" sz="2400" b="0" i="1" smtClean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sSup>
                          <m:sSupPr>
                            <m:ctrlP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altLang="en-US" sz="2400" b="0" i="1" smtClean="0">
                                <a:solidFill>
                                  <a:srgbClr val="00B0F0"/>
                                </a:solidFill>
                                <a:latin typeface="Cambria Math"/>
                                <a:ea typeface="Cambria Math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US" altLang="en-US" sz="2400" dirty="0">
                  <a:solidFill>
                    <a:srgbClr val="00B0F0"/>
                  </a:solidFill>
                  <a:cs typeface="Arial" panose="020B0604020202020204" pitchFamily="34" charset="0"/>
                </a:endParaRPr>
              </a:p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/>
                              <a:ea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sSup>
                            <m:sSupPr>
                              <m:ctrlPr>
                                <a:rPr lang="en-US" altLang="en-US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400" i="1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Arial" panose="020B0604020202020204" pitchFamily="34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en-US" sz="2400" i="1">
                                  <a:solidFill>
                                    <a:srgbClr val="00B0F0"/>
                                  </a:solidFill>
                                  <a:latin typeface="Cambria Math"/>
                                  <a:ea typeface="Cambria Math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altLang="en-US" sz="2400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solidFill>
                                <a:srgbClr val="00B0F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𝐶</m:t>
                          </m:r>
                        </m:sub>
                      </m:sSub>
                      <m:r>
                        <a:rPr lang="en-US" altLang="en-US" sz="2400" b="0" i="1" smtClean="0">
                          <a:solidFill>
                            <a:srgbClr val="00B0F0"/>
                          </a:solidFill>
                          <a:latin typeface="Cambria Math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400" b="0" i="1" smtClean="0">
                              <a:solidFill>
                                <a:srgbClr val="00B0F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400" b="0" i="1" smtClean="0">
                              <a:solidFill>
                                <a:srgbClr val="00B0F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altLang="en-US" sz="2400" dirty="0">
                  <a:solidFill>
                    <a:srgbClr val="00B0F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74" y="4780486"/>
                <a:ext cx="7248525" cy="1239314"/>
              </a:xfrm>
              <a:prstGeom prst="rect">
                <a:avLst/>
              </a:prstGeom>
              <a:blipFill rotWithShape="1">
                <a:blip r:embed="rId4"/>
                <a:stretch>
                  <a:fillRect t="-3431" b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33401"/>
            <a:ext cx="5410200" cy="3429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124200"/>
            <a:ext cx="33718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34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4.7 </a:t>
            </a:r>
            <a:r>
              <a:rPr lang="en-US" altLang="en-US" b="1" dirty="0">
                <a:solidFill>
                  <a:srgbClr val="C00000"/>
                </a:solidFill>
              </a:rPr>
              <a:t>EMITTER-FOLLOWER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86313"/>
            <a:ext cx="82296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The output is taken off the emitter terminal</a:t>
            </a:r>
          </a:p>
          <a:p>
            <a:pPr eaLnBrk="1" hangingPunct="1"/>
            <a:r>
              <a:rPr lang="en-US" altLang="en-US" dirty="0"/>
              <a:t>Also called Common Collector configuration</a:t>
            </a:r>
          </a:p>
        </p:txBody>
      </p:sp>
      <p:pic>
        <p:nvPicPr>
          <p:cNvPr id="12186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9942" y="1447800"/>
            <a:ext cx="3586915" cy="328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</a:t>
            </a:r>
            <a:r>
              <a:rPr lang="en-US" altLang="en-US" b="1">
                <a:solidFill>
                  <a:srgbClr val="C00000"/>
                </a:solidFill>
              </a:rPr>
              <a:t>EMITTER-FOLLOWER DC ANALYSIS</a:t>
            </a:r>
          </a:p>
        </p:txBody>
      </p:sp>
      <p:pic>
        <p:nvPicPr>
          <p:cNvPr id="122883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1524000"/>
            <a:ext cx="3529013" cy="494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4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460500"/>
            <a:ext cx="3849688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5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152650"/>
            <a:ext cx="18684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6" name="Picture 8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775" y="2773363"/>
            <a:ext cx="2894013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7" name="Picture 9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550" y="4619625"/>
            <a:ext cx="2922588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8" name="Picture 10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5" y="5334000"/>
            <a:ext cx="2500313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913" y="350838"/>
            <a:ext cx="6505575" cy="495300"/>
          </a:xfrm>
        </p:spPr>
      </p:pic>
      <p:pic>
        <p:nvPicPr>
          <p:cNvPr id="12390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5575" y="904875"/>
            <a:ext cx="4271162" cy="304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4083050"/>
            <a:ext cx="404971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5" y="4721225"/>
            <a:ext cx="3278188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itle 1"/>
          <p:cNvSpPr>
            <a:spLocks noGrp="1"/>
          </p:cNvSpPr>
          <p:nvPr>
            <p:ph type="title"/>
          </p:nvPr>
        </p:nvSpPr>
        <p:spPr>
          <a:xfrm>
            <a:off x="228600" y="369888"/>
            <a:ext cx="8458200" cy="792162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</a:rPr>
              <a:t>  4.8 </a:t>
            </a:r>
            <a:r>
              <a:rPr lang="en-US" altLang="en-US" sz="4000" b="1" dirty="0">
                <a:solidFill>
                  <a:srgbClr val="C00000"/>
                </a:solidFill>
              </a:rPr>
              <a:t>COMMON-BASE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71950"/>
            <a:ext cx="8229600" cy="2438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The input signal is applied at the emitter terminal </a:t>
            </a:r>
          </a:p>
          <a:p>
            <a:pPr eaLnBrk="1" hangingPunct="1"/>
            <a:r>
              <a:rPr lang="en-US" altLang="en-US" sz="2800" dirty="0"/>
              <a:t>The base is at ground potential. </a:t>
            </a:r>
          </a:p>
          <a:p>
            <a:pPr eaLnBrk="1" hangingPunct="1"/>
            <a:r>
              <a:rPr lang="en-US" altLang="en-US" sz="2800" dirty="0"/>
              <a:t>The output signal is applied at the collector terminal </a:t>
            </a:r>
          </a:p>
        </p:txBody>
      </p:sp>
      <p:pic>
        <p:nvPicPr>
          <p:cNvPr id="124932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62050"/>
            <a:ext cx="7010400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/>
          <p:cNvSpPr>
            <a:spLocks noGrp="1"/>
          </p:cNvSpPr>
          <p:nvPr>
            <p:ph type="title"/>
          </p:nvPr>
        </p:nvSpPr>
        <p:spPr>
          <a:xfrm>
            <a:off x="457200" y="36988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</a:rPr>
              <a:t>  </a:t>
            </a:r>
            <a:r>
              <a:rPr lang="en-US" altLang="en-US" sz="4000" b="1" dirty="0">
                <a:solidFill>
                  <a:srgbClr val="C00000"/>
                </a:solidFill>
              </a:rPr>
              <a:t>COMMON-BASE CONFIGURATION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725" y="1373188"/>
            <a:ext cx="2606675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063875"/>
            <a:ext cx="4098925" cy="174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957" name="Content Placeholder 7" descr="Screen Clipping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981200"/>
            <a:ext cx="4311650" cy="3254375"/>
          </a:xfr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021263"/>
            <a:ext cx="2514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56075"/>
            <a:ext cx="3254375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979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4582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980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70000"/>
            <a:ext cx="565626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3581400"/>
            <a:ext cx="448468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5410200"/>
            <a:ext cx="3308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/>
          <p:cNvSpPr>
            <a:spLocks noGrp="1"/>
          </p:cNvSpPr>
          <p:nvPr>
            <p:ph type="title"/>
          </p:nvPr>
        </p:nvSpPr>
        <p:spPr>
          <a:xfrm>
            <a:off x="457200" y="36988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</a:rPr>
              <a:t>  </a:t>
            </a:r>
            <a:r>
              <a:rPr lang="en-US" altLang="en-US" sz="4000" b="1" dirty="0">
                <a:solidFill>
                  <a:srgbClr val="C00000"/>
                </a:solidFill>
              </a:rPr>
              <a:t>Which Bias is better?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8534400" cy="5181600"/>
              </a:xfrm>
            </p:spPr>
            <p:txBody>
              <a:bodyPr/>
              <a:lstStyle/>
              <a:p>
                <a:r>
                  <a:rPr lang="en-US" sz="2400" dirty="0"/>
                  <a:t>Base/Fixed bias simple but not stable with temp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𝑚𝑖𝑛𝑜𝑟𝑖𝑡𝑦</m:t>
                            </m:r>
                          </m:sub>
                        </m:sSub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sz="2400" dirty="0"/>
                  <a:t> and Q-point moves</a:t>
                </a:r>
              </a:p>
              <a:p>
                <a:r>
                  <a:rPr lang="en-US" sz="2400" dirty="0"/>
                  <a:t>Emitter bias better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 dirty="0"/>
                  <a:t> (KVL for o/p)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𝑚𝑖𝑛𝑜𝑟𝑖𝑡𝑦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 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sz="2400" dirty="0"/>
                  <a:t>; temperature effect neutralized</a:t>
                </a:r>
              </a:p>
              <a:p>
                <a:r>
                  <a:rPr lang="en-US" sz="2400" dirty="0"/>
                  <a:t>Current gain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changes with BJT. Better if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independent</a:t>
                </a:r>
              </a:p>
              <a:p>
                <a:r>
                  <a:rPr lang="en-US" sz="2400" dirty="0"/>
                  <a:t>Emitter bias KVL for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/p: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𝐷𝐷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+1)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𝐷𝐷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independent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VDB/Self bias better as two base resistors are used in parallel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&amp;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	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8534400" cy="5181600"/>
              </a:xfrm>
              <a:blipFill rotWithShape="0">
                <a:blip r:embed="rId2"/>
                <a:stretch>
                  <a:fillRect l="-929" t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592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3709</TotalTime>
  <Words>695</Words>
  <Application>Microsoft Office PowerPoint</Application>
  <PresentationFormat>On-screen Show (4:3)</PresentationFormat>
  <Paragraphs>247</Paragraphs>
  <Slides>34</Slides>
  <Notes>0</Notes>
  <HiddenSlides>5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Calibri</vt:lpstr>
      <vt:lpstr>Cambria Math</vt:lpstr>
      <vt:lpstr>Symbol</vt:lpstr>
      <vt:lpstr>Times New Roman</vt:lpstr>
      <vt:lpstr>ppt_template_blue</vt:lpstr>
      <vt:lpstr>Office Theme</vt:lpstr>
      <vt:lpstr>1_Office Theme</vt:lpstr>
      <vt:lpstr>2_Office Theme</vt:lpstr>
      <vt:lpstr>Equation</vt:lpstr>
      <vt:lpstr>DC Biasing – BJTs</vt:lpstr>
      <vt:lpstr>PowerPoint Presentation</vt:lpstr>
      <vt:lpstr>PowerPoint Presentation</vt:lpstr>
      <vt:lpstr>PowerPoint Presentation</vt:lpstr>
      <vt:lpstr>Regions of operation</vt:lpstr>
      <vt:lpstr>PowerPoint Presentation</vt:lpstr>
      <vt:lpstr>4.3 Base-Bias or Fixed-Bias</vt:lpstr>
      <vt:lpstr>PowerPoint Presentation</vt:lpstr>
      <vt:lpstr>PowerPoint Presentation</vt:lpstr>
      <vt:lpstr>Load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BJT DC biasing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4.7 EMITTER-FOLLOWER CONFIGURATION</vt:lpstr>
      <vt:lpstr> EMITTER-FOLLOWER DC ANALYSIS</vt:lpstr>
      <vt:lpstr>PowerPoint Presentation</vt:lpstr>
      <vt:lpstr>  4.8 COMMON-BASE CONFIGURATION</vt:lpstr>
      <vt:lpstr>  COMMON-BASE CONFIGURATION</vt:lpstr>
      <vt:lpstr>PowerPoint Presentation</vt:lpstr>
      <vt:lpstr>  Which Bias is better?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Microsoft account</cp:lastModifiedBy>
  <cp:revision>208</cp:revision>
  <dcterms:created xsi:type="dcterms:W3CDTF">2011-07-14T15:53:54Z</dcterms:created>
  <dcterms:modified xsi:type="dcterms:W3CDTF">2026-03-07T09:16:48Z</dcterms:modified>
</cp:coreProperties>
</file>