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20" r:id="rId2"/>
    <p:sldMasterId id="2147485033" r:id="rId3"/>
  </p:sldMasterIdLst>
  <p:notesMasterIdLst>
    <p:notesMasterId r:id="rId36"/>
  </p:notesMasterIdLst>
  <p:sldIdLst>
    <p:sldId id="471" r:id="rId4"/>
    <p:sldId id="434" r:id="rId5"/>
    <p:sldId id="350" r:id="rId6"/>
    <p:sldId id="351" r:id="rId7"/>
    <p:sldId id="352" r:id="rId8"/>
    <p:sldId id="354" r:id="rId9"/>
    <p:sldId id="376" r:id="rId10"/>
    <p:sldId id="377" r:id="rId11"/>
    <p:sldId id="356" r:id="rId12"/>
    <p:sldId id="383" r:id="rId13"/>
    <p:sldId id="388" r:id="rId14"/>
    <p:sldId id="416" r:id="rId15"/>
    <p:sldId id="389" r:id="rId16"/>
    <p:sldId id="417" r:id="rId17"/>
    <p:sldId id="418" r:id="rId18"/>
    <p:sldId id="390" r:id="rId19"/>
    <p:sldId id="391" r:id="rId20"/>
    <p:sldId id="473" r:id="rId21"/>
    <p:sldId id="423" r:id="rId22"/>
    <p:sldId id="392" r:id="rId23"/>
    <p:sldId id="440" r:id="rId24"/>
    <p:sldId id="441" r:id="rId25"/>
    <p:sldId id="463" r:id="rId26"/>
    <p:sldId id="478" r:id="rId27"/>
    <p:sldId id="474" r:id="rId28"/>
    <p:sldId id="442" r:id="rId29"/>
    <p:sldId id="443" r:id="rId30"/>
    <p:sldId id="465" r:id="rId31"/>
    <p:sldId id="475" r:id="rId32"/>
    <p:sldId id="476" r:id="rId33"/>
    <p:sldId id="477" r:id="rId34"/>
    <p:sldId id="402" r:id="rId35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AEE"/>
    <a:srgbClr val="E5F99D"/>
    <a:srgbClr val="0080AA"/>
    <a:srgbClr val="006DA4"/>
    <a:srgbClr val="9494DC"/>
    <a:srgbClr val="8181D5"/>
    <a:srgbClr val="FF00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64F17-3B06-4DDD-9CFF-9AC01F40196C}" v="1" dt="2025-03-23T03:40:03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89" autoAdjust="0"/>
    <p:restoredTop sz="94660"/>
  </p:normalViewPr>
  <p:slideViewPr>
    <p:cSldViewPr>
      <p:cViewPr varScale="1">
        <p:scale>
          <a:sx n="74" d="100"/>
          <a:sy n="74" d="100"/>
        </p:scale>
        <p:origin x="74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3AB64F17-3B06-4DDD-9CFF-9AC01F40196C}"/>
    <pc:docChg chg="custSel addSld delSld modSld modMainMaster modNotesMaster">
      <pc:chgData name="Riasat Khan" userId="826ac62dfbb52e43" providerId="LiveId" clId="{3AB64F17-3B06-4DDD-9CFF-9AC01F40196C}" dt="2025-03-23T04:25:00.875" v="7" actId="47"/>
      <pc:docMkLst>
        <pc:docMk/>
      </pc:docMkLst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50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0"/>
            <ac:spMk id="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0"/>
            <ac:spMk id="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0"/>
            <ac:spMk id="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0"/>
            <ac:spMk id="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0"/>
            <ac:spMk id="82948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350"/>
            <ac:picMk id="82946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51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1"/>
            <ac:spMk id="3584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1"/>
            <ac:spMk id="83970" creationId="{00000000-0000-0000-0000-000000000000}"/>
          </ac:spMkLst>
        </pc:spChg>
      </pc:sldChg>
      <pc:sldChg chg="modSp modNotes">
        <pc:chgData name="Riasat Khan" userId="826ac62dfbb52e43" providerId="LiveId" clId="{3AB64F17-3B06-4DDD-9CFF-9AC01F40196C}" dt="2025-03-23T03:40:03.153" v="1"/>
        <pc:sldMkLst>
          <pc:docMk/>
          <pc:sldMk cId="0" sldId="352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416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00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04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04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04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09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09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10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10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2"/>
            <ac:spMk id="85114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54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5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5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6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6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6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6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8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8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4"/>
            <ac:spMk id="87096" creationId="{00000000-0000-0000-0000-000000000000}"/>
          </ac:spMkLst>
        </pc:spChg>
      </pc:sldChg>
      <pc:sldChg chg="modSp modNotes">
        <pc:chgData name="Riasat Khan" userId="826ac62dfbb52e43" providerId="LiveId" clId="{3AB64F17-3B06-4DDD-9CFF-9AC01F40196C}" dt="2025-03-23T03:40:03.153" v="1"/>
        <pc:sldMkLst>
          <pc:docMk/>
          <pc:sldMk cId="0" sldId="356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30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32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38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39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116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121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122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124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125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56"/>
            <ac:spMk id="91281" creationId="{00000000-0000-0000-0000-000000000000}"/>
          </ac:spMkLst>
        </pc:spChg>
      </pc:sldChg>
      <pc:sldChg chg="modSp modNotes">
        <pc:chgData name="Riasat Khan" userId="826ac62dfbb52e43" providerId="LiveId" clId="{3AB64F17-3B06-4DDD-9CFF-9AC01F40196C}" dt="2025-03-23T03:40:03.153" v="1"/>
        <pc:sldMkLst>
          <pc:docMk/>
          <pc:sldMk cId="0" sldId="376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320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08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09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09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09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10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10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12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12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6"/>
            <ac:spMk id="88129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77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7"/>
            <ac:spMk id="3686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77"/>
            <ac:spMk id="90114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83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1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1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1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1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1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2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2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2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1332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3"/>
            <ac:spMk id="98314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88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8"/>
            <ac:spMk id="1741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8"/>
            <ac:spMk id="1741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8"/>
            <ac:spMk id="1741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8"/>
            <ac:spMk id="1741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8"/>
            <ac:spMk id="1741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8"/>
            <ac:spMk id="1741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8"/>
            <ac:spMk id="103430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89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9"/>
            <ac:spMk id="4096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89"/>
            <ac:spMk id="107522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90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849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66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67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69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69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69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69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70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70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0"/>
            <ac:spMk id="113705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91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69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69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69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69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70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70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71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71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71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1"/>
            <ac:spMk id="114720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392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2"/>
            <ac:spMk id="2048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392"/>
            <ac:spMk id="20483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02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3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4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4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5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5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5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6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6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7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02"/>
            <ac:spMk id="146480" creationId="{00000000-0000-0000-0000-000000000000}"/>
          </ac:spMkLst>
        </pc:spChg>
      </pc:sldChg>
      <pc:sldChg chg="modSp mod">
        <pc:chgData name="Riasat Khan" userId="826ac62dfbb52e43" providerId="LiveId" clId="{3AB64F17-3B06-4DDD-9CFF-9AC01F40196C}" dt="2025-03-23T03:40:03.263" v="2" actId="27636"/>
        <pc:sldMkLst>
          <pc:docMk/>
          <pc:sldMk cId="0" sldId="416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6"/>
            <ac:spMk id="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6"/>
            <ac:spMk id="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6"/>
            <ac:spMk id="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263" v="2" actId="27636"/>
          <ac:spMkLst>
            <pc:docMk/>
            <pc:sldMk cId="0" sldId="416"/>
            <ac:spMk id="106498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16"/>
            <ac:picMk id="4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16"/>
            <ac:picMk id="5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16"/>
            <ac:picMk id="8" creationId="{00000000-0000-0000-0000-000000000000}"/>
          </ac:picMkLst>
        </pc:picChg>
      </pc:sldChg>
      <pc:sldChg chg="modSp mod">
        <pc:chgData name="Riasat Khan" userId="826ac62dfbb52e43" providerId="LiveId" clId="{3AB64F17-3B06-4DDD-9CFF-9AC01F40196C}" dt="2025-03-23T03:40:03.272" v="3" actId="27636"/>
        <pc:sldMkLst>
          <pc:docMk/>
          <pc:sldMk cId="0" sldId="417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7"/>
            <ac:spMk id="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7"/>
            <ac:spMk id="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7"/>
            <ac:spMk id="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272" v="3" actId="27636"/>
          <ac:spMkLst>
            <pc:docMk/>
            <pc:sldMk cId="0" sldId="417"/>
            <ac:spMk id="111618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17"/>
            <ac:picMk id="4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17"/>
            <ac:picMk id="5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17"/>
            <ac:picMk id="7" creationId="{00000000-0000-0000-0000-000000000000}"/>
          </ac:picMkLst>
        </pc:picChg>
      </pc:sldChg>
      <pc:sldChg chg="modSp mod">
        <pc:chgData name="Riasat Khan" userId="826ac62dfbb52e43" providerId="LiveId" clId="{3AB64F17-3B06-4DDD-9CFF-9AC01F40196C}" dt="2025-03-23T03:40:03.275" v="4" actId="27636"/>
        <pc:sldMkLst>
          <pc:docMk/>
          <pc:sldMk cId="0" sldId="418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8"/>
            <ac:spMk id="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8"/>
            <ac:spMk id="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8"/>
            <ac:spMk id="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18"/>
            <ac:spMk id="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275" v="4" actId="27636"/>
          <ac:spMkLst>
            <pc:docMk/>
            <pc:sldMk cId="0" sldId="418"/>
            <ac:spMk id="112644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18"/>
            <ac:picMk id="5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18"/>
            <ac:picMk id="112642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23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23"/>
            <ac:spMk id="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23"/>
            <ac:spMk id="117762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23"/>
            <ac:picMk id="117763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34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34"/>
            <ac:spMk id="3" creationId="{00000000-0000-0000-0000-000000000000}"/>
          </ac:spMkLst>
        </pc:sp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40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0"/>
            <ac:spMk id="12595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0"/>
            <ac:spMk id="12595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0"/>
            <ac:spMk id="125960" creationId="{00000000-0000-0000-0000-000000000000}"/>
          </ac:spMkLst>
        </pc:spChg>
        <pc:grpChg chg="mod">
          <ac:chgData name="Riasat Khan" userId="826ac62dfbb52e43" providerId="LiveId" clId="{3AB64F17-3B06-4DDD-9CFF-9AC01F40196C}" dt="2025-03-23T03:40:03.153" v="1"/>
          <ac:grpSpMkLst>
            <pc:docMk/>
            <pc:sldMk cId="0" sldId="440"/>
            <ac:grpSpMk id="125955" creationId="{00000000-0000-0000-0000-000000000000}"/>
          </ac:grpSpMkLst>
        </pc:grpChg>
        <pc:grpChg chg="mod">
          <ac:chgData name="Riasat Khan" userId="826ac62dfbb52e43" providerId="LiveId" clId="{3AB64F17-3B06-4DDD-9CFF-9AC01F40196C}" dt="2025-03-23T03:40:03.153" v="1"/>
          <ac:grpSpMkLst>
            <pc:docMk/>
            <pc:sldMk cId="0" sldId="440"/>
            <ac:grpSpMk id="125957" creationId="{00000000-0000-0000-0000-000000000000}"/>
          </ac:grpSpMkLst>
        </pc:gr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40"/>
            <ac:picMk id="125956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40"/>
            <ac:picMk id="125959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40"/>
            <ac:picMk id="125961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41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7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8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8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8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8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9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9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9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1"/>
            <ac:spMk id="126998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41"/>
            <ac:picMk id="126989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42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2"/>
            <ac:spMk id="13414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2"/>
            <ac:spMk id="134147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42"/>
            <ac:picMk id="134148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42"/>
            <ac:picMk id="134149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43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7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8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8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8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8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8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91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9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43"/>
            <ac:spMk id="135195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43"/>
            <ac:picMk id="135176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63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0" sldId="463"/>
            <ac:spMk id="2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63"/>
            <ac:picMk id="130050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63"/>
            <ac:picMk id="130051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0" sldId="465"/>
        </pc:sldMkLst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65"/>
            <ac:picMk id="6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65"/>
            <ac:picMk id="136194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0" sldId="465"/>
            <ac:picMk id="136195" creationId="{00000000-0000-0000-0000-000000000000}"/>
          </ac:picMkLst>
        </pc:picChg>
      </pc:sldChg>
      <pc:sldChg chg="modSp mod">
        <pc:chgData name="Riasat Khan" userId="826ac62dfbb52e43" providerId="LiveId" clId="{3AB64F17-3B06-4DDD-9CFF-9AC01F40196C}" dt="2025-03-23T03:40:03.278" v="5" actId="27636"/>
        <pc:sldMkLst>
          <pc:docMk/>
          <pc:sldMk cId="574010102" sldId="473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574010102" sldId="473"/>
            <ac:spMk id="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574010102" sldId="473"/>
            <ac:spMk id="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574010102" sldId="473"/>
            <ac:spMk id="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574010102" sldId="473"/>
            <ac:spMk id="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574010102" sldId="473"/>
            <ac:spMk id="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278" v="5" actId="27636"/>
          <ac:spMkLst>
            <pc:docMk/>
            <pc:sldMk cId="574010102" sldId="473"/>
            <ac:spMk id="115716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574010102" sldId="473"/>
            <ac:picMk id="3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574010102" sldId="473"/>
            <ac:picMk id="9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2608298698" sldId="474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2608298698" sldId="474"/>
            <ac:spMk id="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2608298698" sldId="474"/>
            <ac:spMk id="3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2608298698" sldId="474"/>
            <ac:spMk id="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2608298698" sldId="474"/>
            <ac:spMk id="10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2608298698" sldId="474"/>
            <ac:picMk id="6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2608298698" sldId="474"/>
            <ac:picMk id="8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2608298698" sldId="474"/>
            <ac:picMk id="130050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965718992" sldId="475"/>
        </pc:sldMkLst>
        <pc:picChg chg="mod">
          <ac:chgData name="Riasat Khan" userId="826ac62dfbb52e43" providerId="LiveId" clId="{3AB64F17-3B06-4DDD-9CFF-9AC01F40196C}" dt="2025-03-23T03:40:03.153" v="1"/>
          <ac:picMkLst>
            <pc:docMk/>
            <pc:sldMk cId="965718992" sldId="475"/>
            <ac:picMk id="7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965718992" sldId="475"/>
            <ac:picMk id="8" creationId="{00000000-0000-0000-0000-000000000000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965718992" sldId="475"/>
            <ac:picMk id="136194" creationId="{00000000-0000-0000-0000-000000000000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653968222" sldId="476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653968222" sldId="476"/>
            <ac:spMk id="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k cId="653968222" sldId="476"/>
            <ac:spMk id="82948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653968222" sldId="476"/>
            <ac:picMk id="6" creationId="{38F23EC2-1CFB-4705-A4D9-62EC8B008468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653968222" sldId="476"/>
            <ac:picMk id="9" creationId="{F918523A-54BF-4283-8C4F-5894084CC882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1112770976" sldId="477"/>
        </pc:sldMkLst>
        <pc:spChg chg="mod">
          <ac:chgData name="Riasat Khan" userId="826ac62dfbb52e43" providerId="LiveId" clId="{3AB64F17-3B06-4DDD-9CFF-9AC01F40196C}" dt="2025-03-23T03:40:03.153" v="1"/>
          <ac:spMkLst>
            <pc:docMk/>
            <pc:sldMk cId="1112770976" sldId="477"/>
            <ac:spMk id="82948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1112770976" sldId="477"/>
            <ac:picMk id="3" creationId="{7A81A640-345D-4B91-BCAA-E22FE21FF9B6}"/>
          </ac:picMkLst>
        </pc:picChg>
        <pc:picChg chg="mod">
          <ac:chgData name="Riasat Khan" userId="826ac62dfbb52e43" providerId="LiveId" clId="{3AB64F17-3B06-4DDD-9CFF-9AC01F40196C}" dt="2025-03-23T03:40:03.153" v="1"/>
          <ac:picMkLst>
            <pc:docMk/>
            <pc:sldMk cId="1112770976" sldId="477"/>
            <ac:picMk id="9" creationId="{F918523A-54BF-4283-8C4F-5894084CC882}"/>
          </ac:picMkLst>
        </pc:picChg>
      </pc:sldChg>
      <pc:sldChg chg="modSp">
        <pc:chgData name="Riasat Khan" userId="826ac62dfbb52e43" providerId="LiveId" clId="{3AB64F17-3B06-4DDD-9CFF-9AC01F40196C}" dt="2025-03-23T03:40:03.153" v="1"/>
        <pc:sldMkLst>
          <pc:docMk/>
          <pc:sldMk cId="3417601548" sldId="478"/>
        </pc:sldMkLst>
        <pc:picChg chg="mod">
          <ac:chgData name="Riasat Khan" userId="826ac62dfbb52e43" providerId="LiveId" clId="{3AB64F17-3B06-4DDD-9CFF-9AC01F40196C}" dt="2025-03-23T03:40:03.153" v="1"/>
          <ac:picMkLst>
            <pc:docMk/>
            <pc:sldMk cId="3417601548" sldId="478"/>
            <ac:picMk id="130051" creationId="{00000000-0000-0000-0000-000000000000}"/>
          </ac:picMkLst>
        </pc:picChg>
      </pc:sldChg>
      <pc:sldChg chg="del">
        <pc:chgData name="Riasat Khan" userId="826ac62dfbb52e43" providerId="LiveId" clId="{3AB64F17-3B06-4DDD-9CFF-9AC01F40196C}" dt="2025-03-23T04:25:00.875" v="7" actId="47"/>
        <pc:sldMkLst>
          <pc:docMk/>
          <pc:sldMk cId="1802556007" sldId="479"/>
        </pc:sldMkLst>
      </pc:sldChg>
      <pc:sldChg chg="new del">
        <pc:chgData name="Riasat Khan" userId="826ac62dfbb52e43" providerId="LiveId" clId="{3AB64F17-3B06-4DDD-9CFF-9AC01F40196C}" dt="2025-03-23T04:24:58.972" v="6" actId="47"/>
        <pc:sldMkLst>
          <pc:docMk/>
          <pc:sldMk cId="258661332" sldId="480"/>
        </pc:sldMkLst>
      </pc:sldChg>
      <pc:sldMasterChg chg="modSp modSldLayout">
        <pc:chgData name="Riasat Khan" userId="826ac62dfbb52e43" providerId="LiveId" clId="{3AB64F17-3B06-4DDD-9CFF-9AC01F40196C}" dt="2025-03-23T03:40:03.153" v="1"/>
        <pc:sldMasterMkLst>
          <pc:docMk/>
          <pc:sldMasterMk cId="0" sldId="2147483648"/>
        </pc:sldMasterMkLst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648"/>
            <ac:spMk id="1027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648"/>
            <ac:spMk id="1028" creationId="{00000000-0000-0000-0000-000000000000}"/>
          </ac:spMkLst>
        </pc:spChg>
        <pc:picChg chg="mod">
          <ac:chgData name="Riasat Khan" userId="826ac62dfbb52e43" providerId="LiveId" clId="{3AB64F17-3B06-4DDD-9CFF-9AC01F40196C}" dt="2025-03-23T03:40:03.153" v="1"/>
          <ac:picMkLst>
            <pc:docMk/>
            <pc:sldMasterMk cId="0" sldId="2147483648"/>
            <ac:picMk id="1026" creationId="{00000000-0000-0000-0000-000000000000}"/>
          </ac:picMkLst>
        </pc:pic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648"/>
            <pc:sldLayoutMk cId="586183752" sldId="2147484968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586183752" sldId="2147484968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586183752" sldId="2147484968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648"/>
            <pc:sldLayoutMk cId="253076549" sldId="2147484969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253076549" sldId="2147484969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253076549" sldId="2147484969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648"/>
            <pc:sldLayoutMk cId="368943512" sldId="2147484970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368943512" sldId="2147484970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368943512" sldId="2147484970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368943512" sldId="2147484970"/>
              <ac:spMk id="4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368943512" sldId="2147484970"/>
              <ac:spMk id="5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368943512" sldId="2147484970"/>
              <ac:spMk id="6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648"/>
            <pc:sldLayoutMk cId="2435417684" sldId="2147484973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2435417684" sldId="2147484973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2435417684" sldId="2147484973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2435417684" sldId="2147484973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648"/>
            <pc:sldLayoutMk cId="1608581406" sldId="2147484974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1608581406" sldId="2147484974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1608581406" sldId="2147484974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1608581406" sldId="2147484974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648"/>
            <pc:sldLayoutMk cId="2767465474" sldId="2147484976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2767465474" sldId="2147484976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2767465474" sldId="2147484976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648"/>
            <pc:sldLayoutMk cId="3519599801" sldId="2147484977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3519599801" sldId="2147484977"/>
              <ac:spMk id="3074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648"/>
              <pc:sldLayoutMk cId="3519599801" sldId="2147484977"/>
              <ac:spMk id="3075" creationId="{00000000-0000-0000-0000-000000000000}"/>
            </ac:spMkLst>
          </pc:spChg>
        </pc:sldLayoutChg>
      </pc:sldMasterChg>
      <pc:sldMasterChg chg="modSp modSldLayout">
        <pc:chgData name="Riasat Khan" userId="826ac62dfbb52e43" providerId="LiveId" clId="{3AB64F17-3B06-4DDD-9CFF-9AC01F40196C}" dt="2025-03-23T03:40:03.153" v="1"/>
        <pc:sldMasterMkLst>
          <pc:docMk/>
          <pc:sldMasterMk cId="0" sldId="2147483820"/>
        </pc:sldMasterMkLst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20"/>
            <ac:spMk id="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20"/>
            <ac:spMk id="5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20"/>
            <ac:spMk id="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20"/>
            <ac:spMk id="205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20"/>
            <ac:spMk id="2051" creationId="{00000000-0000-0000-0000-000000000000}"/>
          </ac:spMkLst>
        </pc:sp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20"/>
            <pc:sldLayoutMk cId="20275646" sldId="2147484978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20275646" sldId="2147484978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20275646" sldId="2147484978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20"/>
            <pc:sldLayoutMk cId="2242286691" sldId="2147484980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2242286691" sldId="2147484980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2242286691" sldId="2147484980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20"/>
            <pc:sldLayoutMk cId="3466927339" sldId="2147484981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3466927339" sldId="2147484981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3466927339" sldId="2147484981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20"/>
            <pc:sldLayoutMk cId="4097447738" sldId="2147484982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4097447738" sldId="2147484982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4097447738" sldId="2147484982"/>
              <ac:spMk id="4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4097447738" sldId="2147484982"/>
              <ac:spMk id="5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4097447738" sldId="2147484982"/>
              <ac:spMk id="6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20"/>
            <pc:sldLayoutMk cId="1264699417" sldId="2147484985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1264699417" sldId="2147484985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1264699417" sldId="2147484985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1264699417" sldId="2147484985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20"/>
            <pc:sldLayoutMk cId="3111966661" sldId="2147484986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3111966661" sldId="2147484986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3111966661" sldId="2147484986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3111966661" sldId="2147484986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20"/>
            <pc:sldLayoutMk cId="2465413947" sldId="2147484988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2465413947" sldId="2147484988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20"/>
              <pc:sldLayoutMk cId="2465413947" sldId="2147484988"/>
              <ac:spMk id="3" creationId="{00000000-0000-0000-0000-000000000000}"/>
            </ac:spMkLst>
          </pc:spChg>
        </pc:sldLayoutChg>
      </pc:sldMasterChg>
      <pc:sldMasterChg chg="modSp modSldLayout">
        <pc:chgData name="Riasat Khan" userId="826ac62dfbb52e43" providerId="LiveId" clId="{3AB64F17-3B06-4DDD-9CFF-9AC01F40196C}" dt="2025-03-23T03:40:03.153" v="1"/>
        <pc:sldMasterMkLst>
          <pc:docMk/>
          <pc:sldMasterMk cId="0" sldId="2147483832"/>
        </pc:sldMasterMkLst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32"/>
            <ac:spMk id="102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32"/>
            <ac:spMk id="102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32"/>
            <ac:spMk id="103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32"/>
            <ac:spMk id="3074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32"/>
            <ac:spMk id="3075" creationId="{00000000-0000-0000-0000-000000000000}"/>
          </ac:spMkLst>
        </pc:sp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32"/>
            <pc:sldLayoutMk cId="610781290" sldId="2147484989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610781290" sldId="2147484989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610781290" sldId="2147484989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32"/>
            <pc:sldLayoutMk cId="3365160513" sldId="2147484991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365160513" sldId="2147484991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365160513" sldId="2147484991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32"/>
            <pc:sldLayoutMk cId="3113894325" sldId="2147484992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113894325" sldId="2147484992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113894325" sldId="2147484992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32"/>
            <pc:sldLayoutMk cId="2296203611" sldId="2147484993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2296203611" sldId="2147484993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2296203611" sldId="2147484993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2296203611" sldId="2147484993"/>
              <ac:spMk id="4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2296203611" sldId="2147484993"/>
              <ac:spMk id="5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2296203611" sldId="2147484993"/>
              <ac:spMk id="6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32"/>
            <pc:sldLayoutMk cId="3295420530" sldId="2147484996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295420530" sldId="2147484996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295420530" sldId="2147484996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295420530" sldId="2147484996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32"/>
            <pc:sldLayoutMk cId="3200161669" sldId="2147484997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200161669" sldId="2147484997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200161669" sldId="2147484997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3200161669" sldId="2147484997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32"/>
            <pc:sldLayoutMk cId="1973741580" sldId="2147484999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1973741580" sldId="2147484999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32"/>
              <pc:sldLayoutMk cId="1973741580" sldId="2147484999"/>
              <ac:spMk id="3" creationId="{00000000-0000-0000-0000-000000000000}"/>
            </ac:spMkLst>
          </pc:spChg>
        </pc:sldLayoutChg>
      </pc:sldMasterChg>
      <pc:sldMasterChg chg="modSp modSldLayout">
        <pc:chgData name="Riasat Khan" userId="826ac62dfbb52e43" providerId="LiveId" clId="{3AB64F17-3B06-4DDD-9CFF-9AC01F40196C}" dt="2025-03-23T03:40:03.153" v="1"/>
        <pc:sldMasterMkLst>
          <pc:docMk/>
          <pc:sldMasterMk cId="0" sldId="2147483844"/>
        </pc:sldMasterMkLst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44"/>
            <ac:spMk id="102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44"/>
            <ac:spMk id="102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44"/>
            <ac:spMk id="103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44"/>
            <ac:spMk id="409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44"/>
            <ac:spMk id="4099" creationId="{00000000-0000-0000-0000-000000000000}"/>
          </ac:spMkLst>
        </pc:sp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44"/>
            <pc:sldLayoutMk cId="1478802664" sldId="2147485000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1478802664" sldId="2147485000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1478802664" sldId="2147485000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44"/>
            <pc:sldLayoutMk cId="975460601" sldId="2147485002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975460601" sldId="2147485002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975460601" sldId="2147485002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44"/>
            <pc:sldLayoutMk cId="2528272240" sldId="2147485003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2528272240" sldId="2147485003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2528272240" sldId="2147485003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44"/>
            <pc:sldLayoutMk cId="364689544" sldId="2147485004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364689544" sldId="2147485004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364689544" sldId="2147485004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364689544" sldId="2147485004"/>
              <ac:spMk id="4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364689544" sldId="2147485004"/>
              <ac:spMk id="5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364689544" sldId="2147485004"/>
              <ac:spMk id="6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44"/>
            <pc:sldLayoutMk cId="3786202737" sldId="2147485007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3786202737" sldId="2147485007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3786202737" sldId="2147485007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3786202737" sldId="2147485007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44"/>
            <pc:sldLayoutMk cId="2594293958" sldId="2147485008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2594293958" sldId="2147485008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2594293958" sldId="2147485008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2594293958" sldId="2147485008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44"/>
            <pc:sldLayoutMk cId="1034869769" sldId="2147485010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1034869769" sldId="2147485010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44"/>
              <pc:sldLayoutMk cId="1034869769" sldId="2147485010"/>
              <ac:spMk id="3" creationId="{00000000-0000-0000-0000-000000000000}"/>
            </ac:spMkLst>
          </pc:spChg>
        </pc:sldLayoutChg>
      </pc:sldMasterChg>
      <pc:sldMasterChg chg="modSp modSldLayout">
        <pc:chgData name="Riasat Khan" userId="826ac62dfbb52e43" providerId="LiveId" clId="{3AB64F17-3B06-4DDD-9CFF-9AC01F40196C}" dt="2025-03-23T03:40:03.153" v="1"/>
        <pc:sldMasterMkLst>
          <pc:docMk/>
          <pc:sldMasterMk cId="0" sldId="2147483856"/>
        </pc:sldMasterMkLst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56"/>
            <ac:spMk id="102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56"/>
            <ac:spMk id="102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56"/>
            <ac:spMk id="103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56"/>
            <ac:spMk id="5122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56"/>
            <ac:spMk id="5123" creationId="{00000000-0000-0000-0000-000000000000}"/>
          </ac:spMkLst>
        </pc:sp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56"/>
            <pc:sldLayoutMk cId="777014183" sldId="2147485011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777014183" sldId="2147485011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777014183" sldId="2147485011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56"/>
            <pc:sldLayoutMk cId="2289384395" sldId="2147485013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2289384395" sldId="2147485013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2289384395" sldId="2147485013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56"/>
            <pc:sldLayoutMk cId="2272687285" sldId="2147485014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2272687285" sldId="2147485014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2272687285" sldId="2147485014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56"/>
            <pc:sldLayoutMk cId="1221451476" sldId="2147485015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1221451476" sldId="2147485015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1221451476" sldId="2147485015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1221451476" sldId="2147485015"/>
              <ac:spMk id="4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1221451476" sldId="2147485015"/>
              <ac:spMk id="5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1221451476" sldId="2147485015"/>
              <ac:spMk id="6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56"/>
            <pc:sldLayoutMk cId="4093016673" sldId="2147485018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4093016673" sldId="2147485018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4093016673" sldId="2147485018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4093016673" sldId="2147485018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56"/>
            <pc:sldLayoutMk cId="1825321485" sldId="2147485019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1825321485" sldId="2147485019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1825321485" sldId="2147485019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1825321485" sldId="2147485019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56"/>
            <pc:sldLayoutMk cId="4236167474" sldId="2147485021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4236167474" sldId="2147485021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56"/>
              <pc:sldLayoutMk cId="4236167474" sldId="2147485021"/>
              <ac:spMk id="3" creationId="{00000000-0000-0000-0000-000000000000}"/>
            </ac:spMkLst>
          </pc:spChg>
        </pc:sldLayoutChg>
      </pc:sldMasterChg>
      <pc:sldMasterChg chg="modSp modSldLayout">
        <pc:chgData name="Riasat Khan" userId="826ac62dfbb52e43" providerId="LiveId" clId="{3AB64F17-3B06-4DDD-9CFF-9AC01F40196C}" dt="2025-03-23T03:40:03.153" v="1"/>
        <pc:sldMasterMkLst>
          <pc:docMk/>
          <pc:sldMasterMk cId="0" sldId="2147483868"/>
        </pc:sldMasterMkLst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68"/>
            <ac:spMk id="1028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68"/>
            <ac:spMk id="1029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68"/>
            <ac:spMk id="1030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68"/>
            <ac:spMk id="6146" creationId="{00000000-0000-0000-0000-000000000000}"/>
          </ac:spMkLst>
        </pc:spChg>
        <pc:spChg chg="mod">
          <ac:chgData name="Riasat Khan" userId="826ac62dfbb52e43" providerId="LiveId" clId="{3AB64F17-3B06-4DDD-9CFF-9AC01F40196C}" dt="2025-03-23T03:40:03.153" v="1"/>
          <ac:spMkLst>
            <pc:docMk/>
            <pc:sldMasterMk cId="0" sldId="2147483868"/>
            <ac:spMk id="6147" creationId="{00000000-0000-0000-0000-000000000000}"/>
          </ac:spMkLst>
        </pc:sp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68"/>
            <pc:sldLayoutMk cId="1591621167" sldId="2147485022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1591621167" sldId="2147485022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1591621167" sldId="2147485022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68"/>
            <pc:sldLayoutMk cId="2988119479" sldId="2147485024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2988119479" sldId="2147485024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2988119479" sldId="2147485024"/>
              <ac:spMk id="3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68"/>
            <pc:sldLayoutMk cId="3894221615" sldId="2147485025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894221615" sldId="2147485025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894221615" sldId="2147485025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68"/>
            <pc:sldLayoutMk cId="3065808838" sldId="2147485026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065808838" sldId="2147485026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065808838" sldId="2147485026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065808838" sldId="2147485026"/>
              <ac:spMk id="4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065808838" sldId="2147485026"/>
              <ac:spMk id="5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065808838" sldId="2147485026"/>
              <ac:spMk id="6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68"/>
            <pc:sldLayoutMk cId="4215985530" sldId="2147485029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4215985530" sldId="2147485029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4215985530" sldId="2147485029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4215985530" sldId="2147485029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68"/>
            <pc:sldLayoutMk cId="3638019547" sldId="2147485030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638019547" sldId="2147485030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638019547" sldId="2147485030"/>
              <ac:spMk id="3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3638019547" sldId="2147485030"/>
              <ac:spMk id="4" creationId="{00000000-0000-0000-0000-000000000000}"/>
            </ac:spMkLst>
          </pc:spChg>
        </pc:sldLayoutChg>
        <pc:sldLayoutChg chg="modSp">
          <pc:chgData name="Riasat Khan" userId="826ac62dfbb52e43" providerId="LiveId" clId="{3AB64F17-3B06-4DDD-9CFF-9AC01F40196C}" dt="2025-03-23T03:40:03.153" v="1"/>
          <pc:sldLayoutMkLst>
            <pc:docMk/>
            <pc:sldMasterMk cId="0" sldId="2147483868"/>
            <pc:sldLayoutMk cId="2890760989" sldId="2147485032"/>
          </pc:sldLayoutMkLst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2890760989" sldId="2147485032"/>
              <ac:spMk id="2" creationId="{00000000-0000-0000-0000-000000000000}"/>
            </ac:spMkLst>
          </pc:spChg>
          <pc:spChg chg="mod">
            <ac:chgData name="Riasat Khan" userId="826ac62dfbb52e43" providerId="LiveId" clId="{3AB64F17-3B06-4DDD-9CFF-9AC01F40196C}" dt="2025-03-23T03:40:03.153" v="1"/>
            <ac:spMkLst>
              <pc:docMk/>
              <pc:sldMasterMk cId="0" sldId="2147483868"/>
              <pc:sldLayoutMk cId="2890760989" sldId="2147485032"/>
              <ac:spMk id="3" creationId="{00000000-0000-0000-0000-000000000000}"/>
            </ac:spMkLst>
          </pc:spChg>
        </pc:sldLayoutChg>
      </pc:sldMasterChg>
    </pc:docChg>
  </pc:docChgLst>
  <pc:docChgLst>
    <pc:chgData name="Riasat Khan" userId="826ac62dfbb52e43" providerId="LiveId" clId="{24D6A1D0-A197-41BC-94A3-45D3F2A31F8B}"/>
    <pc:docChg chg="undo custSel addSld delSld modSld">
      <pc:chgData name="Riasat Khan" userId="826ac62dfbb52e43" providerId="LiveId" clId="{24D6A1D0-A197-41BC-94A3-45D3F2A31F8B}" dt="2020-12-28T03:51:51.834" v="253" actId="1076"/>
      <pc:docMkLst>
        <pc:docMk/>
      </pc:docMkLst>
      <pc:sldChg chg="addSp delSp modSp add mod modAnim">
        <pc:chgData name="Riasat Khan" userId="826ac62dfbb52e43" providerId="LiveId" clId="{24D6A1D0-A197-41BC-94A3-45D3F2A31F8B}" dt="2020-12-28T03:50:44.526" v="242" actId="20577"/>
        <pc:sldMkLst>
          <pc:docMk/>
          <pc:sldMk cId="653968222" sldId="476"/>
        </pc:sldMkLst>
      </pc:sldChg>
      <pc:sldChg chg="new del">
        <pc:chgData name="Riasat Khan" userId="826ac62dfbb52e43" providerId="LiveId" clId="{24D6A1D0-A197-41BC-94A3-45D3F2A31F8B}" dt="2020-12-28T03:41:43.824" v="5" actId="47"/>
        <pc:sldMkLst>
          <pc:docMk/>
          <pc:sldMk cId="1118187932" sldId="476"/>
        </pc:sldMkLst>
      </pc:sldChg>
      <pc:sldChg chg="delSp add del">
        <pc:chgData name="Riasat Khan" userId="826ac62dfbb52e43" providerId="LiveId" clId="{24D6A1D0-A197-41BC-94A3-45D3F2A31F8B}" dt="2020-12-28T03:39:44.509" v="3" actId="47"/>
        <pc:sldMkLst>
          <pc:docMk/>
          <pc:sldMk cId="3373127930" sldId="476"/>
        </pc:sldMkLst>
      </pc:sldChg>
      <pc:sldChg chg="addSp delSp modSp add mod modAnim">
        <pc:chgData name="Riasat Khan" userId="826ac62dfbb52e43" providerId="LiveId" clId="{24D6A1D0-A197-41BC-94A3-45D3F2A31F8B}" dt="2020-12-28T03:51:51.834" v="253" actId="1076"/>
        <pc:sldMkLst>
          <pc:docMk/>
          <pc:sldMk cId="1112770976" sldId="477"/>
        </pc:sldMkLst>
      </pc:sldChg>
    </pc:docChg>
  </pc:docChgLst>
  <pc:docChgLst>
    <pc:chgData name="Riasat Khan" userId="826ac62dfbb52e43" providerId="Windows Live" clId="Web-{AEA469A8-CA2E-4C60-95F4-DA2FBB748AAC}"/>
    <pc:docChg chg="addSld">
      <pc:chgData name="Riasat Khan" userId="826ac62dfbb52e43" providerId="Windows Live" clId="Web-{AEA469A8-CA2E-4C60-95F4-DA2FBB748AAC}" dt="2021-11-28T04:14:35.329" v="2"/>
      <pc:docMkLst>
        <pc:docMk/>
      </pc:docMkLst>
      <pc:sldChg chg="new">
        <pc:chgData name="Riasat Khan" userId="826ac62dfbb52e43" providerId="Windows Live" clId="Web-{AEA469A8-CA2E-4C60-95F4-DA2FBB748AAC}" dt="2021-11-28T04:14:31.142" v="0"/>
        <pc:sldMkLst>
          <pc:docMk/>
          <pc:sldMk cId="4208639593" sldId="478"/>
        </pc:sldMkLst>
      </pc:sldChg>
      <pc:sldChg chg="new">
        <pc:chgData name="Riasat Khan" userId="826ac62dfbb52e43" providerId="Windows Live" clId="Web-{AEA469A8-CA2E-4C60-95F4-DA2FBB748AAC}" dt="2021-11-28T04:14:33.142" v="1"/>
        <pc:sldMkLst>
          <pc:docMk/>
          <pc:sldMk cId="3871356" sldId="479"/>
        </pc:sldMkLst>
      </pc:sldChg>
      <pc:sldChg chg="new">
        <pc:chgData name="Riasat Khan" userId="826ac62dfbb52e43" providerId="Windows Live" clId="Web-{AEA469A8-CA2E-4C60-95F4-DA2FBB748AAC}" dt="2021-11-28T04:14:35.329" v="2"/>
        <pc:sldMkLst>
          <pc:docMk/>
          <pc:sldMk cId="2881486471" sldId="480"/>
        </pc:sldMkLst>
      </pc:sldChg>
    </pc:docChg>
  </pc:docChgLst>
  <pc:docChgLst>
    <pc:chgData name="Riasat Khan" userId="826ac62dfbb52e43" providerId="LiveId" clId="{0FD643C0-C62B-4598-866A-64156922B39A}"/>
    <pc:docChg chg="modSld">
      <pc:chgData name="Riasat Khan" userId="826ac62dfbb52e43" providerId="LiveId" clId="{0FD643C0-C62B-4598-866A-64156922B39A}" dt="2021-08-15T17:16:16.377" v="2" actId="20577"/>
      <pc:docMkLst>
        <pc:docMk/>
      </pc:docMkLst>
      <pc:sldChg chg="modSp mod">
        <pc:chgData name="Riasat Khan" userId="826ac62dfbb52e43" providerId="LiveId" clId="{0FD643C0-C62B-4598-866A-64156922B39A}" dt="2021-08-15T17:16:16.377" v="2" actId="20577"/>
        <pc:sldMkLst>
          <pc:docMk/>
          <pc:sldMk cId="574010102" sldId="473"/>
        </pc:sldMkLst>
      </pc:sldChg>
    </pc:docChg>
  </pc:docChgLst>
  <pc:docChgLst>
    <pc:chgData name="Riasat Khan" userId="826ac62dfbb52e43" providerId="LiveId" clId="{AAF12DCE-49A0-404D-ADA0-BB8F8BD69A6C}"/>
    <pc:docChg chg="undo custSel addSld delSld modSld sldOrd">
      <pc:chgData name="Riasat Khan" userId="826ac62dfbb52e43" providerId="LiveId" clId="{AAF12DCE-49A0-404D-ADA0-BB8F8BD69A6C}" dt="2024-04-24T03:27:39.779" v="23" actId="680"/>
      <pc:docMkLst>
        <pc:docMk/>
      </pc:docMkLst>
      <pc:sldChg chg="addSp delSp modSp add del mod ord">
        <pc:chgData name="Riasat Khan" userId="826ac62dfbb52e43" providerId="LiveId" clId="{AAF12DCE-49A0-404D-ADA0-BB8F8BD69A6C}" dt="2024-04-24T03:27:13.555" v="15" actId="47"/>
        <pc:sldMkLst>
          <pc:docMk/>
          <pc:sldMk cId="2537634067" sldId="478"/>
        </pc:sldMkLst>
      </pc:sldChg>
      <pc:sldChg chg="delSp modSp add mod">
        <pc:chgData name="Riasat Khan" userId="826ac62dfbb52e43" providerId="LiveId" clId="{AAF12DCE-49A0-404D-ADA0-BB8F8BD69A6C}" dt="2024-04-24T03:27:31.095" v="20" actId="1076"/>
        <pc:sldMkLst>
          <pc:docMk/>
          <pc:sldMk cId="3417601548" sldId="478"/>
        </pc:sldMkLst>
      </pc:sldChg>
      <pc:sldChg chg="del">
        <pc:chgData name="Riasat Khan" userId="826ac62dfbb52e43" providerId="LiveId" clId="{AAF12DCE-49A0-404D-ADA0-BB8F8BD69A6C}" dt="2024-04-24T03:22:17.005" v="0" actId="47"/>
        <pc:sldMkLst>
          <pc:docMk/>
          <pc:sldMk cId="4208639593" sldId="478"/>
        </pc:sldMkLst>
      </pc:sldChg>
      <pc:sldChg chg="del">
        <pc:chgData name="Riasat Khan" userId="826ac62dfbb52e43" providerId="LiveId" clId="{AAF12DCE-49A0-404D-ADA0-BB8F8BD69A6C}" dt="2024-04-24T03:22:17.005" v="0" actId="47"/>
        <pc:sldMkLst>
          <pc:docMk/>
          <pc:sldMk cId="3871356" sldId="479"/>
        </pc:sldMkLst>
      </pc:sldChg>
      <pc:sldChg chg="new">
        <pc:chgData name="Riasat Khan" userId="826ac62dfbb52e43" providerId="LiveId" clId="{AAF12DCE-49A0-404D-ADA0-BB8F8BD69A6C}" dt="2024-04-24T03:27:39.779" v="23" actId="680"/>
        <pc:sldMkLst>
          <pc:docMk/>
          <pc:sldMk cId="1802556007" sldId="479"/>
        </pc:sldMkLst>
      </pc:sldChg>
      <pc:sldChg chg="add del">
        <pc:chgData name="Riasat Khan" userId="826ac62dfbb52e43" providerId="LiveId" clId="{AAF12DCE-49A0-404D-ADA0-BB8F8BD69A6C}" dt="2024-04-24T03:27:36.600" v="22" actId="47"/>
        <pc:sldMkLst>
          <pc:docMk/>
          <pc:sldMk cId="3128403026" sldId="479"/>
        </pc:sldMkLst>
      </pc:sldChg>
      <pc:sldChg chg="del">
        <pc:chgData name="Riasat Khan" userId="826ac62dfbb52e43" providerId="LiveId" clId="{AAF12DCE-49A0-404D-ADA0-BB8F8BD69A6C}" dt="2024-04-24T03:22:17.005" v="0" actId="47"/>
        <pc:sldMkLst>
          <pc:docMk/>
          <pc:sldMk cId="2881486471" sldId="480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0349FD9F-C966-4F5B-805A-43A5EB7C417B}" type="datetimeFigureOut">
              <a:rPr lang="en-US"/>
              <a:pPr>
                <a:defRPr/>
              </a:pPr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9986F53C-1FAD-4D69-B762-1CC90DF3ED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56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75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1766D-126D-4218-9EAE-FC1D3E4F6CF8}" type="slidenum">
              <a:rPr lang="en-US" altLang="en-US" smtClean="0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26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75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3435FC-814C-4698-89EB-0D91A90BE016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204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75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4577B4-4BE5-42F9-8908-D1E5E620DBA6}" type="slidenum">
              <a:rPr lang="en-US" altLang="en-US" smtClean="0">
                <a:solidFill>
                  <a:srgbClr val="000000"/>
                </a:solidFill>
              </a:rPr>
              <a:pPr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23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1959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208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618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79526"/>
            <a:ext cx="53848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79526"/>
            <a:ext cx="53848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07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943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026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39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5417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858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62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7465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C4394B5-AC04-4BBE-A9B0-4F89BE2FDE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5AB1EB7-B65D-4CDD-813A-2270EBA9D8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14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4DF06D-83DE-47A0-B957-1DFAAF6BB8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86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8A89F2D-770B-4628-A700-F8E2749861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27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A13EAB8-72EA-43E3-9EBF-99D083D77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47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9CEF8C-0C04-46C0-8263-07FB055926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25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3EDFDDD-816D-4DDE-B504-6F3A3343F4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64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341474F-486E-49EE-B825-2C42F2AB46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994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792BDF5-F717-44C5-8970-CD3A65078A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666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C337F2B-3689-4EEE-B9E7-38157A2F94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740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9114AB3-F6C4-4CD6-8277-4CF58E44FC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139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CCEA5-2414-413E-B846-A0D31A82CC2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5078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41DCCA-F11B-4179-961F-1863597DA8C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5895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967D1-AEBB-491E-ADFE-AA0C6679339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58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DB70B9-E28F-4160-B084-B49ABA11CB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225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DE9CB-E6E4-4E89-A0B9-6BAD9504B92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0901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60046B-DCBC-49E8-8745-285116296E3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6500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C7C9F6-4263-4B15-91F2-09CFC8C7593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8197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D618C-9454-47B9-A4A3-09B12378B2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3103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43FC18-FE03-4BB0-ACE3-2648250C3CC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3567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7D52D-50CE-427E-8050-73C09154E55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94496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FE845C-0AE7-4A2D-B056-3308EA1A612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6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4"/>
            <a:ext cx="12192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9"/>
            <a:ext cx="109728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79526"/>
            <a:ext cx="109728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7" r:id="rId1"/>
    <p:sldLayoutId id="2147484967" r:id="rId2"/>
    <p:sldLayoutId id="2147484968" r:id="rId3"/>
    <p:sldLayoutId id="2147484969" r:id="rId4"/>
    <p:sldLayoutId id="2147484970" r:id="rId5"/>
    <p:sldLayoutId id="2147484971" r:id="rId6"/>
    <p:sldLayoutId id="2147484972" r:id="rId7"/>
    <p:sldLayoutId id="2147484973" r:id="rId8"/>
    <p:sldLayoutId id="2147484974" r:id="rId9"/>
    <p:sldLayoutId id="2147484975" r:id="rId10"/>
    <p:sldLayoutId id="2147484976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0D0F32D3-8F7E-41A9-982A-446DDA766A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8" r:id="rId1"/>
    <p:sldLayoutId id="2147484979" r:id="rId2"/>
    <p:sldLayoutId id="2147484980" r:id="rId3"/>
    <p:sldLayoutId id="2147484981" r:id="rId4"/>
    <p:sldLayoutId id="2147484982" r:id="rId5"/>
    <p:sldLayoutId id="2147484983" r:id="rId6"/>
    <p:sldLayoutId id="2147484984" r:id="rId7"/>
    <p:sldLayoutId id="2147484985" r:id="rId8"/>
    <p:sldLayoutId id="2147484986" r:id="rId9"/>
    <p:sldLayoutId id="2147484987" r:id="rId10"/>
    <p:sldLayoutId id="214748498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4" r:id="rId1"/>
    <p:sldLayoutId id="2147485035" r:id="rId2"/>
    <p:sldLayoutId id="2147485036" r:id="rId3"/>
    <p:sldLayoutId id="2147485037" r:id="rId4"/>
    <p:sldLayoutId id="2147485038" r:id="rId5"/>
    <p:sldLayoutId id="2147485039" r:id="rId6"/>
    <p:sldLayoutId id="2147485040" r:id="rId7"/>
    <p:sldLayoutId id="2147485041" r:id="rId8"/>
    <p:sldLayoutId id="2147485042" r:id="rId9"/>
    <p:sldLayoutId id="2147485043" r:id="rId10"/>
    <p:sldLayoutId id="214748504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8.JP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1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3.wmf"/><Relationship Id="rId11" Type="http://schemas.openxmlformats.org/officeDocument/2006/relationships/image" Target="../media/image41.jpe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3.wmf"/><Relationship Id="rId11" Type="http://schemas.openxmlformats.org/officeDocument/2006/relationships/image" Target="../media/image56.jpe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BJT AC Analysis</a:t>
            </a:r>
            <a:endParaRPr lang="en-US" dirty="0"/>
          </a:p>
        </p:txBody>
      </p:sp>
      <p:sp>
        <p:nvSpPr>
          <p:cNvPr id="77827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Topic 5 (Chapter 5)</a:t>
            </a: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5.2 AC Amplification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4949825"/>
          </a:xfrm>
        </p:spPr>
        <p:txBody>
          <a:bodyPr/>
          <a:lstStyle/>
          <a:p>
            <a:r>
              <a:rPr lang="en-US" altLang="en-US" sz="2400" dirty="0"/>
              <a:t>After a transistor has been biased with the Q</a:t>
            </a:r>
            <a:r>
              <a:rPr lang="en-US" altLang="en-US" sz="2400" i="1" dirty="0"/>
              <a:t> </a:t>
            </a:r>
            <a:r>
              <a:rPr lang="en-US" altLang="en-US" sz="2400" dirty="0"/>
              <a:t>point near the middle of the load line, we can couple a small ac voltage into the base </a:t>
            </a:r>
            <a:r>
              <a:rPr lang="en-US" altLang="en-US" sz="2400" dirty="0">
                <a:solidFill>
                  <a:srgbClr val="FF0000"/>
                </a:solidFill>
              </a:rPr>
              <a:t>(input)</a:t>
            </a:r>
            <a:r>
              <a:rPr lang="en-US" altLang="en-US" sz="2400" dirty="0"/>
              <a:t>. </a:t>
            </a:r>
          </a:p>
          <a:p>
            <a:pPr lvl="1"/>
            <a:r>
              <a:rPr lang="en-US" altLang="en-US" sz="2400" dirty="0"/>
              <a:t>This will produce an ac collector voltage </a:t>
            </a:r>
            <a:r>
              <a:rPr lang="en-US" altLang="en-US" sz="2400" dirty="0">
                <a:solidFill>
                  <a:srgbClr val="FF0000"/>
                </a:solidFill>
              </a:rPr>
              <a:t>(output)</a:t>
            </a:r>
            <a:r>
              <a:rPr lang="en-US" altLang="en-US" sz="2400" dirty="0"/>
              <a:t>. </a:t>
            </a:r>
          </a:p>
          <a:p>
            <a:pPr lvl="1"/>
            <a:r>
              <a:rPr lang="en-US" altLang="en-US" sz="2400" dirty="0"/>
              <a:t>The ac collector voltage looks like the ac base voltage, except that it's a lot bigger. </a:t>
            </a:r>
          </a:p>
          <a:p>
            <a:pPr lvl="2"/>
            <a:r>
              <a:rPr lang="en-US" altLang="en-US" sz="2000" dirty="0"/>
              <a:t>In other words, the ac collector voltage is an </a:t>
            </a:r>
            <a:r>
              <a:rPr lang="en-US" altLang="en-US" sz="2000" i="1" dirty="0"/>
              <a:t>amplified </a:t>
            </a:r>
            <a:r>
              <a:rPr lang="en-US" altLang="en-US" sz="2000" dirty="0"/>
              <a:t>version of the ac base voltage.</a:t>
            </a:r>
          </a:p>
          <a:p>
            <a:r>
              <a:rPr lang="en-US" altLang="en-US" sz="2400" dirty="0"/>
              <a:t>The invention of amplifying devices, first vacuum tubes and later transistors, was crucial to the evolution of electronics. </a:t>
            </a:r>
          </a:p>
          <a:p>
            <a:pPr lvl="1"/>
            <a:r>
              <a:rPr lang="en-US" altLang="en-US" sz="2400" dirty="0"/>
              <a:t>Without amplification, there would be no radio, no television, and no computers.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7" descr="se06F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3"/>
          <a:stretch>
            <a:fillRect/>
          </a:stretch>
        </p:blipFill>
        <p:spPr bwMode="auto">
          <a:xfrm>
            <a:off x="3657600" y="823913"/>
            <a:ext cx="6858000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981200" y="5762625"/>
            <a:ext cx="8382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800" b="1">
                <a:solidFill>
                  <a:srgbClr val="C00000"/>
                </a:solidFill>
              </a:rPr>
              <a:t>The amplitude of </a:t>
            </a:r>
            <a:r>
              <a:rPr lang="en-US" altLang="en-US" sz="2800" b="1" i="1">
                <a:solidFill>
                  <a:srgbClr val="C00000"/>
                </a:solidFill>
              </a:rPr>
              <a:t>v</a:t>
            </a:r>
            <a:r>
              <a:rPr lang="en-US" altLang="en-US" sz="2800" b="1" i="1" baseline="-25000">
                <a:solidFill>
                  <a:srgbClr val="C00000"/>
                </a:solidFill>
              </a:rPr>
              <a:t>ce</a:t>
            </a:r>
            <a:r>
              <a:rPr lang="en-US" altLang="en-US" sz="2800" b="1">
                <a:solidFill>
                  <a:srgbClr val="C00000"/>
                </a:solidFill>
              </a:rPr>
              <a:t> is larger than that of </a:t>
            </a:r>
            <a:r>
              <a:rPr lang="en-US" altLang="en-US" sz="2800" b="1" i="1">
                <a:solidFill>
                  <a:srgbClr val="C00000"/>
                </a:solidFill>
              </a:rPr>
              <a:t>v</a:t>
            </a:r>
            <a:r>
              <a:rPr lang="en-US" altLang="en-US" sz="2800" b="1" i="1" baseline="-25000">
                <a:solidFill>
                  <a:srgbClr val="C00000"/>
                </a:solidFill>
              </a:rPr>
              <a:t>be</a:t>
            </a:r>
            <a:r>
              <a:rPr lang="en-US" altLang="en-US" sz="2800" b="1">
                <a:solidFill>
                  <a:srgbClr val="C00000"/>
                </a:solidFill>
              </a:rPr>
              <a:t> by the voltage gain </a:t>
            </a:r>
            <a:r>
              <a:rPr lang="en-US" altLang="en-US" sz="2800" b="1" i="1">
                <a:solidFill>
                  <a:srgbClr val="C00000"/>
                </a:solidFill>
              </a:rPr>
              <a:t>A</a:t>
            </a:r>
            <a:r>
              <a:rPr lang="en-US" altLang="en-US" sz="2800" b="1" i="1" baseline="-25000">
                <a:solidFill>
                  <a:srgbClr val="C00000"/>
                </a:solidFill>
              </a:rPr>
              <a:t>v</a:t>
            </a:r>
            <a:endParaRPr lang="en-US" altLang="en-US" sz="2800" b="1">
              <a:solidFill>
                <a:srgbClr val="C00000"/>
              </a:solidFill>
            </a:endParaRPr>
          </a:p>
        </p:txBody>
      </p:sp>
      <p:sp>
        <p:nvSpPr>
          <p:cNvPr id="82948" name="Rectangle 5"/>
          <p:cNvSpPr>
            <a:spLocks noChangeArrowheads="1"/>
          </p:cNvSpPr>
          <p:nvPr/>
        </p:nvSpPr>
        <p:spPr bwMode="auto">
          <a:xfrm>
            <a:off x="1828800" y="177801"/>
            <a:ext cx="853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</a:rPr>
              <a:t>BJT amplifier biased at a point Q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643064" y="998539"/>
            <a:ext cx="3309937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solidFill>
                  <a:srgbClr val="C00000"/>
                </a:solidFill>
              </a:rPr>
              <a:t>A small signal voltage </a:t>
            </a:r>
            <a:r>
              <a:rPr lang="en-US" altLang="en-US" sz="2800" b="1" dirty="0" err="1">
                <a:solidFill>
                  <a:srgbClr val="C00000"/>
                </a:solidFill>
              </a:rPr>
              <a:t>v</a:t>
            </a:r>
            <a:r>
              <a:rPr lang="en-US" altLang="en-US" sz="2800" b="1" baseline="-25000" dirty="0" err="1">
                <a:solidFill>
                  <a:srgbClr val="C00000"/>
                </a:solidFill>
              </a:rPr>
              <a:t>be</a:t>
            </a:r>
            <a:r>
              <a:rPr lang="en-US" altLang="en-US" sz="2800" b="1" dirty="0">
                <a:solidFill>
                  <a:srgbClr val="C00000"/>
                </a:solidFill>
              </a:rPr>
              <a:t> is applied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solidFill>
                  <a:srgbClr val="C00000"/>
                </a:solidFill>
              </a:rPr>
              <a:t>The output signal </a:t>
            </a:r>
            <a:r>
              <a:rPr lang="en-US" altLang="en-US" sz="2800" b="1" i="1" dirty="0" err="1">
                <a:solidFill>
                  <a:srgbClr val="C00000"/>
                </a:solidFill>
              </a:rPr>
              <a:t>v</a:t>
            </a:r>
            <a:r>
              <a:rPr lang="en-US" altLang="en-US" sz="2800" b="1" i="1" baseline="-25000" dirty="0" err="1">
                <a:solidFill>
                  <a:srgbClr val="C00000"/>
                </a:solidFill>
              </a:rPr>
              <a:t>ce</a:t>
            </a:r>
            <a:r>
              <a:rPr lang="en-US" altLang="en-US" sz="2800" b="1" dirty="0">
                <a:solidFill>
                  <a:srgbClr val="C00000"/>
                </a:solidFill>
              </a:rPr>
              <a:t> appears superimposed on the dc collector voltage </a:t>
            </a:r>
            <a:r>
              <a:rPr lang="en-US" altLang="en-US" sz="2800" b="1" i="1" dirty="0">
                <a:solidFill>
                  <a:srgbClr val="C00000"/>
                </a:solidFill>
              </a:rPr>
              <a:t>V</a:t>
            </a:r>
            <a:r>
              <a:rPr lang="en-US" altLang="en-US" sz="2800" b="1" i="1" baseline="-25000" dirty="0">
                <a:solidFill>
                  <a:srgbClr val="C00000"/>
                </a:solidFill>
              </a:rPr>
              <a:t>CE</a:t>
            </a:r>
            <a:r>
              <a:rPr lang="en-US" altLang="en-US" sz="2800" b="1" dirty="0">
                <a:solidFill>
                  <a:srgbClr val="C000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562600" y="4126468"/>
                <a:ext cx="12715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𝑐𝑒</m:t>
                          </m:r>
                        </m:sub>
                      </m:sSub>
                      <m:r>
                        <a:rPr lang="en-US" alt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126468"/>
                <a:ext cx="127156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072842" y="4800600"/>
                <a:ext cx="552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842" y="4800600"/>
                <a:ext cx="552331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en-US" b="1"/>
              <a:t>Base-biased amplifier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81200" y="1371601"/>
                <a:ext cx="8229600" cy="4525963"/>
              </a:xfrm>
            </p:spPr>
            <p:txBody>
              <a:bodyPr/>
              <a:lstStyle/>
              <a:p>
                <a:pPr eaLnBrk="1" hangingPunct="1"/>
                <a:r>
                  <a:rPr lang="en-US" altLang="en-US" b="1" dirty="0">
                    <a:solidFill>
                      <a:srgbClr val="FF0000"/>
                    </a:solidFill>
                  </a:rPr>
                  <a:t>AC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 input is applied into </a:t>
                </a:r>
                <a:r>
                  <a:rPr lang="en-US" altLang="en-US" b="1" u="sng" dirty="0">
                    <a:solidFill>
                      <a:schemeClr val="accent2"/>
                    </a:solidFill>
                  </a:rPr>
                  <a:t>base</a:t>
                </a:r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𝑏𝑒</m:t>
                        </m:r>
                      </m:sub>
                    </m:sSub>
                    <m:r>
                      <a:rPr lang="en-US" alt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</m:oMath>
                </a14:m>
                <a:endParaRPr lang="en-US" altLang="en-US" b="1" u="sng" dirty="0">
                  <a:solidFill>
                    <a:schemeClr val="accent2"/>
                  </a:solidFill>
                </a:endParaRPr>
              </a:p>
              <a:p>
                <a:pPr eaLnBrk="1" hangingPunct="1"/>
                <a:r>
                  <a:rPr lang="en-US" altLang="en-US" b="1" dirty="0">
                    <a:solidFill>
                      <a:schemeClr val="accent2"/>
                    </a:solidFill>
                  </a:rPr>
                  <a:t>Coupling capacitors are used to block DC</a:t>
                </a:r>
              </a:p>
              <a:p>
                <a:pPr lvl="1" eaLnBrk="1" hangingPunct="1"/>
                <a:r>
                  <a:rPr lang="en-US" altLang="en-US" b="1" dirty="0">
                    <a:solidFill>
                      <a:schemeClr val="accent2"/>
                    </a:solidFill>
                  </a:rPr>
                  <a:t>The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reactance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 of a coupling capacitor is </a:t>
                </a:r>
                <a:r>
                  <a:rPr lang="en-US" altLang="en-US" b="1" u="sng" dirty="0">
                    <a:solidFill>
                      <a:schemeClr val="accent2"/>
                    </a:solidFill>
                  </a:rPr>
                  <a:t>small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 for AC signal</a:t>
                </a:r>
                <a:endParaRPr lang="en-US" altLang="en-US" b="1" u="sng" dirty="0">
                  <a:solidFill>
                    <a:schemeClr val="accent2"/>
                  </a:solidFill>
                </a:endParaRPr>
              </a:p>
              <a:p>
                <a:pPr eaLnBrk="1" hangingPunct="1"/>
                <a:r>
                  <a:rPr lang="en-US" altLang="en-US" b="1" dirty="0">
                    <a:solidFill>
                      <a:schemeClr val="accent2"/>
                    </a:solidFill>
                  </a:rPr>
                  <a:t>Amplified and inverted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output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 at the </a:t>
                </a:r>
                <a:r>
                  <a:rPr lang="en-US" altLang="en-US" b="1" u="sng" dirty="0">
                    <a:solidFill>
                      <a:schemeClr val="accent2"/>
                    </a:solidFill>
                  </a:rPr>
                  <a:t>collector.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en-US" altLang="en-US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𝑜𝑢𝑡</m:t>
                        </m:r>
                      </m:sub>
                    </m:sSub>
                  </m:oMath>
                </a14:m>
                <a:endParaRPr lang="en-US" altLang="en-US" b="1" u="sng" dirty="0">
                  <a:solidFill>
                    <a:schemeClr val="accent2"/>
                  </a:solidFill>
                </a:endParaRPr>
              </a:p>
              <a:p>
                <a:pPr eaLnBrk="1" hangingPunct="1"/>
                <a:r>
                  <a:rPr lang="en-US" altLang="en-US" b="1" dirty="0">
                    <a:solidFill>
                      <a:srgbClr val="FF0000"/>
                    </a:solidFill>
                  </a:rPr>
                  <a:t>AC 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output coupled to the </a:t>
                </a:r>
                <a:r>
                  <a:rPr lang="en-US" altLang="en-US" b="1" u="sng" dirty="0">
                    <a:solidFill>
                      <a:schemeClr val="accent2"/>
                    </a:solidFill>
                  </a:rPr>
                  <a:t>load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b="1" u="sng" dirty="0">
                    <a:solidFill>
                      <a:schemeClr val="accent2"/>
                    </a:solidFill>
                  </a:rPr>
                  <a:t>)</a:t>
                </a:r>
              </a:p>
              <a:p>
                <a:pPr eaLnBrk="1" hangingPunct="1"/>
                <a:r>
                  <a:rPr lang="en-US" altLang="en-US" dirty="0">
                    <a:solidFill>
                      <a:srgbClr val="000000"/>
                    </a:solidFill>
                  </a:rPr>
                  <a:t>Voltage Gain: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alt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altLang="en-US" b="0" i="1" smtClean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altLang="en-US" b="0" i="1" smtClean="0">
                        <a:solidFill>
                          <a:srgbClr val="000000"/>
                        </a:solidFill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US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𝑐𝑒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𝑏𝑒</m:t>
                            </m:r>
                          </m:sub>
                        </m:sSub>
                      </m:den>
                    </m:f>
                  </m:oMath>
                </a14:m>
                <a:endParaRPr lang="en-US" altLang="en-US" b="1" u="sng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58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81200" y="1371601"/>
                <a:ext cx="8229600" cy="4525963"/>
              </a:xfrm>
              <a:blipFill>
                <a:blip r:embed="rId2"/>
                <a:stretch>
                  <a:fillRect l="-1704" t="-1752" r="-815" b="-16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4" name="Group 2"/>
          <p:cNvGrpSpPr>
            <a:grpSpLocks/>
          </p:cNvGrpSpPr>
          <p:nvPr/>
        </p:nvGrpSpPr>
        <p:grpSpPr bwMode="auto">
          <a:xfrm rot="10800000">
            <a:off x="6629400" y="1957388"/>
            <a:ext cx="330200" cy="984250"/>
            <a:chOff x="2000" y="1771"/>
            <a:chExt cx="208" cy="620"/>
          </a:xfrm>
        </p:grpSpPr>
        <p:sp>
          <p:nvSpPr>
            <p:cNvPr id="85119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20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21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22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23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24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25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995" name="Text Box 10"/>
          <p:cNvSpPr txBox="1">
            <a:spLocks noChangeArrowheads="1"/>
          </p:cNvSpPr>
          <p:nvPr/>
        </p:nvSpPr>
        <p:spPr bwMode="auto">
          <a:xfrm>
            <a:off x="6324601" y="827088"/>
            <a:ext cx="10230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</a:rPr>
              <a:t>+30 V</a:t>
            </a:r>
          </a:p>
        </p:txBody>
      </p:sp>
      <p:sp>
        <p:nvSpPr>
          <p:cNvPr id="84996" name="Text Box 11"/>
          <p:cNvSpPr txBox="1">
            <a:spLocks noChangeArrowheads="1"/>
          </p:cNvSpPr>
          <p:nvPr/>
        </p:nvSpPr>
        <p:spPr bwMode="auto">
          <a:xfrm>
            <a:off x="5756275" y="2212976"/>
            <a:ext cx="92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</a:rPr>
              <a:t>5 k</a:t>
            </a:r>
            <a:r>
              <a:rPr lang="en-US" altLang="en-US" sz="2800" b="1">
                <a:solidFill>
                  <a:srgbClr val="C0504D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C0504D"/>
              </a:solidFill>
            </a:endParaRPr>
          </a:p>
        </p:txBody>
      </p:sp>
      <p:sp>
        <p:nvSpPr>
          <p:cNvPr id="84997" name="Line 12"/>
          <p:cNvSpPr>
            <a:spLocks noChangeShapeType="1"/>
          </p:cNvSpPr>
          <p:nvPr/>
        </p:nvSpPr>
        <p:spPr bwMode="auto">
          <a:xfrm flipH="1">
            <a:off x="6426200" y="3449638"/>
            <a:ext cx="0" cy="830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8" name="Line 13"/>
          <p:cNvSpPr>
            <a:spLocks noChangeShapeType="1"/>
          </p:cNvSpPr>
          <p:nvPr/>
        </p:nvSpPr>
        <p:spPr bwMode="auto">
          <a:xfrm>
            <a:off x="6429375" y="405765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9" name="Line 14"/>
          <p:cNvSpPr>
            <a:spLocks noChangeShapeType="1"/>
          </p:cNvSpPr>
          <p:nvPr/>
        </p:nvSpPr>
        <p:spPr bwMode="auto">
          <a:xfrm flipH="1" flipV="1">
            <a:off x="5416550" y="3863975"/>
            <a:ext cx="1023938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0" name="Freeform 15"/>
          <p:cNvSpPr>
            <a:spLocks/>
          </p:cNvSpPr>
          <p:nvPr/>
        </p:nvSpPr>
        <p:spPr bwMode="auto">
          <a:xfrm>
            <a:off x="6518276" y="4138614"/>
            <a:ext cx="239713" cy="249237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1" name="Oval 16"/>
          <p:cNvSpPr>
            <a:spLocks noChangeArrowheads="1"/>
          </p:cNvSpPr>
          <p:nvPr/>
        </p:nvSpPr>
        <p:spPr bwMode="auto">
          <a:xfrm>
            <a:off x="5997575" y="3254375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85002" name="Line 17"/>
          <p:cNvSpPr>
            <a:spLocks noChangeShapeType="1"/>
          </p:cNvSpPr>
          <p:nvPr/>
        </p:nvSpPr>
        <p:spPr bwMode="auto">
          <a:xfrm flipV="1">
            <a:off x="6429375" y="3286125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3" name="Line 18"/>
          <p:cNvSpPr>
            <a:spLocks noChangeShapeType="1"/>
          </p:cNvSpPr>
          <p:nvPr/>
        </p:nvSpPr>
        <p:spPr bwMode="auto">
          <a:xfrm flipV="1">
            <a:off x="6813550" y="294798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4" name="Line 19"/>
          <p:cNvSpPr>
            <a:spLocks noChangeShapeType="1"/>
          </p:cNvSpPr>
          <p:nvPr/>
        </p:nvSpPr>
        <p:spPr bwMode="auto">
          <a:xfrm>
            <a:off x="6813550" y="4452939"/>
            <a:ext cx="0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5005" name="Group 20"/>
          <p:cNvGrpSpPr>
            <a:grpSpLocks/>
          </p:cNvGrpSpPr>
          <p:nvPr/>
        </p:nvGrpSpPr>
        <p:grpSpPr bwMode="auto">
          <a:xfrm>
            <a:off x="6429375" y="4830763"/>
            <a:ext cx="762000" cy="304800"/>
            <a:chOff x="1261" y="2969"/>
            <a:chExt cx="480" cy="192"/>
          </a:xfrm>
        </p:grpSpPr>
        <p:sp>
          <p:nvSpPr>
            <p:cNvPr id="85116" name="Line 21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7" name="Line 22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8" name="Line 23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5006" name="Group 24"/>
          <p:cNvGrpSpPr>
            <a:grpSpLocks/>
          </p:cNvGrpSpPr>
          <p:nvPr/>
        </p:nvGrpSpPr>
        <p:grpSpPr bwMode="auto">
          <a:xfrm rot="10800000">
            <a:off x="5232400" y="2281238"/>
            <a:ext cx="330200" cy="984250"/>
            <a:chOff x="2000" y="1771"/>
            <a:chExt cx="208" cy="620"/>
          </a:xfrm>
        </p:grpSpPr>
        <p:sp>
          <p:nvSpPr>
            <p:cNvPr id="85109" name="Line 25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0" name="Line 26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1" name="Line 27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2" name="Line 28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3" name="Line 29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4" name="Freeform 30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5" name="Freeform 31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5007" name="Text Box 32"/>
          <p:cNvSpPr txBox="1">
            <a:spLocks noChangeArrowheads="1"/>
          </p:cNvSpPr>
          <p:nvPr/>
        </p:nvSpPr>
        <p:spPr bwMode="auto">
          <a:xfrm>
            <a:off x="4154488" y="2511426"/>
            <a:ext cx="1058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</a:rPr>
              <a:t>1 M</a:t>
            </a:r>
            <a:r>
              <a:rPr lang="en-US" altLang="en-US" sz="2800" b="1">
                <a:solidFill>
                  <a:srgbClr val="C0504D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C0504D"/>
              </a:solidFill>
            </a:endParaRPr>
          </a:p>
        </p:txBody>
      </p:sp>
      <p:sp>
        <p:nvSpPr>
          <p:cNvPr id="85008" name="Line 33"/>
          <p:cNvSpPr>
            <a:spLocks noChangeShapeType="1"/>
          </p:cNvSpPr>
          <p:nvPr/>
        </p:nvSpPr>
        <p:spPr bwMode="auto">
          <a:xfrm flipV="1">
            <a:off x="5410200" y="3265488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9" name="Line 34"/>
          <p:cNvSpPr>
            <a:spLocks noChangeShapeType="1"/>
          </p:cNvSpPr>
          <p:nvPr/>
        </p:nvSpPr>
        <p:spPr bwMode="auto">
          <a:xfrm flipV="1">
            <a:off x="6781800" y="15128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0" name="Line 35"/>
          <p:cNvSpPr>
            <a:spLocks noChangeShapeType="1"/>
          </p:cNvSpPr>
          <p:nvPr/>
        </p:nvSpPr>
        <p:spPr bwMode="auto">
          <a:xfrm flipH="1">
            <a:off x="5410200" y="1757363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1" name="Line 36"/>
          <p:cNvSpPr>
            <a:spLocks noChangeShapeType="1"/>
          </p:cNvSpPr>
          <p:nvPr/>
        </p:nvSpPr>
        <p:spPr bwMode="auto">
          <a:xfrm flipV="1">
            <a:off x="5410200" y="175736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2" name="Oval 37"/>
          <p:cNvSpPr>
            <a:spLocks noChangeArrowheads="1"/>
          </p:cNvSpPr>
          <p:nvPr/>
        </p:nvSpPr>
        <p:spPr bwMode="auto">
          <a:xfrm>
            <a:off x="6705600" y="1360488"/>
            <a:ext cx="152400" cy="152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85013" name="Text Box 40"/>
          <p:cNvSpPr txBox="1">
            <a:spLocks noChangeArrowheads="1"/>
          </p:cNvSpPr>
          <p:nvPr/>
        </p:nvSpPr>
        <p:spPr bwMode="auto">
          <a:xfrm>
            <a:off x="7186613" y="3554413"/>
            <a:ext cx="1535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2800" b="1" baseline="-25000">
                <a:solidFill>
                  <a:srgbClr val="C0504D"/>
                </a:solidFill>
              </a:rPr>
              <a:t>dc</a:t>
            </a:r>
            <a:r>
              <a:rPr lang="en-US" altLang="en-US" sz="2800" b="1">
                <a:solidFill>
                  <a:srgbClr val="C0504D"/>
                </a:solidFill>
              </a:rPr>
              <a:t> = 100</a:t>
            </a:r>
          </a:p>
        </p:txBody>
      </p: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4637089" y="3602039"/>
            <a:ext cx="174625" cy="484187"/>
            <a:chOff x="4176" y="1296"/>
            <a:chExt cx="110" cy="305"/>
          </a:xfrm>
        </p:grpSpPr>
        <p:sp>
          <p:nvSpPr>
            <p:cNvPr id="85107" name="Line 43"/>
            <p:cNvSpPr>
              <a:spLocks noChangeShapeType="1"/>
            </p:cNvSpPr>
            <p:nvPr/>
          </p:nvSpPr>
          <p:spPr bwMode="auto">
            <a:xfrm flipH="1">
              <a:off x="4176" y="1296"/>
              <a:ext cx="0" cy="3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8" name="Freeform 44"/>
            <p:cNvSpPr>
              <a:spLocks/>
            </p:cNvSpPr>
            <p:nvPr/>
          </p:nvSpPr>
          <p:spPr bwMode="auto">
            <a:xfrm flipH="1">
              <a:off x="4231" y="1300"/>
              <a:ext cx="55" cy="295"/>
            </a:xfrm>
            <a:custGeom>
              <a:avLst/>
              <a:gdLst>
                <a:gd name="T0" fmla="*/ 0 w 97"/>
                <a:gd name="T1" fmla="*/ 0 h 455"/>
                <a:gd name="T2" fmla="*/ 1 w 97"/>
                <a:gd name="T3" fmla="*/ 4 h 455"/>
                <a:gd name="T4" fmla="*/ 1 w 97"/>
                <a:gd name="T5" fmla="*/ 10 h 455"/>
                <a:gd name="T6" fmla="*/ 1 w 97"/>
                <a:gd name="T7" fmla="*/ 14 h 4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455">
                  <a:moveTo>
                    <a:pt x="0" y="0"/>
                  </a:moveTo>
                  <a:cubicBezTo>
                    <a:pt x="14" y="21"/>
                    <a:pt x="69" y="79"/>
                    <a:pt x="83" y="134"/>
                  </a:cubicBezTo>
                  <a:cubicBezTo>
                    <a:pt x="97" y="189"/>
                    <a:pt x="95" y="278"/>
                    <a:pt x="83" y="331"/>
                  </a:cubicBezTo>
                  <a:cubicBezTo>
                    <a:pt x="71" y="384"/>
                    <a:pt x="26" y="429"/>
                    <a:pt x="11" y="45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41" name="Group 45"/>
          <p:cNvGrpSpPr>
            <a:grpSpLocks/>
          </p:cNvGrpSpPr>
          <p:nvPr/>
        </p:nvGrpSpPr>
        <p:grpSpPr bwMode="auto">
          <a:xfrm>
            <a:off x="3552825" y="4451350"/>
            <a:ext cx="738188" cy="738188"/>
            <a:chOff x="2064" y="576"/>
            <a:chExt cx="465" cy="465"/>
          </a:xfrm>
        </p:grpSpPr>
        <p:sp>
          <p:nvSpPr>
            <p:cNvPr id="85104" name="Oval 46"/>
            <p:cNvSpPr>
              <a:spLocks noChangeArrowheads="1"/>
            </p:cNvSpPr>
            <p:nvPr/>
          </p:nvSpPr>
          <p:spPr bwMode="auto">
            <a:xfrm>
              <a:off x="2064" y="576"/>
              <a:ext cx="465" cy="46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5105" name="Freeform 47"/>
            <p:cNvSpPr>
              <a:spLocks/>
            </p:cNvSpPr>
            <p:nvPr/>
          </p:nvSpPr>
          <p:spPr bwMode="auto">
            <a:xfrm>
              <a:off x="2178" y="696"/>
              <a:ext cx="109" cy="114"/>
            </a:xfrm>
            <a:custGeom>
              <a:avLst/>
              <a:gdLst>
                <a:gd name="T0" fmla="*/ 0 w 1066"/>
                <a:gd name="T1" fmla="*/ 0 h 1065"/>
                <a:gd name="T2" fmla="*/ 0 w 1066"/>
                <a:gd name="T3" fmla="*/ 0 h 1065"/>
                <a:gd name="T4" fmla="*/ 0 w 1066"/>
                <a:gd name="T5" fmla="*/ 0 h 1065"/>
                <a:gd name="T6" fmla="*/ 0 w 1066"/>
                <a:gd name="T7" fmla="*/ 0 h 1065"/>
                <a:gd name="T8" fmla="*/ 0 w 1066"/>
                <a:gd name="T9" fmla="*/ 0 h 10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6" h="1065">
                  <a:moveTo>
                    <a:pt x="1066" y="1065"/>
                  </a:moveTo>
                  <a:cubicBezTo>
                    <a:pt x="1016" y="934"/>
                    <a:pt x="854" y="455"/>
                    <a:pt x="766" y="279"/>
                  </a:cubicBezTo>
                  <a:cubicBezTo>
                    <a:pt x="678" y="103"/>
                    <a:pt x="612" y="20"/>
                    <a:pt x="538" y="10"/>
                  </a:cubicBezTo>
                  <a:cubicBezTo>
                    <a:pt x="464" y="0"/>
                    <a:pt x="411" y="41"/>
                    <a:pt x="321" y="217"/>
                  </a:cubicBezTo>
                  <a:cubicBezTo>
                    <a:pt x="231" y="393"/>
                    <a:pt x="67" y="888"/>
                    <a:pt x="0" y="1065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6" name="Freeform 48"/>
            <p:cNvSpPr>
              <a:spLocks/>
            </p:cNvSpPr>
            <p:nvPr/>
          </p:nvSpPr>
          <p:spPr bwMode="auto">
            <a:xfrm flipV="1">
              <a:off x="2287" y="805"/>
              <a:ext cx="109" cy="114"/>
            </a:xfrm>
            <a:custGeom>
              <a:avLst/>
              <a:gdLst>
                <a:gd name="T0" fmla="*/ 0 w 1066"/>
                <a:gd name="T1" fmla="*/ 0 h 1065"/>
                <a:gd name="T2" fmla="*/ 0 w 1066"/>
                <a:gd name="T3" fmla="*/ 0 h 1065"/>
                <a:gd name="T4" fmla="*/ 0 w 1066"/>
                <a:gd name="T5" fmla="*/ 0 h 1065"/>
                <a:gd name="T6" fmla="*/ 0 w 1066"/>
                <a:gd name="T7" fmla="*/ 0 h 1065"/>
                <a:gd name="T8" fmla="*/ 0 w 1066"/>
                <a:gd name="T9" fmla="*/ 0 h 10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6" h="1065">
                  <a:moveTo>
                    <a:pt x="1066" y="1065"/>
                  </a:moveTo>
                  <a:cubicBezTo>
                    <a:pt x="1016" y="934"/>
                    <a:pt x="854" y="455"/>
                    <a:pt x="766" y="279"/>
                  </a:cubicBezTo>
                  <a:cubicBezTo>
                    <a:pt x="678" y="103"/>
                    <a:pt x="612" y="20"/>
                    <a:pt x="538" y="10"/>
                  </a:cubicBezTo>
                  <a:cubicBezTo>
                    <a:pt x="464" y="0"/>
                    <a:pt x="411" y="41"/>
                    <a:pt x="321" y="217"/>
                  </a:cubicBezTo>
                  <a:cubicBezTo>
                    <a:pt x="231" y="393"/>
                    <a:pt x="67" y="888"/>
                    <a:pt x="0" y="1065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53" name="Group 57"/>
          <p:cNvGrpSpPr>
            <a:grpSpLocks/>
          </p:cNvGrpSpPr>
          <p:nvPr/>
        </p:nvGrpSpPr>
        <p:grpSpPr bwMode="auto">
          <a:xfrm>
            <a:off x="3532188" y="5594350"/>
            <a:ext cx="762000" cy="304800"/>
            <a:chOff x="1261" y="2969"/>
            <a:chExt cx="480" cy="192"/>
          </a:xfrm>
        </p:grpSpPr>
        <p:sp>
          <p:nvSpPr>
            <p:cNvPr id="85101" name="Line 58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2" name="Line 59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3" name="Line 60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63" name="Line 67"/>
          <p:cNvSpPr>
            <a:spLocks noChangeShapeType="1"/>
          </p:cNvSpPr>
          <p:nvPr/>
        </p:nvSpPr>
        <p:spPr bwMode="auto">
          <a:xfrm flipH="1">
            <a:off x="3944938" y="3857625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5" name="Line 69"/>
          <p:cNvSpPr>
            <a:spLocks noChangeShapeType="1"/>
          </p:cNvSpPr>
          <p:nvPr/>
        </p:nvSpPr>
        <p:spPr bwMode="auto">
          <a:xfrm>
            <a:off x="3929063" y="3857625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6" name="Line 70"/>
          <p:cNvSpPr>
            <a:spLocks noChangeShapeType="1"/>
          </p:cNvSpPr>
          <p:nvPr/>
        </p:nvSpPr>
        <p:spPr bwMode="auto">
          <a:xfrm>
            <a:off x="3913188" y="52133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71" name="Group 75"/>
          <p:cNvGrpSpPr>
            <a:grpSpLocks/>
          </p:cNvGrpSpPr>
          <p:nvPr/>
        </p:nvGrpSpPr>
        <p:grpSpPr bwMode="auto">
          <a:xfrm>
            <a:off x="8967789" y="2873375"/>
            <a:ext cx="174625" cy="484188"/>
            <a:chOff x="4176" y="1296"/>
            <a:chExt cx="110" cy="305"/>
          </a:xfrm>
        </p:grpSpPr>
        <p:sp>
          <p:nvSpPr>
            <p:cNvPr id="85099" name="Line 76"/>
            <p:cNvSpPr>
              <a:spLocks noChangeShapeType="1"/>
            </p:cNvSpPr>
            <p:nvPr/>
          </p:nvSpPr>
          <p:spPr bwMode="auto">
            <a:xfrm flipH="1">
              <a:off x="4176" y="1296"/>
              <a:ext cx="0" cy="3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0" name="Freeform 77"/>
            <p:cNvSpPr>
              <a:spLocks/>
            </p:cNvSpPr>
            <p:nvPr/>
          </p:nvSpPr>
          <p:spPr bwMode="auto">
            <a:xfrm flipH="1">
              <a:off x="4231" y="1300"/>
              <a:ext cx="55" cy="295"/>
            </a:xfrm>
            <a:custGeom>
              <a:avLst/>
              <a:gdLst>
                <a:gd name="T0" fmla="*/ 0 w 97"/>
                <a:gd name="T1" fmla="*/ 0 h 455"/>
                <a:gd name="T2" fmla="*/ 1 w 97"/>
                <a:gd name="T3" fmla="*/ 4 h 455"/>
                <a:gd name="T4" fmla="*/ 1 w 97"/>
                <a:gd name="T5" fmla="*/ 10 h 455"/>
                <a:gd name="T6" fmla="*/ 1 w 97"/>
                <a:gd name="T7" fmla="*/ 14 h 4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455">
                  <a:moveTo>
                    <a:pt x="0" y="0"/>
                  </a:moveTo>
                  <a:cubicBezTo>
                    <a:pt x="14" y="21"/>
                    <a:pt x="69" y="79"/>
                    <a:pt x="83" y="134"/>
                  </a:cubicBezTo>
                  <a:cubicBezTo>
                    <a:pt x="97" y="189"/>
                    <a:pt x="95" y="278"/>
                    <a:pt x="83" y="331"/>
                  </a:cubicBezTo>
                  <a:cubicBezTo>
                    <a:pt x="71" y="384"/>
                    <a:pt x="26" y="429"/>
                    <a:pt x="11" y="45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78" name="Group 82"/>
          <p:cNvGrpSpPr>
            <a:grpSpLocks/>
          </p:cNvGrpSpPr>
          <p:nvPr/>
        </p:nvGrpSpPr>
        <p:grpSpPr bwMode="auto">
          <a:xfrm rot="10800000">
            <a:off x="9583738" y="3509963"/>
            <a:ext cx="330200" cy="984250"/>
            <a:chOff x="2000" y="1771"/>
            <a:chExt cx="208" cy="620"/>
          </a:xfrm>
        </p:grpSpPr>
        <p:sp>
          <p:nvSpPr>
            <p:cNvPr id="85092" name="Line 8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93" name="Line 8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94" name="Line 8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95" name="Line 8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96" name="Line 8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97" name="Freeform 8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98" name="Freeform 8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90" name="Line 94"/>
          <p:cNvSpPr>
            <a:spLocks noChangeShapeType="1"/>
          </p:cNvSpPr>
          <p:nvPr/>
        </p:nvSpPr>
        <p:spPr bwMode="auto">
          <a:xfrm>
            <a:off x="9761538" y="450056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91" name="Group 95"/>
          <p:cNvGrpSpPr>
            <a:grpSpLocks/>
          </p:cNvGrpSpPr>
          <p:nvPr/>
        </p:nvGrpSpPr>
        <p:grpSpPr bwMode="auto">
          <a:xfrm>
            <a:off x="9355138" y="4881563"/>
            <a:ext cx="762000" cy="304800"/>
            <a:chOff x="1261" y="2969"/>
            <a:chExt cx="480" cy="192"/>
          </a:xfrm>
        </p:grpSpPr>
        <p:sp>
          <p:nvSpPr>
            <p:cNvPr id="85089" name="Line 96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90" name="Line 97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91" name="Line 98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95" name="Line 99"/>
          <p:cNvSpPr>
            <a:spLocks noChangeShapeType="1"/>
          </p:cNvSpPr>
          <p:nvPr/>
        </p:nvSpPr>
        <p:spPr bwMode="auto">
          <a:xfrm>
            <a:off x="9752013" y="314166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6" name="Line 100"/>
          <p:cNvSpPr>
            <a:spLocks noChangeShapeType="1"/>
          </p:cNvSpPr>
          <p:nvPr/>
        </p:nvSpPr>
        <p:spPr bwMode="auto">
          <a:xfrm flipH="1">
            <a:off x="6821488" y="3144838"/>
            <a:ext cx="2146300" cy="11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7" name="Line 101"/>
          <p:cNvSpPr>
            <a:spLocks noChangeShapeType="1"/>
          </p:cNvSpPr>
          <p:nvPr/>
        </p:nvSpPr>
        <p:spPr bwMode="auto">
          <a:xfrm flipH="1">
            <a:off x="9066213" y="314483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04" name="Text Box 108"/>
              <p:cNvSpPr txBox="1">
                <a:spLocks noChangeArrowheads="1"/>
              </p:cNvSpPr>
              <p:nvPr/>
            </p:nvSpPr>
            <p:spPr bwMode="auto">
              <a:xfrm>
                <a:off x="7697416" y="3892550"/>
                <a:ext cx="205618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2800" b="1" dirty="0">
                    <a:solidFill>
                      <a:srgbClr val="C0504D"/>
                    </a:solidFill>
                  </a:rPr>
                  <a:t>100 k</a:t>
                </a:r>
                <a:r>
                  <a:rPr lang="en-US" altLang="en-US" sz="2800" b="1" dirty="0">
                    <a:solidFill>
                      <a:srgbClr val="C0504D"/>
                    </a:solidFill>
                    <a:latin typeface="Symbol" panose="05050102010706020507" pitchFamily="18" charset="2"/>
                  </a:rPr>
                  <a:t>W</a:t>
                </a:r>
                <a:endParaRPr lang="en-US" altLang="en-US" sz="2800" b="1" dirty="0">
                  <a:solidFill>
                    <a:srgbClr val="C0504D"/>
                  </a:solidFill>
                </a:endParaRPr>
              </a:p>
            </p:txBody>
          </p:sp>
        </mc:Choice>
        <mc:Fallback xmlns="">
          <p:sp>
            <p:nvSpPr>
              <p:cNvPr id="4204" name="Text 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7416" y="3892550"/>
                <a:ext cx="2056184" cy="523220"/>
              </a:xfrm>
              <a:prstGeom prst="rect">
                <a:avLst/>
              </a:prstGeom>
              <a:blipFill>
                <a:blip r:embed="rId3"/>
                <a:stretch>
                  <a:fillRect t="-15294" r="-3561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5" name="Text Box 109"/>
              <p:cNvSpPr txBox="1">
                <a:spLocks noChangeArrowheads="1"/>
              </p:cNvSpPr>
              <p:nvPr/>
            </p:nvSpPr>
            <p:spPr bwMode="auto">
              <a:xfrm>
                <a:off x="1524000" y="4560888"/>
                <a:ext cx="20256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2800" b="1" dirty="0">
                    <a:solidFill>
                      <a:srgbClr val="C0504D"/>
                    </a:solidFill>
                  </a:rPr>
                  <a:t>100</a:t>
                </a:r>
                <a:r>
                  <a:rPr lang="en-US" altLang="en-US" sz="2800" b="1" dirty="0">
                    <a:solidFill>
                      <a:srgbClr val="C0504D"/>
                    </a:solidFill>
                    <a:latin typeface="Symbol" panose="05050102010706020507" pitchFamily="18" charset="2"/>
                  </a:rPr>
                  <a:t>m</a:t>
                </a:r>
                <a:r>
                  <a:rPr lang="en-US" altLang="en-US" sz="2800" b="1" dirty="0">
                    <a:solidFill>
                      <a:srgbClr val="C0504D"/>
                    </a:solidFill>
                  </a:rPr>
                  <a:t>V</a:t>
                </a:r>
              </a:p>
            </p:txBody>
          </p:sp>
        </mc:Choice>
        <mc:Fallback xmlns="">
          <p:sp>
            <p:nvSpPr>
              <p:cNvPr id="4205" name="Text 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4560888"/>
                <a:ext cx="2025650" cy="523220"/>
              </a:xfrm>
              <a:prstGeom prst="rect">
                <a:avLst/>
              </a:prstGeom>
              <a:blipFill>
                <a:blip r:embed="rId4"/>
                <a:stretch>
                  <a:fillRect t="-13953" r="-2711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06" name="Text Box 110"/>
          <p:cNvSpPr txBox="1">
            <a:spLocks noChangeArrowheads="1"/>
          </p:cNvSpPr>
          <p:nvPr/>
        </p:nvSpPr>
        <p:spPr bwMode="auto">
          <a:xfrm>
            <a:off x="1524000" y="5945189"/>
            <a:ext cx="9144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</a:rPr>
              <a:t>DC</a:t>
            </a:r>
            <a:r>
              <a:rPr lang="en-US" altLang="en-US" sz="2800" b="1">
                <a:solidFill>
                  <a:srgbClr val="FF0000"/>
                </a:solidFill>
              </a:rPr>
              <a:t> </a:t>
            </a:r>
            <a:r>
              <a:rPr lang="en-US" altLang="en-US" sz="2800" b="1">
                <a:solidFill>
                  <a:srgbClr val="000000"/>
                </a:solidFill>
              </a:rPr>
              <a:t>analysis gives: </a:t>
            </a:r>
            <a:r>
              <a:rPr lang="en-US" altLang="en-US" sz="2800" b="1">
                <a:solidFill>
                  <a:srgbClr val="FF0000"/>
                </a:solidFill>
              </a:rPr>
              <a:t>I</a:t>
            </a:r>
            <a:r>
              <a:rPr lang="en-US" altLang="en-US" sz="2800" b="1" baseline="-25000">
                <a:solidFill>
                  <a:srgbClr val="FF0000"/>
                </a:solidFill>
              </a:rPr>
              <a:t>B</a:t>
            </a:r>
            <a:r>
              <a:rPr lang="en-US" altLang="en-US" sz="2800" b="1">
                <a:solidFill>
                  <a:srgbClr val="FF0000"/>
                </a:solidFill>
              </a:rPr>
              <a:t> = </a:t>
            </a:r>
            <a:r>
              <a:rPr lang="en-US" altLang="en-US" sz="2800" b="1">
                <a:solidFill>
                  <a:srgbClr val="000000"/>
                </a:solidFill>
              </a:rPr>
              <a:t>29.3</a:t>
            </a:r>
            <a:r>
              <a:rPr lang="en-US" altLang="en-US" sz="2800" b="1">
                <a:solidFill>
                  <a:srgbClr val="FF0000"/>
                </a:solidFill>
              </a:rPr>
              <a:t> 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m</a:t>
            </a:r>
            <a:r>
              <a:rPr lang="en-US" altLang="en-US" sz="2800" b="1">
                <a:solidFill>
                  <a:srgbClr val="FF0000"/>
                </a:solidFill>
              </a:rPr>
              <a:t>A, I</a:t>
            </a:r>
            <a:r>
              <a:rPr lang="en-US" altLang="en-US" sz="2800" b="1" baseline="-25000">
                <a:solidFill>
                  <a:srgbClr val="FF0000"/>
                </a:solidFill>
              </a:rPr>
              <a:t>C</a:t>
            </a:r>
            <a:r>
              <a:rPr lang="en-US" altLang="en-US" sz="2800" b="1">
                <a:solidFill>
                  <a:srgbClr val="FF0000"/>
                </a:solidFill>
              </a:rPr>
              <a:t> = </a:t>
            </a:r>
            <a:r>
              <a:rPr lang="en-US" altLang="en-US" sz="2800" b="1">
                <a:solidFill>
                  <a:srgbClr val="000000"/>
                </a:solidFill>
              </a:rPr>
              <a:t>2.93</a:t>
            </a:r>
            <a:r>
              <a:rPr lang="en-US" altLang="en-US" sz="2800" b="1">
                <a:solidFill>
                  <a:srgbClr val="FF0000"/>
                </a:solidFill>
              </a:rPr>
              <a:t> mA and V</a:t>
            </a:r>
            <a:r>
              <a:rPr lang="en-US" altLang="en-US" sz="2800" b="1" baseline="-25000">
                <a:solidFill>
                  <a:srgbClr val="FF0000"/>
                </a:solidFill>
              </a:rPr>
              <a:t>C</a:t>
            </a:r>
            <a:r>
              <a:rPr lang="en-US" altLang="en-US" sz="2800" b="1">
                <a:solidFill>
                  <a:srgbClr val="FF0000"/>
                </a:solidFill>
              </a:rPr>
              <a:t> = </a:t>
            </a:r>
            <a:r>
              <a:rPr lang="en-US" altLang="en-US" sz="2800" b="1">
                <a:solidFill>
                  <a:srgbClr val="000000"/>
                </a:solidFill>
              </a:rPr>
              <a:t>15.35</a:t>
            </a:r>
            <a:r>
              <a:rPr lang="en-US" altLang="en-US" sz="2800" b="1">
                <a:solidFill>
                  <a:srgbClr val="FF0000"/>
                </a:solidFill>
              </a:rPr>
              <a:t> V</a:t>
            </a:r>
          </a:p>
        </p:txBody>
      </p:sp>
      <p:sp>
        <p:nvSpPr>
          <p:cNvPr id="4208" name="AutoShape 112"/>
          <p:cNvSpPr>
            <a:spLocks noChangeArrowheads="1"/>
          </p:cNvSpPr>
          <p:nvPr/>
        </p:nvSpPr>
        <p:spPr bwMode="auto">
          <a:xfrm>
            <a:off x="4600575" y="4492625"/>
            <a:ext cx="228600" cy="762000"/>
          </a:xfrm>
          <a:prstGeom prst="upArrow">
            <a:avLst>
              <a:gd name="adj1" fmla="val 50000"/>
              <a:gd name="adj2" fmla="val 83333"/>
            </a:avLst>
          </a:prstGeom>
          <a:solidFill>
            <a:srgbClr val="00FF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209" name="AutoShape 113"/>
          <p:cNvSpPr>
            <a:spLocks noChangeArrowheads="1"/>
          </p:cNvSpPr>
          <p:nvPr/>
        </p:nvSpPr>
        <p:spPr bwMode="auto">
          <a:xfrm flipV="1">
            <a:off x="8929688" y="1958975"/>
            <a:ext cx="228600" cy="762000"/>
          </a:xfrm>
          <a:prstGeom prst="upArrow">
            <a:avLst>
              <a:gd name="adj1" fmla="val 50000"/>
              <a:gd name="adj2" fmla="val 83333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78039" y="977900"/>
            <a:ext cx="1952625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</a:rPr>
              <a:t>Coupling capacitors are used to block DC</a:t>
            </a:r>
          </a:p>
        </p:txBody>
      </p:sp>
      <p:grpSp>
        <p:nvGrpSpPr>
          <p:cNvPr id="86" name="Group 147"/>
          <p:cNvGrpSpPr>
            <a:grpSpLocks/>
          </p:cNvGrpSpPr>
          <p:nvPr/>
        </p:nvGrpSpPr>
        <p:grpSpPr bwMode="auto">
          <a:xfrm>
            <a:off x="2286000" y="3729038"/>
            <a:ext cx="1263650" cy="533400"/>
            <a:chOff x="404" y="1920"/>
            <a:chExt cx="796" cy="336"/>
          </a:xfrm>
        </p:grpSpPr>
        <p:grpSp>
          <p:nvGrpSpPr>
            <p:cNvPr id="85077" name="Group 4"/>
            <p:cNvGrpSpPr>
              <a:grpSpLocks/>
            </p:cNvGrpSpPr>
            <p:nvPr/>
          </p:nvGrpSpPr>
          <p:grpSpPr bwMode="auto">
            <a:xfrm>
              <a:off x="672" y="1920"/>
              <a:ext cx="480" cy="336"/>
              <a:chOff x="782" y="499"/>
              <a:chExt cx="2085" cy="926"/>
            </a:xfrm>
          </p:grpSpPr>
          <p:grpSp>
            <p:nvGrpSpPr>
              <p:cNvPr id="85080" name="Group 5"/>
              <p:cNvGrpSpPr>
                <a:grpSpLocks/>
              </p:cNvGrpSpPr>
              <p:nvPr/>
            </p:nvGrpSpPr>
            <p:grpSpPr bwMode="auto">
              <a:xfrm>
                <a:off x="782" y="506"/>
                <a:ext cx="700" cy="919"/>
                <a:chOff x="782" y="506"/>
                <a:chExt cx="700" cy="919"/>
              </a:xfrm>
            </p:grpSpPr>
            <p:sp>
              <p:nvSpPr>
                <p:cNvPr id="85087" name="Freeform 6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088" name="Freeform 7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081" name="Group 8"/>
              <p:cNvGrpSpPr>
                <a:grpSpLocks/>
              </p:cNvGrpSpPr>
              <p:nvPr/>
            </p:nvGrpSpPr>
            <p:grpSpPr bwMode="auto">
              <a:xfrm>
                <a:off x="1477" y="499"/>
                <a:ext cx="700" cy="919"/>
                <a:chOff x="782" y="506"/>
                <a:chExt cx="700" cy="919"/>
              </a:xfrm>
            </p:grpSpPr>
            <p:sp>
              <p:nvSpPr>
                <p:cNvPr id="85085" name="Freeform 9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086" name="Freeform 10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082" name="Group 11"/>
              <p:cNvGrpSpPr>
                <a:grpSpLocks/>
              </p:cNvGrpSpPr>
              <p:nvPr/>
            </p:nvGrpSpPr>
            <p:grpSpPr bwMode="auto">
              <a:xfrm>
                <a:off x="2167" y="505"/>
                <a:ext cx="700" cy="919"/>
                <a:chOff x="782" y="506"/>
                <a:chExt cx="700" cy="919"/>
              </a:xfrm>
            </p:grpSpPr>
            <p:sp>
              <p:nvSpPr>
                <p:cNvPr id="85083" name="Freeform 12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084" name="Freeform 13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5078" name="Line 145"/>
            <p:cNvSpPr>
              <a:spLocks noChangeShapeType="1"/>
            </p:cNvSpPr>
            <p:nvPr/>
          </p:nvSpPr>
          <p:spPr bwMode="auto">
            <a:xfrm>
              <a:off x="624" y="207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79" name="Text Box 146"/>
            <p:cNvSpPr txBox="1">
              <a:spLocks noChangeArrowheads="1"/>
            </p:cNvSpPr>
            <p:nvPr/>
          </p:nvSpPr>
          <p:spPr bwMode="auto">
            <a:xfrm>
              <a:off x="404" y="1930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99" name="Group 144"/>
          <p:cNvGrpSpPr>
            <a:grpSpLocks/>
          </p:cNvGrpSpPr>
          <p:nvPr/>
        </p:nvGrpSpPr>
        <p:grpSpPr bwMode="auto">
          <a:xfrm>
            <a:off x="6897689" y="2276475"/>
            <a:ext cx="2200275" cy="762000"/>
            <a:chOff x="4272" y="576"/>
            <a:chExt cx="1153" cy="480"/>
          </a:xfrm>
        </p:grpSpPr>
        <p:sp>
          <p:nvSpPr>
            <p:cNvPr id="85064" name="Text Box 127"/>
            <p:cNvSpPr txBox="1">
              <a:spLocks noChangeArrowheads="1"/>
            </p:cNvSpPr>
            <p:nvPr/>
          </p:nvSpPr>
          <p:spPr bwMode="auto">
            <a:xfrm>
              <a:off x="4844" y="688"/>
              <a:ext cx="58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+ 15.35 V</a:t>
              </a:r>
            </a:p>
          </p:txBody>
        </p:sp>
        <p:grpSp>
          <p:nvGrpSpPr>
            <p:cNvPr id="85065" name="Group 129"/>
            <p:cNvGrpSpPr>
              <a:grpSpLocks/>
            </p:cNvGrpSpPr>
            <p:nvPr/>
          </p:nvGrpSpPr>
          <p:grpSpPr bwMode="auto">
            <a:xfrm>
              <a:off x="4272" y="576"/>
              <a:ext cx="576" cy="480"/>
              <a:chOff x="3408" y="960"/>
              <a:chExt cx="576" cy="480"/>
            </a:xfrm>
          </p:grpSpPr>
          <p:grpSp>
            <p:nvGrpSpPr>
              <p:cNvPr id="85066" name="Group 24"/>
              <p:cNvGrpSpPr>
                <a:grpSpLocks/>
              </p:cNvGrpSpPr>
              <p:nvPr/>
            </p:nvGrpSpPr>
            <p:grpSpPr bwMode="auto">
              <a:xfrm flipV="1">
                <a:off x="3456" y="960"/>
                <a:ext cx="480" cy="480"/>
                <a:chOff x="782" y="499"/>
                <a:chExt cx="2085" cy="926"/>
              </a:xfrm>
            </p:grpSpPr>
            <p:grpSp>
              <p:nvGrpSpPr>
                <p:cNvPr id="85068" name="Group 25"/>
                <p:cNvGrpSpPr>
                  <a:grpSpLocks/>
                </p:cNvGrpSpPr>
                <p:nvPr/>
              </p:nvGrpSpPr>
              <p:grpSpPr bwMode="auto">
                <a:xfrm>
                  <a:off x="782" y="506"/>
                  <a:ext cx="700" cy="919"/>
                  <a:chOff x="782" y="506"/>
                  <a:chExt cx="700" cy="919"/>
                </a:xfrm>
              </p:grpSpPr>
              <p:sp>
                <p:nvSpPr>
                  <p:cNvPr id="85075" name="Freeform 26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5076" name="Freeform 27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5069" name="Group 28"/>
                <p:cNvGrpSpPr>
                  <a:grpSpLocks/>
                </p:cNvGrpSpPr>
                <p:nvPr/>
              </p:nvGrpSpPr>
              <p:grpSpPr bwMode="auto">
                <a:xfrm>
                  <a:off x="1477" y="499"/>
                  <a:ext cx="700" cy="919"/>
                  <a:chOff x="782" y="506"/>
                  <a:chExt cx="700" cy="919"/>
                </a:xfrm>
              </p:grpSpPr>
              <p:sp>
                <p:nvSpPr>
                  <p:cNvPr id="85073" name="Freeform 29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5074" name="Freeform 30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5070" name="Group 31"/>
                <p:cNvGrpSpPr>
                  <a:grpSpLocks/>
                </p:cNvGrpSpPr>
                <p:nvPr/>
              </p:nvGrpSpPr>
              <p:grpSpPr bwMode="auto">
                <a:xfrm>
                  <a:off x="2167" y="505"/>
                  <a:ext cx="700" cy="919"/>
                  <a:chOff x="782" y="506"/>
                  <a:chExt cx="700" cy="919"/>
                </a:xfrm>
              </p:grpSpPr>
              <p:sp>
                <p:nvSpPr>
                  <p:cNvPr id="85071" name="Freeform 32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5072" name="Freeform 33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85067" name="Line 128"/>
              <p:cNvSpPr>
                <a:spLocks noChangeShapeType="1"/>
              </p:cNvSpPr>
              <p:nvPr/>
            </p:nvSpPr>
            <p:spPr bwMode="auto">
              <a:xfrm>
                <a:off x="3408" y="120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4" name="Group 143"/>
          <p:cNvGrpSpPr>
            <a:grpSpLocks/>
          </p:cNvGrpSpPr>
          <p:nvPr/>
        </p:nvGrpSpPr>
        <p:grpSpPr bwMode="auto">
          <a:xfrm>
            <a:off x="9266238" y="2286000"/>
            <a:ext cx="1306512" cy="762000"/>
            <a:chOff x="4148" y="3360"/>
            <a:chExt cx="823" cy="480"/>
          </a:xfrm>
        </p:grpSpPr>
        <p:sp>
          <p:nvSpPr>
            <p:cNvPr id="85051" name="Text Box 130"/>
            <p:cNvSpPr txBox="1">
              <a:spLocks noChangeArrowheads="1"/>
            </p:cNvSpPr>
            <p:nvPr/>
          </p:nvSpPr>
          <p:spPr bwMode="auto">
            <a:xfrm>
              <a:off x="4148" y="3487"/>
              <a:ext cx="22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 0</a:t>
              </a:r>
            </a:p>
          </p:txBody>
        </p:sp>
        <p:grpSp>
          <p:nvGrpSpPr>
            <p:cNvPr id="85052" name="Group 131"/>
            <p:cNvGrpSpPr>
              <a:grpSpLocks/>
            </p:cNvGrpSpPr>
            <p:nvPr/>
          </p:nvGrpSpPr>
          <p:grpSpPr bwMode="auto">
            <a:xfrm>
              <a:off x="4395" y="3360"/>
              <a:ext cx="576" cy="480"/>
              <a:chOff x="3408" y="960"/>
              <a:chExt cx="576" cy="480"/>
            </a:xfrm>
          </p:grpSpPr>
          <p:grpSp>
            <p:nvGrpSpPr>
              <p:cNvPr id="85053" name="Group 132"/>
              <p:cNvGrpSpPr>
                <a:grpSpLocks/>
              </p:cNvGrpSpPr>
              <p:nvPr/>
            </p:nvGrpSpPr>
            <p:grpSpPr bwMode="auto">
              <a:xfrm flipV="1">
                <a:off x="3456" y="960"/>
                <a:ext cx="480" cy="480"/>
                <a:chOff x="782" y="499"/>
                <a:chExt cx="2085" cy="926"/>
              </a:xfrm>
            </p:grpSpPr>
            <p:grpSp>
              <p:nvGrpSpPr>
                <p:cNvPr id="85055" name="Group 133"/>
                <p:cNvGrpSpPr>
                  <a:grpSpLocks/>
                </p:cNvGrpSpPr>
                <p:nvPr/>
              </p:nvGrpSpPr>
              <p:grpSpPr bwMode="auto">
                <a:xfrm>
                  <a:off x="782" y="506"/>
                  <a:ext cx="700" cy="919"/>
                  <a:chOff x="782" y="506"/>
                  <a:chExt cx="700" cy="919"/>
                </a:xfrm>
              </p:grpSpPr>
              <p:sp>
                <p:nvSpPr>
                  <p:cNvPr id="85062" name="Freeform 134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5063" name="Freeform 135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5056" name="Group 136"/>
                <p:cNvGrpSpPr>
                  <a:grpSpLocks/>
                </p:cNvGrpSpPr>
                <p:nvPr/>
              </p:nvGrpSpPr>
              <p:grpSpPr bwMode="auto">
                <a:xfrm>
                  <a:off x="1477" y="499"/>
                  <a:ext cx="700" cy="919"/>
                  <a:chOff x="782" y="506"/>
                  <a:chExt cx="700" cy="919"/>
                </a:xfrm>
              </p:grpSpPr>
              <p:sp>
                <p:nvSpPr>
                  <p:cNvPr id="85060" name="Freeform 137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5061" name="Freeform 138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5057" name="Group 139"/>
                <p:cNvGrpSpPr>
                  <a:grpSpLocks/>
                </p:cNvGrpSpPr>
                <p:nvPr/>
              </p:nvGrpSpPr>
              <p:grpSpPr bwMode="auto">
                <a:xfrm>
                  <a:off x="2167" y="505"/>
                  <a:ext cx="700" cy="919"/>
                  <a:chOff x="782" y="506"/>
                  <a:chExt cx="700" cy="919"/>
                </a:xfrm>
              </p:grpSpPr>
              <p:sp>
                <p:nvSpPr>
                  <p:cNvPr id="85058" name="Freeform 140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5059" name="Freeform 141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85054" name="Line 142"/>
              <p:cNvSpPr>
                <a:spLocks noChangeShapeType="1"/>
              </p:cNvSpPr>
              <p:nvPr/>
            </p:nvSpPr>
            <p:spPr bwMode="auto">
              <a:xfrm>
                <a:off x="3408" y="120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28" name="Line 14"/>
          <p:cNvSpPr>
            <a:spLocks noChangeShapeType="1"/>
          </p:cNvSpPr>
          <p:nvPr/>
        </p:nvSpPr>
        <p:spPr bwMode="auto">
          <a:xfrm flipH="1" flipV="1">
            <a:off x="4724401" y="3857625"/>
            <a:ext cx="671513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9" name="Group 150"/>
          <p:cNvGrpSpPr>
            <a:grpSpLocks/>
          </p:cNvGrpSpPr>
          <p:nvPr/>
        </p:nvGrpSpPr>
        <p:grpSpPr bwMode="auto">
          <a:xfrm>
            <a:off x="4265613" y="3987800"/>
            <a:ext cx="1706562" cy="533400"/>
            <a:chOff x="1565" y="2208"/>
            <a:chExt cx="1075" cy="336"/>
          </a:xfrm>
        </p:grpSpPr>
        <p:grpSp>
          <p:nvGrpSpPr>
            <p:cNvPr id="85039" name="Group 107"/>
            <p:cNvGrpSpPr>
              <a:grpSpLocks/>
            </p:cNvGrpSpPr>
            <p:nvPr/>
          </p:nvGrpSpPr>
          <p:grpSpPr bwMode="auto">
            <a:xfrm>
              <a:off x="2112" y="2208"/>
              <a:ext cx="480" cy="336"/>
              <a:chOff x="782" y="499"/>
              <a:chExt cx="2085" cy="926"/>
            </a:xfrm>
          </p:grpSpPr>
          <p:grpSp>
            <p:nvGrpSpPr>
              <p:cNvPr id="85042" name="Group 108"/>
              <p:cNvGrpSpPr>
                <a:grpSpLocks/>
              </p:cNvGrpSpPr>
              <p:nvPr/>
            </p:nvGrpSpPr>
            <p:grpSpPr bwMode="auto">
              <a:xfrm>
                <a:off x="782" y="506"/>
                <a:ext cx="700" cy="919"/>
                <a:chOff x="782" y="506"/>
                <a:chExt cx="700" cy="919"/>
              </a:xfrm>
            </p:grpSpPr>
            <p:sp>
              <p:nvSpPr>
                <p:cNvPr id="85049" name="Freeform 109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050" name="Freeform 110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043" name="Group 111"/>
              <p:cNvGrpSpPr>
                <a:grpSpLocks/>
              </p:cNvGrpSpPr>
              <p:nvPr/>
            </p:nvGrpSpPr>
            <p:grpSpPr bwMode="auto">
              <a:xfrm>
                <a:off x="1477" y="499"/>
                <a:ext cx="700" cy="919"/>
                <a:chOff x="782" y="506"/>
                <a:chExt cx="700" cy="919"/>
              </a:xfrm>
            </p:grpSpPr>
            <p:sp>
              <p:nvSpPr>
                <p:cNvPr id="85047" name="Freeform 112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048" name="Freeform 113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044" name="Group 114"/>
              <p:cNvGrpSpPr>
                <a:grpSpLocks/>
              </p:cNvGrpSpPr>
              <p:nvPr/>
            </p:nvGrpSpPr>
            <p:grpSpPr bwMode="auto">
              <a:xfrm>
                <a:off x="2167" y="505"/>
                <a:ext cx="700" cy="919"/>
                <a:chOff x="782" y="506"/>
                <a:chExt cx="700" cy="919"/>
              </a:xfrm>
            </p:grpSpPr>
            <p:sp>
              <p:nvSpPr>
                <p:cNvPr id="85045" name="Freeform 115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046" name="Freeform 116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5040" name="Line 148"/>
            <p:cNvSpPr>
              <a:spLocks noChangeShapeType="1"/>
            </p:cNvSpPr>
            <p:nvPr/>
          </p:nvSpPr>
          <p:spPr bwMode="auto">
            <a:xfrm>
              <a:off x="2064" y="238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1" name="Text Box 149"/>
            <p:cNvSpPr txBox="1">
              <a:spLocks noChangeArrowheads="1"/>
            </p:cNvSpPr>
            <p:nvPr/>
          </p:nvSpPr>
          <p:spPr bwMode="auto">
            <a:xfrm>
              <a:off x="1565" y="2261"/>
              <a:ext cx="5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+0.7 V</a:t>
              </a:r>
            </a:p>
          </p:txBody>
        </p:sp>
      </p:grpSp>
      <p:sp>
        <p:nvSpPr>
          <p:cNvPr id="85038" name="Text Box 111"/>
          <p:cNvSpPr txBox="1">
            <a:spLocks noChangeArrowheads="1"/>
          </p:cNvSpPr>
          <p:nvPr/>
        </p:nvSpPr>
        <p:spPr bwMode="auto">
          <a:xfrm>
            <a:off x="1843088" y="136525"/>
            <a:ext cx="84620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</a:rPr>
              <a:t>A base-biased amplifier with </a:t>
            </a:r>
            <a:r>
              <a:rPr lang="en-US" altLang="en-US" sz="2800" b="1">
                <a:solidFill>
                  <a:srgbClr val="00FF00"/>
                </a:solidFill>
                <a:latin typeface="Arial" panose="020B0604020202020204" pitchFamily="34" charset="0"/>
              </a:rPr>
              <a:t>capacitive</a:t>
            </a:r>
            <a:r>
              <a:rPr lang="en-US" altLang="en-US" sz="2800" b="1">
                <a:latin typeface="Arial" panose="020B0604020202020204" pitchFamily="34" charset="0"/>
              </a:rPr>
              <a:t> coupling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3" grpId="0" animBg="1"/>
      <p:bldP spid="4165" grpId="0" animBg="1"/>
      <p:bldP spid="4166" grpId="0" animBg="1"/>
      <p:bldP spid="4190" grpId="0" animBg="1"/>
      <p:bldP spid="4195" grpId="0" animBg="1"/>
      <p:bldP spid="4196" grpId="0" animBg="1"/>
      <p:bldP spid="4197" grpId="0" animBg="1"/>
      <p:bldP spid="4204" grpId="0"/>
      <p:bldP spid="4205" grpId="0"/>
      <p:bldP spid="4206" grpId="0" autoUpdateAnimBg="0"/>
      <p:bldP spid="4208" grpId="0" animBg="1"/>
      <p:bldP spid="4209" grpId="0" animBg="1"/>
      <p:bldP spid="5" grpId="0"/>
      <p:bldP spid="1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7" name="Group 67"/>
          <p:cNvGrpSpPr>
            <a:grpSpLocks/>
          </p:cNvGrpSpPr>
          <p:nvPr/>
        </p:nvGrpSpPr>
        <p:grpSpPr bwMode="auto">
          <a:xfrm>
            <a:off x="4767264" y="811213"/>
            <a:ext cx="3309937" cy="5334000"/>
            <a:chOff x="1728" y="480"/>
            <a:chExt cx="2085" cy="3360"/>
          </a:xfrm>
        </p:grpSpPr>
        <p:grpSp>
          <p:nvGrpSpPr>
            <p:cNvPr id="87069" name="Group 3"/>
            <p:cNvGrpSpPr>
              <a:grpSpLocks/>
            </p:cNvGrpSpPr>
            <p:nvPr/>
          </p:nvGrpSpPr>
          <p:grpSpPr bwMode="auto">
            <a:xfrm>
              <a:off x="1728" y="480"/>
              <a:ext cx="2085" cy="432"/>
              <a:chOff x="782" y="499"/>
              <a:chExt cx="2085" cy="926"/>
            </a:xfrm>
          </p:grpSpPr>
          <p:grpSp>
            <p:nvGrpSpPr>
              <p:cNvPr id="87090" name="Group 4"/>
              <p:cNvGrpSpPr>
                <a:grpSpLocks/>
              </p:cNvGrpSpPr>
              <p:nvPr/>
            </p:nvGrpSpPr>
            <p:grpSpPr bwMode="auto">
              <a:xfrm>
                <a:off x="782" y="506"/>
                <a:ext cx="700" cy="919"/>
                <a:chOff x="782" y="506"/>
                <a:chExt cx="700" cy="919"/>
              </a:xfrm>
            </p:grpSpPr>
            <p:sp>
              <p:nvSpPr>
                <p:cNvPr id="87097" name="Freeform 5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98" name="Freeform 6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091" name="Group 7"/>
              <p:cNvGrpSpPr>
                <a:grpSpLocks/>
              </p:cNvGrpSpPr>
              <p:nvPr/>
            </p:nvGrpSpPr>
            <p:grpSpPr bwMode="auto">
              <a:xfrm>
                <a:off x="1477" y="499"/>
                <a:ext cx="700" cy="919"/>
                <a:chOff x="782" y="506"/>
                <a:chExt cx="700" cy="919"/>
              </a:xfrm>
            </p:grpSpPr>
            <p:sp>
              <p:nvSpPr>
                <p:cNvPr id="87095" name="Freeform 8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96" name="Freeform 9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092" name="Group 10"/>
              <p:cNvGrpSpPr>
                <a:grpSpLocks/>
              </p:cNvGrpSpPr>
              <p:nvPr/>
            </p:nvGrpSpPr>
            <p:grpSpPr bwMode="auto">
              <a:xfrm>
                <a:off x="2167" y="505"/>
                <a:ext cx="700" cy="919"/>
                <a:chOff x="782" y="506"/>
                <a:chExt cx="700" cy="919"/>
              </a:xfrm>
            </p:grpSpPr>
            <p:sp>
              <p:nvSpPr>
                <p:cNvPr id="87093" name="Freeform 11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94" name="Freeform 12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7070" name="Group 26"/>
            <p:cNvGrpSpPr>
              <a:grpSpLocks/>
            </p:cNvGrpSpPr>
            <p:nvPr/>
          </p:nvGrpSpPr>
          <p:grpSpPr bwMode="auto">
            <a:xfrm>
              <a:off x="1728" y="1920"/>
              <a:ext cx="2085" cy="480"/>
              <a:chOff x="782" y="499"/>
              <a:chExt cx="2085" cy="926"/>
            </a:xfrm>
          </p:grpSpPr>
          <p:grpSp>
            <p:nvGrpSpPr>
              <p:cNvPr id="87081" name="Group 27"/>
              <p:cNvGrpSpPr>
                <a:grpSpLocks/>
              </p:cNvGrpSpPr>
              <p:nvPr/>
            </p:nvGrpSpPr>
            <p:grpSpPr bwMode="auto">
              <a:xfrm>
                <a:off x="782" y="506"/>
                <a:ext cx="700" cy="919"/>
                <a:chOff x="782" y="506"/>
                <a:chExt cx="700" cy="919"/>
              </a:xfrm>
            </p:grpSpPr>
            <p:sp>
              <p:nvSpPr>
                <p:cNvPr id="87088" name="Freeform 28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89" name="Freeform 29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082" name="Group 30"/>
              <p:cNvGrpSpPr>
                <a:grpSpLocks/>
              </p:cNvGrpSpPr>
              <p:nvPr/>
            </p:nvGrpSpPr>
            <p:grpSpPr bwMode="auto">
              <a:xfrm>
                <a:off x="1477" y="499"/>
                <a:ext cx="700" cy="919"/>
                <a:chOff x="782" y="506"/>
                <a:chExt cx="700" cy="919"/>
              </a:xfrm>
            </p:grpSpPr>
            <p:sp>
              <p:nvSpPr>
                <p:cNvPr id="87086" name="Freeform 31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87" name="Freeform 32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083" name="Group 33"/>
              <p:cNvGrpSpPr>
                <a:grpSpLocks/>
              </p:cNvGrpSpPr>
              <p:nvPr/>
            </p:nvGrpSpPr>
            <p:grpSpPr bwMode="auto">
              <a:xfrm>
                <a:off x="2167" y="505"/>
                <a:ext cx="700" cy="919"/>
                <a:chOff x="782" y="506"/>
                <a:chExt cx="700" cy="919"/>
              </a:xfrm>
            </p:grpSpPr>
            <p:sp>
              <p:nvSpPr>
                <p:cNvPr id="87084" name="Freeform 34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85" name="Freeform 35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7071" name="Group 36"/>
            <p:cNvGrpSpPr>
              <a:grpSpLocks/>
            </p:cNvGrpSpPr>
            <p:nvPr/>
          </p:nvGrpSpPr>
          <p:grpSpPr bwMode="auto">
            <a:xfrm flipV="1">
              <a:off x="1728" y="3360"/>
              <a:ext cx="2085" cy="480"/>
              <a:chOff x="782" y="499"/>
              <a:chExt cx="2085" cy="926"/>
            </a:xfrm>
          </p:grpSpPr>
          <p:grpSp>
            <p:nvGrpSpPr>
              <p:cNvPr id="87072" name="Group 37"/>
              <p:cNvGrpSpPr>
                <a:grpSpLocks/>
              </p:cNvGrpSpPr>
              <p:nvPr/>
            </p:nvGrpSpPr>
            <p:grpSpPr bwMode="auto">
              <a:xfrm>
                <a:off x="782" y="506"/>
                <a:ext cx="700" cy="919"/>
                <a:chOff x="782" y="506"/>
                <a:chExt cx="700" cy="919"/>
              </a:xfrm>
            </p:grpSpPr>
            <p:sp>
              <p:nvSpPr>
                <p:cNvPr id="87079" name="Freeform 38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80" name="Freeform 39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073" name="Group 40"/>
              <p:cNvGrpSpPr>
                <a:grpSpLocks/>
              </p:cNvGrpSpPr>
              <p:nvPr/>
            </p:nvGrpSpPr>
            <p:grpSpPr bwMode="auto">
              <a:xfrm>
                <a:off x="1477" y="499"/>
                <a:ext cx="700" cy="919"/>
                <a:chOff x="782" y="506"/>
                <a:chExt cx="700" cy="919"/>
              </a:xfrm>
            </p:grpSpPr>
            <p:sp>
              <p:nvSpPr>
                <p:cNvPr id="87077" name="Freeform 41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78" name="Freeform 42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074" name="Group 43"/>
              <p:cNvGrpSpPr>
                <a:grpSpLocks/>
              </p:cNvGrpSpPr>
              <p:nvPr/>
            </p:nvGrpSpPr>
            <p:grpSpPr bwMode="auto">
              <a:xfrm>
                <a:off x="2167" y="505"/>
                <a:ext cx="700" cy="919"/>
                <a:chOff x="782" y="506"/>
                <a:chExt cx="700" cy="919"/>
              </a:xfrm>
            </p:grpSpPr>
            <p:sp>
              <p:nvSpPr>
                <p:cNvPr id="87075" name="Freeform 44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076" name="Freeform 45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87043" name="Group 48"/>
          <p:cNvGrpSpPr>
            <a:grpSpLocks/>
          </p:cNvGrpSpPr>
          <p:nvPr/>
        </p:nvGrpSpPr>
        <p:grpSpPr bwMode="auto">
          <a:xfrm>
            <a:off x="4767263" y="277813"/>
            <a:ext cx="3886200" cy="1905000"/>
            <a:chOff x="432" y="192"/>
            <a:chExt cx="2448" cy="1200"/>
          </a:xfrm>
        </p:grpSpPr>
        <p:sp>
          <p:nvSpPr>
            <p:cNvPr id="87067" name="Line 46"/>
            <p:cNvSpPr>
              <a:spLocks noChangeShapeType="1"/>
            </p:cNvSpPr>
            <p:nvPr/>
          </p:nvSpPr>
          <p:spPr bwMode="auto">
            <a:xfrm>
              <a:off x="432" y="19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068" name="Line 47"/>
            <p:cNvSpPr>
              <a:spLocks noChangeShapeType="1"/>
            </p:cNvSpPr>
            <p:nvPr/>
          </p:nvSpPr>
          <p:spPr bwMode="auto">
            <a:xfrm>
              <a:off x="432" y="1392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7044" name="Group 49"/>
          <p:cNvGrpSpPr>
            <a:grpSpLocks/>
          </p:cNvGrpSpPr>
          <p:nvPr/>
        </p:nvGrpSpPr>
        <p:grpSpPr bwMode="auto">
          <a:xfrm>
            <a:off x="4767263" y="2563813"/>
            <a:ext cx="3886200" cy="1905000"/>
            <a:chOff x="432" y="192"/>
            <a:chExt cx="2448" cy="1200"/>
          </a:xfrm>
        </p:grpSpPr>
        <p:sp>
          <p:nvSpPr>
            <p:cNvPr id="87065" name="Line 50"/>
            <p:cNvSpPr>
              <a:spLocks noChangeShapeType="1"/>
            </p:cNvSpPr>
            <p:nvPr/>
          </p:nvSpPr>
          <p:spPr bwMode="auto">
            <a:xfrm>
              <a:off x="432" y="19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066" name="Line 51"/>
            <p:cNvSpPr>
              <a:spLocks noChangeShapeType="1"/>
            </p:cNvSpPr>
            <p:nvPr/>
          </p:nvSpPr>
          <p:spPr bwMode="auto">
            <a:xfrm>
              <a:off x="432" y="1392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7045" name="Group 52"/>
          <p:cNvGrpSpPr>
            <a:grpSpLocks/>
          </p:cNvGrpSpPr>
          <p:nvPr/>
        </p:nvGrpSpPr>
        <p:grpSpPr bwMode="auto">
          <a:xfrm>
            <a:off x="4767263" y="4773613"/>
            <a:ext cx="3886200" cy="1905000"/>
            <a:chOff x="432" y="192"/>
            <a:chExt cx="2448" cy="1200"/>
          </a:xfrm>
        </p:grpSpPr>
        <p:sp>
          <p:nvSpPr>
            <p:cNvPr id="87063" name="Line 53"/>
            <p:cNvSpPr>
              <a:spLocks noChangeShapeType="1"/>
            </p:cNvSpPr>
            <p:nvPr/>
          </p:nvSpPr>
          <p:spPr bwMode="auto">
            <a:xfrm>
              <a:off x="432" y="19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064" name="Line 54"/>
            <p:cNvSpPr>
              <a:spLocks noChangeShapeType="1"/>
            </p:cNvSpPr>
            <p:nvPr/>
          </p:nvSpPr>
          <p:spPr bwMode="auto">
            <a:xfrm>
              <a:off x="432" y="1392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75" name="Line 55"/>
          <p:cNvSpPr>
            <a:spLocks noChangeShapeType="1"/>
          </p:cNvSpPr>
          <p:nvPr/>
        </p:nvSpPr>
        <p:spPr bwMode="auto">
          <a:xfrm>
            <a:off x="4767263" y="1160463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6" name="Line 56"/>
          <p:cNvSpPr>
            <a:spLocks noChangeShapeType="1"/>
          </p:cNvSpPr>
          <p:nvPr/>
        </p:nvSpPr>
        <p:spPr bwMode="auto">
          <a:xfrm>
            <a:off x="4767263" y="3475038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7" name="Line 57"/>
          <p:cNvSpPr>
            <a:spLocks noChangeShapeType="1"/>
          </p:cNvSpPr>
          <p:nvPr/>
        </p:nvSpPr>
        <p:spPr bwMode="auto">
          <a:xfrm>
            <a:off x="4767263" y="5776913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9" name="Text Box 58"/>
          <p:cNvSpPr txBox="1">
            <a:spLocks noChangeArrowheads="1"/>
          </p:cNvSpPr>
          <p:nvPr/>
        </p:nvSpPr>
        <p:spPr bwMode="auto">
          <a:xfrm>
            <a:off x="8613775" y="1954213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87050" name="Text Box 59"/>
          <p:cNvSpPr txBox="1">
            <a:spLocks noChangeArrowheads="1"/>
          </p:cNvSpPr>
          <p:nvPr/>
        </p:nvSpPr>
        <p:spPr bwMode="auto">
          <a:xfrm>
            <a:off x="8621713" y="4224338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87051" name="Text Box 60"/>
          <p:cNvSpPr txBox="1">
            <a:spLocks noChangeArrowheads="1"/>
          </p:cNvSpPr>
          <p:nvPr/>
        </p:nvSpPr>
        <p:spPr bwMode="auto">
          <a:xfrm>
            <a:off x="8637588" y="6434138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052" name="Text Box 61"/>
              <p:cNvSpPr txBox="1">
                <a:spLocks noChangeArrowheads="1"/>
              </p:cNvSpPr>
              <p:nvPr/>
            </p:nvSpPr>
            <p:spPr bwMode="auto">
              <a:xfrm>
                <a:off x="4389439" y="17463"/>
                <a:ext cx="439159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en-US" sz="1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7052" name="Text 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9439" y="17463"/>
                <a:ext cx="43915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053" name="Text Box 62"/>
              <p:cNvSpPr txBox="1">
                <a:spLocks noChangeArrowheads="1"/>
              </p:cNvSpPr>
              <p:nvPr/>
            </p:nvSpPr>
            <p:spPr bwMode="auto">
              <a:xfrm>
                <a:off x="4346576" y="2335213"/>
                <a:ext cx="43082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altLang="en-US" sz="1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7053" name="Text 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6576" y="2335213"/>
                <a:ext cx="43082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054" name="Text Box 63"/>
              <p:cNvSpPr txBox="1">
                <a:spLocks noChangeArrowheads="1"/>
              </p:cNvSpPr>
              <p:nvPr/>
            </p:nvSpPr>
            <p:spPr bwMode="auto">
              <a:xfrm>
                <a:off x="4271964" y="4500563"/>
                <a:ext cx="47987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1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altLang="en-US" sz="1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7054" name="Text 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1964" y="4500563"/>
                <a:ext cx="4798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84" name="Text Box 64"/>
              <p:cNvSpPr txBox="1">
                <a:spLocks noChangeArrowheads="1"/>
              </p:cNvSpPr>
              <p:nvPr/>
            </p:nvSpPr>
            <p:spPr bwMode="auto">
              <a:xfrm>
                <a:off x="3360694" y="914401"/>
                <a:ext cx="1363707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en-US" sz="1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altLang="en-US" sz="1800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1800" dirty="0">
                    <a:solidFill>
                      <a:srgbClr val="000000"/>
                    </a:solidFill>
                  </a:rPr>
                  <a:t>29.3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m</a:t>
                </a:r>
                <a:r>
                  <a:rPr lang="en-US" altLang="en-US" sz="1800" dirty="0">
                    <a:solidFill>
                      <a:srgbClr val="000000"/>
                    </a:solidFill>
                  </a:rPr>
                  <a:t>A (</a:t>
                </a:r>
                <a:r>
                  <a:rPr lang="en-US" sz="1800" dirty="0">
                    <a:solidFill>
                      <a:srgbClr val="FF0000"/>
                    </a:solidFill>
                  </a:rPr>
                  <a:t>Only DC</a:t>
                </a:r>
                <a:r>
                  <a:rPr lang="en-US" altLang="en-US" sz="1800" dirty="0">
                    <a:solidFill>
                      <a:srgbClr val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184" name="Text 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0694" y="914401"/>
                <a:ext cx="1363707" cy="646331"/>
              </a:xfrm>
              <a:prstGeom prst="rect">
                <a:avLst/>
              </a:prstGeom>
              <a:blipFill>
                <a:blip r:embed="rId5"/>
                <a:stretch>
                  <a:fillRect l="-3571" t="-6604" r="-5804" b="-141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85" name="Text Box 65"/>
          <p:cNvSpPr txBox="1">
            <a:spLocks noChangeArrowheads="1"/>
          </p:cNvSpPr>
          <p:nvPr/>
        </p:nvSpPr>
        <p:spPr bwMode="auto">
          <a:xfrm>
            <a:off x="3775076" y="3278188"/>
            <a:ext cx="9636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2.93 mA</a:t>
            </a:r>
          </a:p>
        </p:txBody>
      </p:sp>
      <p:sp>
        <p:nvSpPr>
          <p:cNvPr id="5186" name="Text Box 66"/>
          <p:cNvSpPr txBox="1">
            <a:spLocks noChangeArrowheads="1"/>
          </p:cNvSpPr>
          <p:nvPr/>
        </p:nvSpPr>
        <p:spPr bwMode="auto">
          <a:xfrm>
            <a:off x="3944938" y="5535614"/>
            <a:ext cx="10080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15.35 V</a:t>
            </a:r>
          </a:p>
        </p:txBody>
      </p:sp>
      <p:sp>
        <p:nvSpPr>
          <p:cNvPr id="87058" name="Text Box 68"/>
          <p:cNvSpPr txBox="1">
            <a:spLocks noChangeArrowheads="1"/>
          </p:cNvSpPr>
          <p:nvPr/>
        </p:nvSpPr>
        <p:spPr bwMode="auto">
          <a:xfrm>
            <a:off x="8729663" y="928688"/>
            <a:ext cx="228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Base current</a:t>
            </a:r>
          </a:p>
        </p:txBody>
      </p:sp>
      <p:sp>
        <p:nvSpPr>
          <p:cNvPr id="87059" name="Text Box 69"/>
          <p:cNvSpPr txBox="1">
            <a:spLocks noChangeArrowheads="1"/>
          </p:cNvSpPr>
          <p:nvPr/>
        </p:nvSpPr>
        <p:spPr bwMode="auto">
          <a:xfrm>
            <a:off x="8577263" y="3173413"/>
            <a:ext cx="2590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Collector current</a:t>
            </a:r>
          </a:p>
        </p:txBody>
      </p:sp>
      <p:sp>
        <p:nvSpPr>
          <p:cNvPr id="87060" name="Text Box 70"/>
          <p:cNvSpPr txBox="1">
            <a:spLocks noChangeArrowheads="1"/>
          </p:cNvSpPr>
          <p:nvPr/>
        </p:nvSpPr>
        <p:spPr bwMode="auto">
          <a:xfrm>
            <a:off x="8653463" y="5500688"/>
            <a:ext cx="228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87061" name="Text Box 71"/>
          <p:cNvSpPr txBox="1">
            <a:spLocks noChangeArrowheads="1"/>
          </p:cNvSpPr>
          <p:nvPr/>
        </p:nvSpPr>
        <p:spPr bwMode="auto">
          <a:xfrm>
            <a:off x="8577263" y="5535613"/>
            <a:ext cx="2590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Collector voltage</a:t>
            </a:r>
          </a:p>
        </p:txBody>
      </p:sp>
      <p:sp>
        <p:nvSpPr>
          <p:cNvPr id="87062" name="TextBox 4"/>
          <p:cNvSpPr txBox="1">
            <a:spLocks noChangeArrowheads="1"/>
          </p:cNvSpPr>
          <p:nvPr/>
        </p:nvSpPr>
        <p:spPr bwMode="auto">
          <a:xfrm>
            <a:off x="1663701" y="1804989"/>
            <a:ext cx="16373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Waveforms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421438" y="386795"/>
                <a:ext cx="14378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srgbClr val="000000"/>
                    </a:solidFill>
                  </a:rPr>
                  <a:t> (</a:t>
                </a:r>
                <a:r>
                  <a:rPr lang="en-US" dirty="0">
                    <a:solidFill>
                      <a:srgbClr val="FF0000"/>
                    </a:solidFill>
                  </a:rPr>
                  <a:t>Only AC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438" y="386795"/>
                <a:ext cx="1437894" cy="369332"/>
              </a:xfrm>
              <a:prstGeom prst="rect">
                <a:avLst/>
              </a:prstGeom>
              <a:blipFill>
                <a:blip r:embed="rId6"/>
                <a:stretch>
                  <a:fillRect t="-8197" r="-29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>
            <a:endCxn id="3" idx="1"/>
          </p:cNvCxnSpPr>
          <p:nvPr/>
        </p:nvCxnSpPr>
        <p:spPr>
          <a:xfrm flipV="1">
            <a:off x="6150770" y="571461"/>
            <a:ext cx="270669" cy="23975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52600" y="2423150"/>
                <a:ext cx="1826334" cy="19389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altLang="en-US" sz="2400" i="1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Only DC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altLang="en-US" sz="2400" i="1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Only AC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altLang="en-US" sz="2400" i="1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DC + AC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423150"/>
                <a:ext cx="1826334" cy="1938992"/>
              </a:xfrm>
              <a:prstGeom prst="rect">
                <a:avLst/>
              </a:prstGeom>
              <a:blipFill>
                <a:blip r:embed="rId7"/>
                <a:stretch>
                  <a:fillRect l="-1003" t="-2194" r="-4013" b="-6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5" grpId="0" animBg="1"/>
      <p:bldP spid="5176" grpId="0" animBg="1"/>
      <p:bldP spid="5177" grpId="0" animBg="1"/>
      <p:bldP spid="5184" grpId="0" autoUpdateAnimBg="0"/>
      <p:bldP spid="5185" grpId="0" autoUpdateAnimBg="0"/>
      <p:bldP spid="518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Text Box 218"/>
          <p:cNvSpPr txBox="1">
            <a:spLocks noChangeArrowheads="1"/>
          </p:cNvSpPr>
          <p:nvPr/>
        </p:nvSpPr>
        <p:spPr bwMode="auto">
          <a:xfrm rot="-5400000">
            <a:off x="5279232" y="1461294"/>
            <a:ext cx="2914650" cy="691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800" dirty="0">
                <a:solidFill>
                  <a:srgbClr val="808080"/>
                </a:solidFill>
              </a:rPr>
              <a:t>{</a:t>
            </a:r>
          </a:p>
        </p:txBody>
      </p:sp>
      <p:sp>
        <p:nvSpPr>
          <p:cNvPr id="88067" name="Text Box 136"/>
          <p:cNvSpPr txBox="1">
            <a:spLocks noChangeArrowheads="1"/>
          </p:cNvSpPr>
          <p:nvPr/>
        </p:nvSpPr>
        <p:spPr bwMode="auto">
          <a:xfrm>
            <a:off x="3962400" y="0"/>
            <a:ext cx="4679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3333CC"/>
                </a:solidFill>
              </a:rPr>
              <a:t>The coupling capacitor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9" name="Text Box 137"/>
              <p:cNvSpPr txBox="1">
                <a:spLocks noChangeArrowheads="1"/>
              </p:cNvSpPr>
              <p:nvPr/>
            </p:nvSpPr>
            <p:spPr bwMode="auto">
              <a:xfrm>
                <a:off x="1524000" y="773113"/>
                <a:ext cx="3276600" cy="7981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800" b="1" dirty="0">
                    <a:solidFill>
                      <a:srgbClr val="FF0000"/>
                    </a:solidFill>
                  </a:rPr>
                  <a:t>Capacitor current,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  <m:f>
                      <m:f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𝑑𝑣</m:t>
                        </m:r>
                      </m:num>
                      <m:den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altLang="en-US" sz="2800" dirty="0">
                  <a:solidFill>
                    <a:srgbClr val="000000"/>
                  </a:solidFill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US" altLang="en-US" sz="2800" dirty="0">
                  <a:solidFill>
                    <a:srgbClr val="000000"/>
                  </a:solidFill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2800" b="1" dirty="0">
                    <a:solidFill>
                      <a:srgbClr val="FF0000"/>
                    </a:solidFill>
                  </a:rPr>
                  <a:t>DC Analysis: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en-US" altLang="en-US" sz="2800" b="1" dirty="0">
                    <a:solidFill>
                      <a:srgbClr val="FF0000"/>
                    </a:solidFill>
                  </a:rPr>
                  <a:t> is fixed.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𝑑𝑣</m:t>
                        </m:r>
                      </m:num>
                      <m:den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n-US" altLang="en-US" sz="28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=0.</m:t>
                    </m:r>
                  </m:oMath>
                </a14:m>
                <a:r>
                  <a:rPr lang="en-US" altLang="en-US" sz="2800" b="1" dirty="0">
                    <a:solidFill>
                      <a:srgbClr val="FF0000"/>
                    </a:solidFill>
                  </a:rPr>
                  <a:t> Open</a:t>
                </a:r>
              </a:p>
              <a:p>
                <a:pPr algn="ctr">
                  <a:spcBef>
                    <a:spcPct val="0"/>
                  </a:spcBef>
                  <a:buNone/>
                </a:pPr>
                <a:endParaRPr lang="en-US" altLang="en-US" sz="28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2800" b="1" dirty="0">
                    <a:solidFill>
                      <a:srgbClr val="FF0000"/>
                    </a:solidFill>
                  </a:rPr>
                  <a:t>AC Analysis: Reactance </a:t>
                </a:r>
                <a14:m>
                  <m:oMath xmlns:m="http://schemas.openxmlformats.org/officeDocument/2006/math">
                    <m:r>
                      <a:rPr lang="en-US" alt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  <m:r>
                      <a:rPr lang="en-US" alt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2 </m:t>
                        </m:r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𝜋</m:t>
                        </m:r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𝑓𝐶</m:t>
                        </m:r>
                      </m:den>
                    </m:f>
                  </m:oMath>
                </a14:m>
                <a:endParaRPr lang="en-US" altLang="en-US" sz="2800" i="1" dirty="0">
                  <a:solidFill>
                    <a:srgbClr val="000000"/>
                  </a:solidFill>
                  <a:latin typeface="Cambria Math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r>
                        <a:rPr lang="en-US" altLang="en-US" sz="28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en-US" sz="2800" i="1">
                          <a:solidFill>
                            <a:srgbClr val="000000"/>
                          </a:solidFill>
                          <a:latin typeface="Cambria Math"/>
                        </a:rPr>
                        <m:t>𝐿𝑎𝑟𝑔𝑒</m:t>
                      </m:r>
                    </m:oMath>
                  </m:oMathPara>
                </a14:m>
                <a:endParaRPr lang="en-US" altLang="en-US" sz="2800" dirty="0">
                  <a:solidFill>
                    <a:srgbClr val="000000"/>
                  </a:solidFill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28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𝑋</m:t>
                    </m:r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altLang="en-US" sz="2800" b="1" dirty="0">
                    <a:solidFill>
                      <a:srgbClr val="FF0000"/>
                    </a:solidFill>
                  </a:rPr>
                  <a:t>. Short </a:t>
                </a:r>
              </a:p>
              <a:p>
                <a:pPr algn="ctr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  <m:f>
                      <m:fPr>
                        <m:ctrlP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𝑑𝑣</m:t>
                        </m:r>
                      </m:num>
                      <m:den>
                        <m:r>
                          <a:rPr lang="en-US" altLang="en-US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altLang="en-US" sz="2800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2800" b="1" dirty="0">
                    <a:solidFill>
                      <a:srgbClr val="FF0000"/>
                    </a:solidFill>
                  </a:rPr>
                  <a:t> Large</a:t>
                </a:r>
              </a:p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2800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ctr">
                  <a:spcBef>
                    <a:spcPct val="0"/>
                  </a:spcBef>
                  <a:buNone/>
                </a:pPr>
                <a:endParaRPr lang="en-US" altLang="en-US" sz="28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endParaRPr lang="en-US" altLang="en-US" sz="2800" b="1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US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09" name="Text 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773113"/>
                <a:ext cx="3276600" cy="7981416"/>
              </a:xfrm>
              <a:prstGeom prst="rect">
                <a:avLst/>
              </a:prstGeom>
              <a:blipFill>
                <a:blip r:embed="rId3"/>
                <a:stretch>
                  <a:fillRect l="-3346" t="-840" r="-241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92" name="Group 220"/>
          <p:cNvGrpSpPr>
            <a:grpSpLocks/>
          </p:cNvGrpSpPr>
          <p:nvPr/>
        </p:nvGrpSpPr>
        <p:grpSpPr bwMode="auto">
          <a:xfrm>
            <a:off x="4940300" y="1489075"/>
            <a:ext cx="2527300" cy="2744788"/>
            <a:chOff x="2152" y="938"/>
            <a:chExt cx="1592" cy="1729"/>
          </a:xfrm>
        </p:grpSpPr>
        <p:grpSp>
          <p:nvGrpSpPr>
            <p:cNvPr id="88106" name="Group 145"/>
            <p:cNvGrpSpPr>
              <a:grpSpLocks/>
            </p:cNvGrpSpPr>
            <p:nvPr/>
          </p:nvGrpSpPr>
          <p:grpSpPr bwMode="auto">
            <a:xfrm>
              <a:off x="2165" y="1381"/>
              <a:ext cx="465" cy="465"/>
              <a:chOff x="2064" y="576"/>
              <a:chExt cx="465" cy="465"/>
            </a:xfrm>
          </p:grpSpPr>
          <p:sp>
            <p:nvSpPr>
              <p:cNvPr id="88134" name="Oval 146"/>
              <p:cNvSpPr>
                <a:spLocks noChangeArrowheads="1"/>
              </p:cNvSpPr>
              <p:nvPr/>
            </p:nvSpPr>
            <p:spPr bwMode="auto">
              <a:xfrm>
                <a:off x="2064" y="576"/>
                <a:ext cx="465" cy="46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88135" name="Freeform 147"/>
              <p:cNvSpPr>
                <a:spLocks/>
              </p:cNvSpPr>
              <p:nvPr/>
            </p:nvSpPr>
            <p:spPr bwMode="auto">
              <a:xfrm>
                <a:off x="2178" y="696"/>
                <a:ext cx="109" cy="114"/>
              </a:xfrm>
              <a:custGeom>
                <a:avLst/>
                <a:gdLst>
                  <a:gd name="T0" fmla="*/ 0 w 1066"/>
                  <a:gd name="T1" fmla="*/ 0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0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36" name="Freeform 148"/>
              <p:cNvSpPr>
                <a:spLocks/>
              </p:cNvSpPr>
              <p:nvPr/>
            </p:nvSpPr>
            <p:spPr bwMode="auto">
              <a:xfrm flipV="1">
                <a:off x="2287" y="805"/>
                <a:ext cx="109" cy="114"/>
              </a:xfrm>
              <a:custGeom>
                <a:avLst/>
                <a:gdLst>
                  <a:gd name="T0" fmla="*/ 0 w 1066"/>
                  <a:gd name="T1" fmla="*/ 0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0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8107" name="Group 149"/>
            <p:cNvGrpSpPr>
              <a:grpSpLocks/>
            </p:cNvGrpSpPr>
            <p:nvPr/>
          </p:nvGrpSpPr>
          <p:grpSpPr bwMode="auto">
            <a:xfrm rot="10800000">
              <a:off x="3236" y="1237"/>
              <a:ext cx="208" cy="620"/>
              <a:chOff x="2000" y="1771"/>
              <a:chExt cx="208" cy="620"/>
            </a:xfrm>
          </p:grpSpPr>
          <p:sp>
            <p:nvSpPr>
              <p:cNvPr id="88127" name="Line 150"/>
              <p:cNvSpPr>
                <a:spLocks noChangeShapeType="1"/>
              </p:cNvSpPr>
              <p:nvPr/>
            </p:nvSpPr>
            <p:spPr bwMode="auto">
              <a:xfrm flipV="1">
                <a:off x="2001" y="1925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28" name="Line 151"/>
              <p:cNvSpPr>
                <a:spLocks noChangeShapeType="1"/>
              </p:cNvSpPr>
              <p:nvPr/>
            </p:nvSpPr>
            <p:spPr bwMode="auto">
              <a:xfrm flipV="1">
                <a:off x="2001" y="213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29" name="Line 152"/>
              <p:cNvSpPr>
                <a:spLocks noChangeShapeType="1"/>
              </p:cNvSpPr>
              <p:nvPr/>
            </p:nvSpPr>
            <p:spPr bwMode="auto">
              <a:xfrm flipH="1" flipV="1">
                <a:off x="2001" y="2028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30" name="Line 153"/>
              <p:cNvSpPr>
                <a:spLocks noChangeShapeType="1"/>
              </p:cNvSpPr>
              <p:nvPr/>
            </p:nvSpPr>
            <p:spPr bwMode="auto">
              <a:xfrm flipH="1" flipV="1">
                <a:off x="2001" y="2232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31" name="Line 154"/>
              <p:cNvSpPr>
                <a:spLocks noChangeShapeType="1"/>
              </p:cNvSpPr>
              <p:nvPr/>
            </p:nvSpPr>
            <p:spPr bwMode="auto">
              <a:xfrm flipH="1" flipV="1">
                <a:off x="2001" y="182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32" name="Freeform 155"/>
              <p:cNvSpPr>
                <a:spLocks/>
              </p:cNvSpPr>
              <p:nvPr/>
            </p:nvSpPr>
            <p:spPr bwMode="auto">
              <a:xfrm flipH="1">
                <a:off x="2101" y="2336"/>
                <a:ext cx="107" cy="55"/>
              </a:xfrm>
              <a:custGeom>
                <a:avLst/>
                <a:gdLst>
                  <a:gd name="T0" fmla="*/ 25 w 131"/>
                  <a:gd name="T1" fmla="*/ 12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33" name="Freeform 156"/>
              <p:cNvSpPr>
                <a:spLocks/>
              </p:cNvSpPr>
              <p:nvPr/>
            </p:nvSpPr>
            <p:spPr bwMode="auto">
              <a:xfrm flipH="1">
                <a:off x="2000" y="1771"/>
                <a:ext cx="100" cy="50"/>
              </a:xfrm>
              <a:custGeom>
                <a:avLst/>
                <a:gdLst>
                  <a:gd name="T0" fmla="*/ 15 w 131"/>
                  <a:gd name="T1" fmla="*/ 6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8108" name="Group 157"/>
            <p:cNvGrpSpPr>
              <a:grpSpLocks/>
            </p:cNvGrpSpPr>
            <p:nvPr/>
          </p:nvGrpSpPr>
          <p:grpSpPr bwMode="auto">
            <a:xfrm>
              <a:off x="2152" y="2101"/>
              <a:ext cx="480" cy="192"/>
              <a:chOff x="1261" y="2969"/>
              <a:chExt cx="480" cy="192"/>
            </a:xfrm>
          </p:grpSpPr>
          <p:sp>
            <p:nvSpPr>
              <p:cNvPr id="88124" name="Line 158"/>
              <p:cNvSpPr>
                <a:spLocks noChangeShapeType="1"/>
              </p:cNvSpPr>
              <p:nvPr/>
            </p:nvSpPr>
            <p:spPr bwMode="auto">
              <a:xfrm>
                <a:off x="1261" y="2969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25" name="Line 159"/>
              <p:cNvSpPr>
                <a:spLocks noChangeShapeType="1"/>
              </p:cNvSpPr>
              <p:nvPr/>
            </p:nvSpPr>
            <p:spPr bwMode="auto">
              <a:xfrm>
                <a:off x="1357" y="3065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26" name="Line 160"/>
              <p:cNvSpPr>
                <a:spLocks noChangeShapeType="1"/>
              </p:cNvSpPr>
              <p:nvPr/>
            </p:nvSpPr>
            <p:spPr bwMode="auto">
              <a:xfrm>
                <a:off x="1453" y="3161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8109" name="Line 161"/>
            <p:cNvSpPr>
              <a:spLocks noChangeShapeType="1"/>
            </p:cNvSpPr>
            <p:nvPr/>
          </p:nvSpPr>
          <p:spPr bwMode="auto">
            <a:xfrm>
              <a:off x="3348" y="1861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8110" name="Group 162"/>
            <p:cNvGrpSpPr>
              <a:grpSpLocks/>
            </p:cNvGrpSpPr>
            <p:nvPr/>
          </p:nvGrpSpPr>
          <p:grpSpPr bwMode="auto">
            <a:xfrm>
              <a:off x="3092" y="2101"/>
              <a:ext cx="480" cy="192"/>
              <a:chOff x="1261" y="2969"/>
              <a:chExt cx="480" cy="192"/>
            </a:xfrm>
          </p:grpSpPr>
          <p:sp>
            <p:nvSpPr>
              <p:cNvPr id="88121" name="Line 163"/>
              <p:cNvSpPr>
                <a:spLocks noChangeShapeType="1"/>
              </p:cNvSpPr>
              <p:nvPr/>
            </p:nvSpPr>
            <p:spPr bwMode="auto">
              <a:xfrm>
                <a:off x="1261" y="2969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22" name="Line 164"/>
              <p:cNvSpPr>
                <a:spLocks noChangeShapeType="1"/>
              </p:cNvSpPr>
              <p:nvPr/>
            </p:nvSpPr>
            <p:spPr bwMode="auto">
              <a:xfrm>
                <a:off x="1357" y="3065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23" name="Line 165"/>
              <p:cNvSpPr>
                <a:spLocks noChangeShapeType="1"/>
              </p:cNvSpPr>
              <p:nvPr/>
            </p:nvSpPr>
            <p:spPr bwMode="auto">
              <a:xfrm>
                <a:off x="1453" y="3161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8111" name="Line 166"/>
            <p:cNvSpPr>
              <a:spLocks noChangeShapeType="1"/>
            </p:cNvSpPr>
            <p:nvPr/>
          </p:nvSpPr>
          <p:spPr bwMode="auto">
            <a:xfrm>
              <a:off x="3342" y="1005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112" name="Line 167"/>
            <p:cNvSpPr>
              <a:spLocks noChangeShapeType="1"/>
            </p:cNvSpPr>
            <p:nvPr/>
          </p:nvSpPr>
          <p:spPr bwMode="auto">
            <a:xfrm flipH="1">
              <a:off x="2412" y="1007"/>
              <a:ext cx="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113" name="Line 168"/>
            <p:cNvSpPr>
              <a:spLocks noChangeShapeType="1"/>
            </p:cNvSpPr>
            <p:nvPr/>
          </p:nvSpPr>
          <p:spPr bwMode="auto">
            <a:xfrm flipH="1">
              <a:off x="3168" y="1007"/>
              <a:ext cx="1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114" name="Line 169"/>
            <p:cNvSpPr>
              <a:spLocks noChangeShapeType="1"/>
            </p:cNvSpPr>
            <p:nvPr/>
          </p:nvSpPr>
          <p:spPr bwMode="auto">
            <a:xfrm>
              <a:off x="2402" y="997"/>
              <a:ext cx="0" cy="3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115" name="Line 170"/>
            <p:cNvSpPr>
              <a:spLocks noChangeShapeType="1"/>
            </p:cNvSpPr>
            <p:nvPr/>
          </p:nvSpPr>
          <p:spPr bwMode="auto">
            <a:xfrm>
              <a:off x="2392" y="1861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116" name="Text Box 172"/>
            <p:cNvSpPr txBox="1">
              <a:spLocks noChangeArrowheads="1"/>
            </p:cNvSpPr>
            <p:nvPr/>
          </p:nvSpPr>
          <p:spPr bwMode="auto">
            <a:xfrm>
              <a:off x="3466" y="1375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88117" name="Oval 205"/>
            <p:cNvSpPr>
              <a:spLocks noChangeArrowheads="1"/>
            </p:cNvSpPr>
            <p:nvPr/>
          </p:nvSpPr>
          <p:spPr bwMode="auto">
            <a:xfrm>
              <a:off x="2592" y="938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18" name="Oval 206"/>
            <p:cNvSpPr>
              <a:spLocks noChangeArrowheads="1"/>
            </p:cNvSpPr>
            <p:nvPr/>
          </p:nvSpPr>
          <p:spPr bwMode="auto">
            <a:xfrm>
              <a:off x="3024" y="938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19" name="Line 214"/>
            <p:cNvSpPr>
              <a:spLocks noChangeShapeType="1"/>
            </p:cNvSpPr>
            <p:nvPr/>
          </p:nvSpPr>
          <p:spPr bwMode="auto">
            <a:xfrm>
              <a:off x="2736" y="101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120" name="Text Box 216"/>
            <p:cNvSpPr txBox="1">
              <a:spLocks noChangeArrowheads="1"/>
            </p:cNvSpPr>
            <p:nvPr/>
          </p:nvSpPr>
          <p:spPr bwMode="auto">
            <a:xfrm>
              <a:off x="2438" y="2340"/>
              <a:ext cx="9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</a:rPr>
                <a:t>SHORT</a:t>
              </a:r>
            </a:p>
          </p:txBody>
        </p:sp>
      </p:grpSp>
      <p:grpSp>
        <p:nvGrpSpPr>
          <p:cNvPr id="3293" name="Group 221"/>
          <p:cNvGrpSpPr>
            <a:grpSpLocks/>
          </p:cNvGrpSpPr>
          <p:nvPr/>
        </p:nvGrpSpPr>
        <p:grpSpPr bwMode="auto">
          <a:xfrm>
            <a:off x="7696200" y="1368426"/>
            <a:ext cx="2527300" cy="2887663"/>
            <a:chOff x="3888" y="862"/>
            <a:chExt cx="1592" cy="1819"/>
          </a:xfrm>
        </p:grpSpPr>
        <p:grpSp>
          <p:nvGrpSpPr>
            <p:cNvPr id="88073" name="Group 73"/>
            <p:cNvGrpSpPr>
              <a:grpSpLocks/>
            </p:cNvGrpSpPr>
            <p:nvPr/>
          </p:nvGrpSpPr>
          <p:grpSpPr bwMode="auto">
            <a:xfrm rot="16200000" flipH="1">
              <a:off x="3978" y="1418"/>
              <a:ext cx="304" cy="387"/>
              <a:chOff x="864" y="1152"/>
              <a:chExt cx="417" cy="480"/>
            </a:xfrm>
          </p:grpSpPr>
          <p:sp>
            <p:nvSpPr>
              <p:cNvPr id="88102" name="Line 74"/>
              <p:cNvSpPr>
                <a:spLocks noChangeShapeType="1"/>
              </p:cNvSpPr>
              <p:nvPr/>
            </p:nvSpPr>
            <p:spPr bwMode="auto">
              <a:xfrm>
                <a:off x="864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03" name="Line 75"/>
              <p:cNvSpPr>
                <a:spLocks noChangeShapeType="1"/>
              </p:cNvSpPr>
              <p:nvPr/>
            </p:nvSpPr>
            <p:spPr bwMode="auto">
              <a:xfrm>
                <a:off x="1152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04" name="Line 76"/>
              <p:cNvSpPr>
                <a:spLocks noChangeShapeType="1"/>
              </p:cNvSpPr>
              <p:nvPr/>
            </p:nvSpPr>
            <p:spPr bwMode="auto">
              <a:xfrm>
                <a:off x="1281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05" name="Line 77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8074" name="Group 181"/>
            <p:cNvGrpSpPr>
              <a:grpSpLocks/>
            </p:cNvGrpSpPr>
            <p:nvPr/>
          </p:nvGrpSpPr>
          <p:grpSpPr bwMode="auto">
            <a:xfrm rot="10800000">
              <a:off x="4972" y="1237"/>
              <a:ext cx="208" cy="620"/>
              <a:chOff x="2000" y="1771"/>
              <a:chExt cx="208" cy="620"/>
            </a:xfrm>
          </p:grpSpPr>
          <p:sp>
            <p:nvSpPr>
              <p:cNvPr id="88095" name="Line 182"/>
              <p:cNvSpPr>
                <a:spLocks noChangeShapeType="1"/>
              </p:cNvSpPr>
              <p:nvPr/>
            </p:nvSpPr>
            <p:spPr bwMode="auto">
              <a:xfrm flipV="1">
                <a:off x="2001" y="1925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96" name="Line 183"/>
              <p:cNvSpPr>
                <a:spLocks noChangeShapeType="1"/>
              </p:cNvSpPr>
              <p:nvPr/>
            </p:nvSpPr>
            <p:spPr bwMode="auto">
              <a:xfrm flipV="1">
                <a:off x="2001" y="213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97" name="Line 184"/>
              <p:cNvSpPr>
                <a:spLocks noChangeShapeType="1"/>
              </p:cNvSpPr>
              <p:nvPr/>
            </p:nvSpPr>
            <p:spPr bwMode="auto">
              <a:xfrm flipH="1" flipV="1">
                <a:off x="2001" y="2028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98" name="Line 185"/>
              <p:cNvSpPr>
                <a:spLocks noChangeShapeType="1"/>
              </p:cNvSpPr>
              <p:nvPr/>
            </p:nvSpPr>
            <p:spPr bwMode="auto">
              <a:xfrm flipH="1" flipV="1">
                <a:off x="2001" y="2232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99" name="Line 186"/>
              <p:cNvSpPr>
                <a:spLocks noChangeShapeType="1"/>
              </p:cNvSpPr>
              <p:nvPr/>
            </p:nvSpPr>
            <p:spPr bwMode="auto">
              <a:xfrm flipH="1" flipV="1">
                <a:off x="2001" y="182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00" name="Freeform 187"/>
              <p:cNvSpPr>
                <a:spLocks/>
              </p:cNvSpPr>
              <p:nvPr/>
            </p:nvSpPr>
            <p:spPr bwMode="auto">
              <a:xfrm flipH="1">
                <a:off x="2101" y="2336"/>
                <a:ext cx="107" cy="55"/>
              </a:xfrm>
              <a:custGeom>
                <a:avLst/>
                <a:gdLst>
                  <a:gd name="T0" fmla="*/ 25 w 131"/>
                  <a:gd name="T1" fmla="*/ 12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101" name="Freeform 188"/>
              <p:cNvSpPr>
                <a:spLocks/>
              </p:cNvSpPr>
              <p:nvPr/>
            </p:nvSpPr>
            <p:spPr bwMode="auto">
              <a:xfrm flipH="1">
                <a:off x="2000" y="1771"/>
                <a:ext cx="100" cy="50"/>
              </a:xfrm>
              <a:custGeom>
                <a:avLst/>
                <a:gdLst>
                  <a:gd name="T0" fmla="*/ 15 w 131"/>
                  <a:gd name="T1" fmla="*/ 6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8075" name="Group 189"/>
            <p:cNvGrpSpPr>
              <a:grpSpLocks/>
            </p:cNvGrpSpPr>
            <p:nvPr/>
          </p:nvGrpSpPr>
          <p:grpSpPr bwMode="auto">
            <a:xfrm>
              <a:off x="3888" y="2101"/>
              <a:ext cx="480" cy="192"/>
              <a:chOff x="1261" y="2969"/>
              <a:chExt cx="480" cy="192"/>
            </a:xfrm>
          </p:grpSpPr>
          <p:sp>
            <p:nvSpPr>
              <p:cNvPr id="88092" name="Line 190"/>
              <p:cNvSpPr>
                <a:spLocks noChangeShapeType="1"/>
              </p:cNvSpPr>
              <p:nvPr/>
            </p:nvSpPr>
            <p:spPr bwMode="auto">
              <a:xfrm>
                <a:off x="1261" y="2969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93" name="Line 191"/>
              <p:cNvSpPr>
                <a:spLocks noChangeShapeType="1"/>
              </p:cNvSpPr>
              <p:nvPr/>
            </p:nvSpPr>
            <p:spPr bwMode="auto">
              <a:xfrm>
                <a:off x="1357" y="3065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94" name="Line 192"/>
              <p:cNvSpPr>
                <a:spLocks noChangeShapeType="1"/>
              </p:cNvSpPr>
              <p:nvPr/>
            </p:nvSpPr>
            <p:spPr bwMode="auto">
              <a:xfrm>
                <a:off x="1453" y="3161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8076" name="Line 193"/>
            <p:cNvSpPr>
              <a:spLocks noChangeShapeType="1"/>
            </p:cNvSpPr>
            <p:nvPr/>
          </p:nvSpPr>
          <p:spPr bwMode="auto">
            <a:xfrm>
              <a:off x="5084" y="1861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8077" name="Group 194"/>
            <p:cNvGrpSpPr>
              <a:grpSpLocks/>
            </p:cNvGrpSpPr>
            <p:nvPr/>
          </p:nvGrpSpPr>
          <p:grpSpPr bwMode="auto">
            <a:xfrm>
              <a:off x="4828" y="2101"/>
              <a:ext cx="480" cy="192"/>
              <a:chOff x="1261" y="2969"/>
              <a:chExt cx="480" cy="192"/>
            </a:xfrm>
          </p:grpSpPr>
          <p:sp>
            <p:nvSpPr>
              <p:cNvPr id="88089" name="Line 195"/>
              <p:cNvSpPr>
                <a:spLocks noChangeShapeType="1"/>
              </p:cNvSpPr>
              <p:nvPr/>
            </p:nvSpPr>
            <p:spPr bwMode="auto">
              <a:xfrm>
                <a:off x="1261" y="2969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90" name="Line 196"/>
              <p:cNvSpPr>
                <a:spLocks noChangeShapeType="1"/>
              </p:cNvSpPr>
              <p:nvPr/>
            </p:nvSpPr>
            <p:spPr bwMode="auto">
              <a:xfrm>
                <a:off x="1357" y="3065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91" name="Line 197"/>
              <p:cNvSpPr>
                <a:spLocks noChangeShapeType="1"/>
              </p:cNvSpPr>
              <p:nvPr/>
            </p:nvSpPr>
            <p:spPr bwMode="auto">
              <a:xfrm>
                <a:off x="1453" y="3161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8078" name="Line 198"/>
            <p:cNvSpPr>
              <a:spLocks noChangeShapeType="1"/>
            </p:cNvSpPr>
            <p:nvPr/>
          </p:nvSpPr>
          <p:spPr bwMode="auto">
            <a:xfrm>
              <a:off x="5078" y="1005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079" name="Line 201"/>
            <p:cNvSpPr>
              <a:spLocks noChangeShapeType="1"/>
            </p:cNvSpPr>
            <p:nvPr/>
          </p:nvSpPr>
          <p:spPr bwMode="auto">
            <a:xfrm>
              <a:off x="4138" y="1004"/>
              <a:ext cx="0" cy="4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080" name="Line 202"/>
            <p:cNvSpPr>
              <a:spLocks noChangeShapeType="1"/>
            </p:cNvSpPr>
            <p:nvPr/>
          </p:nvSpPr>
          <p:spPr bwMode="auto">
            <a:xfrm>
              <a:off x="4128" y="1764"/>
              <a:ext cx="0" cy="3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081" name="Text Box 204"/>
            <p:cNvSpPr txBox="1">
              <a:spLocks noChangeArrowheads="1"/>
            </p:cNvSpPr>
            <p:nvPr/>
          </p:nvSpPr>
          <p:spPr bwMode="auto">
            <a:xfrm>
              <a:off x="5202" y="1375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</a:rPr>
                <a:t>R</a:t>
              </a:r>
            </a:p>
          </p:txBody>
        </p:sp>
        <p:grpSp>
          <p:nvGrpSpPr>
            <p:cNvPr id="88082" name="Group 213"/>
            <p:cNvGrpSpPr>
              <a:grpSpLocks/>
            </p:cNvGrpSpPr>
            <p:nvPr/>
          </p:nvGrpSpPr>
          <p:grpSpPr bwMode="auto">
            <a:xfrm>
              <a:off x="4138" y="938"/>
              <a:ext cx="930" cy="144"/>
              <a:chOff x="2508" y="1574"/>
              <a:chExt cx="930" cy="144"/>
            </a:xfrm>
          </p:grpSpPr>
          <p:sp>
            <p:nvSpPr>
              <p:cNvPr id="88085" name="Line 209"/>
              <p:cNvSpPr>
                <a:spLocks noChangeShapeType="1"/>
              </p:cNvSpPr>
              <p:nvPr/>
            </p:nvSpPr>
            <p:spPr bwMode="auto">
              <a:xfrm flipH="1">
                <a:off x="2508" y="1643"/>
                <a:ext cx="1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86" name="Line 210"/>
              <p:cNvSpPr>
                <a:spLocks noChangeShapeType="1"/>
              </p:cNvSpPr>
              <p:nvPr/>
            </p:nvSpPr>
            <p:spPr bwMode="auto">
              <a:xfrm flipH="1">
                <a:off x="3264" y="1643"/>
                <a:ext cx="17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087" name="Oval 211"/>
              <p:cNvSpPr>
                <a:spLocks noChangeArrowheads="1"/>
              </p:cNvSpPr>
              <p:nvPr/>
            </p:nvSpPr>
            <p:spPr bwMode="auto">
              <a:xfrm>
                <a:off x="2688" y="157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88088" name="Oval 212"/>
              <p:cNvSpPr>
                <a:spLocks noChangeArrowheads="1"/>
              </p:cNvSpPr>
              <p:nvPr/>
            </p:nvSpPr>
            <p:spPr bwMode="auto">
              <a:xfrm>
                <a:off x="3120" y="157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083" name="Line 215"/>
            <p:cNvSpPr>
              <a:spLocks noChangeShapeType="1"/>
            </p:cNvSpPr>
            <p:nvPr/>
          </p:nvSpPr>
          <p:spPr bwMode="auto">
            <a:xfrm flipV="1">
              <a:off x="4454" y="862"/>
              <a:ext cx="288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084" name="Text Box 217"/>
            <p:cNvSpPr txBox="1">
              <a:spLocks noChangeArrowheads="1"/>
            </p:cNvSpPr>
            <p:nvPr/>
          </p:nvSpPr>
          <p:spPr bwMode="auto">
            <a:xfrm>
              <a:off x="4320" y="2354"/>
              <a:ext cx="7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</a:rPr>
                <a:t>OPEN</a:t>
              </a:r>
            </a:p>
          </p:txBody>
        </p:sp>
      </p:grpSp>
      <p:sp>
        <p:nvSpPr>
          <p:cNvPr id="3291" name="Text Box 219"/>
          <p:cNvSpPr txBox="1">
            <a:spLocks noChangeArrowheads="1"/>
          </p:cNvSpPr>
          <p:nvPr/>
        </p:nvSpPr>
        <p:spPr bwMode="auto">
          <a:xfrm>
            <a:off x="4479926" y="5451476"/>
            <a:ext cx="574554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</a:rPr>
              <a:t>1.  For </a:t>
            </a:r>
            <a:r>
              <a:rPr lang="en-US" altLang="en-US" sz="2400" b="1">
                <a:solidFill>
                  <a:srgbClr val="3333CC"/>
                </a:solidFill>
              </a:rPr>
              <a:t>ac</a:t>
            </a:r>
            <a:r>
              <a:rPr lang="en-US" altLang="en-US" sz="2400" b="1">
                <a:solidFill>
                  <a:srgbClr val="000000"/>
                </a:solidFill>
              </a:rPr>
              <a:t> analysis, the capacitor is a </a:t>
            </a:r>
            <a:r>
              <a:rPr lang="en-US" altLang="en-US" sz="2400" b="1">
                <a:solidFill>
                  <a:srgbClr val="FF0000"/>
                </a:solidFill>
              </a:rPr>
              <a:t>short</a:t>
            </a:r>
            <a:r>
              <a:rPr lang="en-US" altLang="en-US" sz="2400" b="1">
                <a:solidFill>
                  <a:srgbClr val="000000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</a:rPr>
              <a:t>2.  For </a:t>
            </a:r>
            <a:r>
              <a:rPr lang="en-US" altLang="en-US" sz="2400" b="1">
                <a:solidFill>
                  <a:srgbClr val="3333CC"/>
                </a:solidFill>
              </a:rPr>
              <a:t>dc</a:t>
            </a:r>
            <a:r>
              <a:rPr lang="en-US" altLang="en-US" sz="2400" b="1">
                <a:solidFill>
                  <a:srgbClr val="000000"/>
                </a:solidFill>
              </a:rPr>
              <a:t> analysis, the capacitor is </a:t>
            </a:r>
            <a:r>
              <a:rPr lang="en-US" altLang="en-US" sz="2400" b="1">
                <a:solidFill>
                  <a:srgbClr val="FF0000"/>
                </a:solidFill>
              </a:rPr>
              <a:t>open</a:t>
            </a:r>
            <a:r>
              <a:rPr lang="en-US" altLang="en-US" sz="2400" b="1">
                <a:solidFill>
                  <a:srgbClr val="000000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550052" y="1802008"/>
                <a:ext cx="6630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solidFill>
                            <a:srgbClr val="FF0000"/>
                          </a:solidFill>
                          <a:latin typeface="Cambria Math"/>
                        </a:rPr>
                        <m:t>𝐴𝐶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052" y="1802008"/>
                <a:ext cx="6630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312745" y="1820219"/>
                <a:ext cx="6806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solidFill>
                            <a:srgbClr val="FF0000"/>
                          </a:solidFill>
                          <a:latin typeface="Cambria Math"/>
                        </a:rPr>
                        <m:t>𝐷𝐶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45" y="1820219"/>
                <a:ext cx="68069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681849" y="999094"/>
                <a:ext cx="10433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solidFill>
                            <a:srgbClr val="FF0000"/>
                          </a:solidFill>
                          <a:latin typeface="Cambria Math"/>
                        </a:rPr>
                        <m:t>𝑆h𝑜𝑟𝑡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849" y="999094"/>
                <a:ext cx="104336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05801" y="909936"/>
                <a:ext cx="9834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solidFill>
                            <a:srgbClr val="FF0000"/>
                          </a:solidFill>
                          <a:latin typeface="Cambria Math"/>
                        </a:rPr>
                        <m:t>𝑂𝑝𝑒𝑛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1" y="909936"/>
                <a:ext cx="983411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0" grpId="0" autoUpdateAnimBg="0"/>
      <p:bldP spid="3209" grpId="0" autoUpdateAnimBg="0"/>
      <p:bldP spid="329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BJT Amplifier Analysis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914400"/>
            <a:ext cx="9144000" cy="5943600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Superposition Theorem (DC + AC analysis)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DC</a:t>
            </a:r>
            <a:r>
              <a:rPr lang="en-US" altLang="en-US" b="1" dirty="0">
                <a:solidFill>
                  <a:schemeClr val="accent2"/>
                </a:solidFill>
              </a:rPr>
              <a:t> voltages and currents are calculated mentally by </a:t>
            </a:r>
            <a:r>
              <a:rPr lang="en-US" altLang="en-US" b="1" u="sng" dirty="0">
                <a:solidFill>
                  <a:schemeClr val="accent2"/>
                </a:solidFill>
              </a:rPr>
              <a:t>opening</a:t>
            </a:r>
            <a:r>
              <a:rPr lang="en-US" altLang="en-US" b="1" dirty="0">
                <a:solidFill>
                  <a:schemeClr val="accent2"/>
                </a:solidFill>
              </a:rPr>
              <a:t> capacitors: DC Analysis (Chapter 4)</a:t>
            </a:r>
          </a:p>
          <a:p>
            <a:r>
              <a:rPr lang="en-US" altLang="en-US" b="1" dirty="0">
                <a:solidFill>
                  <a:schemeClr val="accent2"/>
                </a:solidFill>
              </a:rPr>
              <a:t>The </a:t>
            </a:r>
            <a:r>
              <a:rPr lang="en-US" altLang="en-US" b="1" dirty="0">
                <a:solidFill>
                  <a:srgbClr val="FF0000"/>
                </a:solidFill>
              </a:rPr>
              <a:t>AC</a:t>
            </a:r>
            <a:r>
              <a:rPr lang="en-US" altLang="en-US" b="1" dirty="0">
                <a:solidFill>
                  <a:schemeClr val="accent2"/>
                </a:solidFill>
              </a:rPr>
              <a:t> signal is coupled via a </a:t>
            </a:r>
            <a:r>
              <a:rPr lang="en-US" altLang="en-US" b="1" u="sng" dirty="0">
                <a:solidFill>
                  <a:schemeClr val="accent2"/>
                </a:solidFill>
              </a:rPr>
              <a:t>coupling</a:t>
            </a:r>
            <a:r>
              <a:rPr lang="en-US" altLang="en-US" b="1" dirty="0">
                <a:solidFill>
                  <a:schemeClr val="accent2"/>
                </a:solidFill>
              </a:rPr>
              <a:t> capacitor</a:t>
            </a:r>
          </a:p>
          <a:p>
            <a:r>
              <a:rPr lang="en-US" altLang="en-US" b="1" dirty="0">
                <a:solidFill>
                  <a:schemeClr val="accent2"/>
                </a:solidFill>
              </a:rPr>
              <a:t>Coupling capacitor: couples between BJT &amp; input AND BJT &amp; output</a:t>
            </a:r>
          </a:p>
          <a:p>
            <a:r>
              <a:rPr lang="en-US" altLang="en-US" b="1" dirty="0">
                <a:solidFill>
                  <a:schemeClr val="accent2"/>
                </a:solidFill>
              </a:rPr>
              <a:t>The </a:t>
            </a:r>
            <a:r>
              <a:rPr lang="en-US" altLang="en-US" b="1" dirty="0">
                <a:solidFill>
                  <a:srgbClr val="FF0000"/>
                </a:solidFill>
              </a:rPr>
              <a:t>bypass</a:t>
            </a:r>
            <a:r>
              <a:rPr lang="en-US" altLang="en-US" b="1" dirty="0">
                <a:solidFill>
                  <a:schemeClr val="accent2"/>
                </a:solidFill>
              </a:rPr>
              <a:t> capacitor causes an </a:t>
            </a:r>
            <a:r>
              <a:rPr lang="en-US" altLang="en-US" b="1" u="sng" dirty="0">
                <a:solidFill>
                  <a:schemeClr val="accent2"/>
                </a:solidFill>
              </a:rPr>
              <a:t>AC</a:t>
            </a:r>
            <a:r>
              <a:rPr lang="en-US" altLang="en-US" b="1" dirty="0">
                <a:solidFill>
                  <a:schemeClr val="accent2"/>
                </a:solidFill>
              </a:rPr>
              <a:t> signal to appear across the base-emitter junction and provides </a:t>
            </a:r>
            <a:r>
              <a:rPr lang="en-US" altLang="en-US" b="1" u="sng" dirty="0">
                <a:solidFill>
                  <a:schemeClr val="accent2"/>
                </a:solidFill>
              </a:rPr>
              <a:t>higher</a:t>
            </a:r>
            <a:r>
              <a:rPr lang="en-US" altLang="en-US" b="1" dirty="0">
                <a:solidFill>
                  <a:schemeClr val="accent2"/>
                </a:solidFill>
              </a:rPr>
              <a:t> gain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Bypass</a:t>
            </a:r>
            <a:r>
              <a:rPr lang="en-US" altLang="en-US" b="1" dirty="0">
                <a:solidFill>
                  <a:schemeClr val="accent2"/>
                </a:solidFill>
              </a:rPr>
              <a:t> capacitor: Need in DC. Not need in AC.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3" name="Text Box 167"/>
          <p:cNvSpPr txBox="1">
            <a:spLocks noChangeArrowheads="1"/>
          </p:cNvSpPr>
          <p:nvPr/>
        </p:nvSpPr>
        <p:spPr bwMode="auto">
          <a:xfrm>
            <a:off x="6810376" y="4146550"/>
            <a:ext cx="7761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+1.1 V</a:t>
            </a:r>
          </a:p>
        </p:txBody>
      </p:sp>
      <p:sp>
        <p:nvSpPr>
          <p:cNvPr id="9395" name="Line 179"/>
          <p:cNvSpPr>
            <a:spLocks noChangeShapeType="1"/>
          </p:cNvSpPr>
          <p:nvPr/>
        </p:nvSpPr>
        <p:spPr bwMode="auto">
          <a:xfrm>
            <a:off x="7572375" y="4318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1140" name="Group 2"/>
          <p:cNvGrpSpPr>
            <a:grpSpLocks/>
          </p:cNvGrpSpPr>
          <p:nvPr/>
        </p:nvGrpSpPr>
        <p:grpSpPr bwMode="auto">
          <a:xfrm rot="10800000">
            <a:off x="6400800" y="1968500"/>
            <a:ext cx="330200" cy="984250"/>
            <a:chOff x="2000" y="1771"/>
            <a:chExt cx="208" cy="620"/>
          </a:xfrm>
        </p:grpSpPr>
        <p:sp>
          <p:nvSpPr>
            <p:cNvPr id="91298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99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300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301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302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303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304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1141" name="Group 10"/>
          <p:cNvGrpSpPr>
            <a:grpSpLocks/>
          </p:cNvGrpSpPr>
          <p:nvPr/>
        </p:nvGrpSpPr>
        <p:grpSpPr bwMode="auto">
          <a:xfrm>
            <a:off x="6423025" y="4760913"/>
            <a:ext cx="330200" cy="984250"/>
            <a:chOff x="2000" y="1771"/>
            <a:chExt cx="208" cy="620"/>
          </a:xfrm>
        </p:grpSpPr>
        <p:sp>
          <p:nvSpPr>
            <p:cNvPr id="91291" name="Line 1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92" name="Line 1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93" name="Line 1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94" name="Line 1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95" name="Line 1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96" name="Freeform 1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97" name="Freeform 1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142" name="Text Box 18"/>
          <p:cNvSpPr txBox="1">
            <a:spLocks noChangeArrowheads="1"/>
          </p:cNvSpPr>
          <p:nvPr/>
        </p:nvSpPr>
        <p:spPr bwMode="auto">
          <a:xfrm>
            <a:off x="6096001" y="838200"/>
            <a:ext cx="10230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+10 V</a:t>
            </a:r>
          </a:p>
        </p:txBody>
      </p:sp>
      <p:sp>
        <p:nvSpPr>
          <p:cNvPr id="91143" name="Text Box 20"/>
          <p:cNvSpPr txBox="1">
            <a:spLocks noChangeArrowheads="1"/>
          </p:cNvSpPr>
          <p:nvPr/>
        </p:nvSpPr>
        <p:spPr bwMode="auto">
          <a:xfrm>
            <a:off x="6705600" y="5005388"/>
            <a:ext cx="92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91144" name="Line 21"/>
          <p:cNvSpPr>
            <a:spLocks noChangeShapeType="1"/>
          </p:cNvSpPr>
          <p:nvPr/>
        </p:nvSpPr>
        <p:spPr bwMode="auto">
          <a:xfrm flipH="1">
            <a:off x="6197600" y="3460751"/>
            <a:ext cx="0" cy="830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45" name="Line 22"/>
          <p:cNvSpPr>
            <a:spLocks noChangeShapeType="1"/>
          </p:cNvSpPr>
          <p:nvPr/>
        </p:nvSpPr>
        <p:spPr bwMode="auto">
          <a:xfrm>
            <a:off x="6200775" y="4068763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46" name="Line 23"/>
          <p:cNvSpPr>
            <a:spLocks noChangeShapeType="1"/>
          </p:cNvSpPr>
          <p:nvPr/>
        </p:nvSpPr>
        <p:spPr bwMode="auto">
          <a:xfrm flipH="1">
            <a:off x="5173664" y="3876676"/>
            <a:ext cx="101282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47" name="Freeform 24"/>
          <p:cNvSpPr>
            <a:spLocks/>
          </p:cNvSpPr>
          <p:nvPr/>
        </p:nvSpPr>
        <p:spPr bwMode="auto">
          <a:xfrm>
            <a:off x="6289676" y="4149725"/>
            <a:ext cx="239713" cy="249238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48" name="Oval 25"/>
          <p:cNvSpPr>
            <a:spLocks noChangeArrowheads="1"/>
          </p:cNvSpPr>
          <p:nvPr/>
        </p:nvSpPr>
        <p:spPr bwMode="auto">
          <a:xfrm>
            <a:off x="5768975" y="3265488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91149" name="Line 26"/>
          <p:cNvSpPr>
            <a:spLocks noChangeShapeType="1"/>
          </p:cNvSpPr>
          <p:nvPr/>
        </p:nvSpPr>
        <p:spPr bwMode="auto">
          <a:xfrm flipV="1">
            <a:off x="6200775" y="3297238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50" name="Line 27"/>
          <p:cNvSpPr>
            <a:spLocks noChangeShapeType="1"/>
          </p:cNvSpPr>
          <p:nvPr/>
        </p:nvSpPr>
        <p:spPr bwMode="auto">
          <a:xfrm flipV="1">
            <a:off x="6584950" y="2959101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51" name="Line 28"/>
          <p:cNvSpPr>
            <a:spLocks noChangeShapeType="1"/>
          </p:cNvSpPr>
          <p:nvPr/>
        </p:nvSpPr>
        <p:spPr bwMode="auto">
          <a:xfrm flipV="1">
            <a:off x="6584950" y="4433888"/>
            <a:ext cx="0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52" name="Line 29"/>
          <p:cNvSpPr>
            <a:spLocks noChangeShapeType="1"/>
          </p:cNvSpPr>
          <p:nvPr/>
        </p:nvSpPr>
        <p:spPr bwMode="auto">
          <a:xfrm>
            <a:off x="6600825" y="5734051"/>
            <a:ext cx="0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1153" name="Group 30"/>
          <p:cNvGrpSpPr>
            <a:grpSpLocks/>
          </p:cNvGrpSpPr>
          <p:nvPr/>
        </p:nvGrpSpPr>
        <p:grpSpPr bwMode="auto">
          <a:xfrm>
            <a:off x="6232525" y="6096000"/>
            <a:ext cx="762000" cy="304800"/>
            <a:chOff x="1261" y="2969"/>
            <a:chExt cx="480" cy="192"/>
          </a:xfrm>
        </p:grpSpPr>
        <p:sp>
          <p:nvSpPr>
            <p:cNvPr id="91288" name="Line 31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89" name="Line 32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90" name="Line 33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1154" name="Group 34"/>
          <p:cNvGrpSpPr>
            <a:grpSpLocks/>
          </p:cNvGrpSpPr>
          <p:nvPr/>
        </p:nvGrpSpPr>
        <p:grpSpPr bwMode="auto">
          <a:xfrm rot="10800000">
            <a:off x="5003800" y="2292350"/>
            <a:ext cx="330200" cy="984250"/>
            <a:chOff x="2000" y="1771"/>
            <a:chExt cx="208" cy="620"/>
          </a:xfrm>
        </p:grpSpPr>
        <p:sp>
          <p:nvSpPr>
            <p:cNvPr id="91281" name="Line 35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82" name="Line 36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83" name="Line 37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84" name="Line 38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85" name="Line 39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86" name="Freeform 40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87" name="Freeform 41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1155" name="Group 42"/>
          <p:cNvGrpSpPr>
            <a:grpSpLocks/>
          </p:cNvGrpSpPr>
          <p:nvPr/>
        </p:nvGrpSpPr>
        <p:grpSpPr bwMode="auto">
          <a:xfrm rot="10800000">
            <a:off x="5003800" y="4724400"/>
            <a:ext cx="330200" cy="984250"/>
            <a:chOff x="2000" y="1771"/>
            <a:chExt cx="208" cy="620"/>
          </a:xfrm>
        </p:grpSpPr>
        <p:sp>
          <p:nvSpPr>
            <p:cNvPr id="91274" name="Line 4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75" name="Line 4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76" name="Line 4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77" name="Line 4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78" name="Line 4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79" name="Freeform 4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80" name="Freeform 4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156" name="Line 52"/>
          <p:cNvSpPr>
            <a:spLocks noChangeShapeType="1"/>
          </p:cNvSpPr>
          <p:nvPr/>
        </p:nvSpPr>
        <p:spPr bwMode="auto">
          <a:xfrm flipV="1">
            <a:off x="5181600" y="3276600"/>
            <a:ext cx="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1157" name="Group 53"/>
          <p:cNvGrpSpPr>
            <a:grpSpLocks/>
          </p:cNvGrpSpPr>
          <p:nvPr/>
        </p:nvGrpSpPr>
        <p:grpSpPr bwMode="auto">
          <a:xfrm>
            <a:off x="4800600" y="6096000"/>
            <a:ext cx="762000" cy="304800"/>
            <a:chOff x="1261" y="2969"/>
            <a:chExt cx="480" cy="192"/>
          </a:xfrm>
        </p:grpSpPr>
        <p:sp>
          <p:nvSpPr>
            <p:cNvPr id="91271" name="Line 54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72" name="Line 55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73" name="Line 56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158" name="Line 57"/>
          <p:cNvSpPr>
            <a:spLocks noChangeShapeType="1"/>
          </p:cNvSpPr>
          <p:nvPr/>
        </p:nvSpPr>
        <p:spPr bwMode="auto">
          <a:xfrm>
            <a:off x="5181600" y="57150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59" name="Line 58"/>
          <p:cNvSpPr>
            <a:spLocks noChangeShapeType="1"/>
          </p:cNvSpPr>
          <p:nvPr/>
        </p:nvSpPr>
        <p:spPr bwMode="auto">
          <a:xfrm flipV="1">
            <a:off x="65532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60" name="Line 59"/>
          <p:cNvSpPr>
            <a:spLocks noChangeShapeType="1"/>
          </p:cNvSpPr>
          <p:nvPr/>
        </p:nvSpPr>
        <p:spPr bwMode="auto">
          <a:xfrm flipH="1">
            <a:off x="5181600" y="1768475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61" name="Line 60"/>
          <p:cNvSpPr>
            <a:spLocks noChangeShapeType="1"/>
          </p:cNvSpPr>
          <p:nvPr/>
        </p:nvSpPr>
        <p:spPr bwMode="auto">
          <a:xfrm flipV="1">
            <a:off x="5181600" y="17684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62" name="Oval 61"/>
          <p:cNvSpPr>
            <a:spLocks noChangeArrowheads="1"/>
          </p:cNvSpPr>
          <p:nvPr/>
        </p:nvSpPr>
        <p:spPr bwMode="auto">
          <a:xfrm>
            <a:off x="6477000" y="1371600"/>
            <a:ext cx="152400" cy="152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pSp>
        <p:nvGrpSpPr>
          <p:cNvPr id="9278" name="Group 62"/>
          <p:cNvGrpSpPr>
            <a:grpSpLocks/>
          </p:cNvGrpSpPr>
          <p:nvPr/>
        </p:nvGrpSpPr>
        <p:grpSpPr bwMode="auto">
          <a:xfrm rot="5400000">
            <a:off x="7898607" y="5079207"/>
            <a:ext cx="174625" cy="484188"/>
            <a:chOff x="4176" y="1296"/>
            <a:chExt cx="110" cy="305"/>
          </a:xfrm>
        </p:grpSpPr>
        <p:sp>
          <p:nvSpPr>
            <p:cNvPr id="91269" name="Line 63"/>
            <p:cNvSpPr>
              <a:spLocks noChangeShapeType="1"/>
            </p:cNvSpPr>
            <p:nvPr/>
          </p:nvSpPr>
          <p:spPr bwMode="auto">
            <a:xfrm flipH="1">
              <a:off x="4176" y="1296"/>
              <a:ext cx="0" cy="3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70" name="Freeform 64"/>
            <p:cNvSpPr>
              <a:spLocks/>
            </p:cNvSpPr>
            <p:nvPr/>
          </p:nvSpPr>
          <p:spPr bwMode="auto">
            <a:xfrm flipH="1">
              <a:off x="4231" y="1300"/>
              <a:ext cx="55" cy="295"/>
            </a:xfrm>
            <a:custGeom>
              <a:avLst/>
              <a:gdLst>
                <a:gd name="T0" fmla="*/ 0 w 97"/>
                <a:gd name="T1" fmla="*/ 0 h 455"/>
                <a:gd name="T2" fmla="*/ 1 w 97"/>
                <a:gd name="T3" fmla="*/ 4 h 455"/>
                <a:gd name="T4" fmla="*/ 1 w 97"/>
                <a:gd name="T5" fmla="*/ 10 h 455"/>
                <a:gd name="T6" fmla="*/ 1 w 97"/>
                <a:gd name="T7" fmla="*/ 14 h 4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455">
                  <a:moveTo>
                    <a:pt x="0" y="0"/>
                  </a:moveTo>
                  <a:cubicBezTo>
                    <a:pt x="14" y="21"/>
                    <a:pt x="69" y="79"/>
                    <a:pt x="83" y="134"/>
                  </a:cubicBezTo>
                  <a:cubicBezTo>
                    <a:pt x="97" y="189"/>
                    <a:pt x="95" y="278"/>
                    <a:pt x="83" y="331"/>
                  </a:cubicBezTo>
                  <a:cubicBezTo>
                    <a:pt x="71" y="384"/>
                    <a:pt x="26" y="429"/>
                    <a:pt x="11" y="45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81" name="Line 65"/>
          <p:cNvSpPr>
            <a:spLocks noChangeShapeType="1"/>
          </p:cNvSpPr>
          <p:nvPr/>
        </p:nvSpPr>
        <p:spPr bwMode="auto">
          <a:xfrm>
            <a:off x="7978775" y="5334000"/>
            <a:ext cx="0" cy="742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82" name="Group 66"/>
          <p:cNvGrpSpPr>
            <a:grpSpLocks/>
          </p:cNvGrpSpPr>
          <p:nvPr/>
        </p:nvGrpSpPr>
        <p:grpSpPr bwMode="auto">
          <a:xfrm>
            <a:off x="7572375" y="6076950"/>
            <a:ext cx="762000" cy="304800"/>
            <a:chOff x="1261" y="2969"/>
            <a:chExt cx="480" cy="192"/>
          </a:xfrm>
        </p:grpSpPr>
        <p:sp>
          <p:nvSpPr>
            <p:cNvPr id="91266" name="Line 67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67" name="Line 68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68" name="Line 69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86" name="Line 70"/>
          <p:cNvSpPr>
            <a:spLocks noChangeShapeType="1"/>
          </p:cNvSpPr>
          <p:nvPr/>
        </p:nvSpPr>
        <p:spPr bwMode="auto">
          <a:xfrm flipV="1">
            <a:off x="7985125" y="4572001"/>
            <a:ext cx="0" cy="676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67" name="Text Box 71"/>
          <p:cNvSpPr txBox="1">
            <a:spLocks noChangeArrowheads="1"/>
          </p:cNvSpPr>
          <p:nvPr/>
        </p:nvSpPr>
        <p:spPr bwMode="auto">
          <a:xfrm>
            <a:off x="3929064" y="2514601"/>
            <a:ext cx="1100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10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91168" name="Text Box 72"/>
          <p:cNvSpPr txBox="1">
            <a:spLocks noChangeArrowheads="1"/>
          </p:cNvSpPr>
          <p:nvPr/>
        </p:nvSpPr>
        <p:spPr bwMode="auto">
          <a:xfrm>
            <a:off x="3810000" y="4953001"/>
            <a:ext cx="1189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2.2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91169" name="Text Box 73"/>
          <p:cNvSpPr txBox="1">
            <a:spLocks noChangeArrowheads="1"/>
          </p:cNvSpPr>
          <p:nvPr/>
        </p:nvSpPr>
        <p:spPr bwMode="auto">
          <a:xfrm>
            <a:off x="5256214" y="2057401"/>
            <a:ext cx="1189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3.6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9290" name="Line 74"/>
          <p:cNvSpPr>
            <a:spLocks noChangeShapeType="1"/>
          </p:cNvSpPr>
          <p:nvPr/>
        </p:nvSpPr>
        <p:spPr bwMode="auto">
          <a:xfrm>
            <a:off x="6569075" y="4572000"/>
            <a:ext cx="14176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91" name="Group 75"/>
          <p:cNvGrpSpPr>
            <a:grpSpLocks/>
          </p:cNvGrpSpPr>
          <p:nvPr/>
        </p:nvGrpSpPr>
        <p:grpSpPr bwMode="auto">
          <a:xfrm>
            <a:off x="4076701" y="3630614"/>
            <a:ext cx="174625" cy="484187"/>
            <a:chOff x="4176" y="1296"/>
            <a:chExt cx="110" cy="305"/>
          </a:xfrm>
        </p:grpSpPr>
        <p:sp>
          <p:nvSpPr>
            <p:cNvPr id="91264" name="Line 76"/>
            <p:cNvSpPr>
              <a:spLocks noChangeShapeType="1"/>
            </p:cNvSpPr>
            <p:nvPr/>
          </p:nvSpPr>
          <p:spPr bwMode="auto">
            <a:xfrm flipH="1">
              <a:off x="4176" y="1296"/>
              <a:ext cx="0" cy="3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65" name="Freeform 77"/>
            <p:cNvSpPr>
              <a:spLocks/>
            </p:cNvSpPr>
            <p:nvPr/>
          </p:nvSpPr>
          <p:spPr bwMode="auto">
            <a:xfrm flipH="1">
              <a:off x="4231" y="1300"/>
              <a:ext cx="55" cy="295"/>
            </a:xfrm>
            <a:custGeom>
              <a:avLst/>
              <a:gdLst>
                <a:gd name="T0" fmla="*/ 0 w 97"/>
                <a:gd name="T1" fmla="*/ 0 h 455"/>
                <a:gd name="T2" fmla="*/ 1 w 97"/>
                <a:gd name="T3" fmla="*/ 4 h 455"/>
                <a:gd name="T4" fmla="*/ 1 w 97"/>
                <a:gd name="T5" fmla="*/ 10 h 455"/>
                <a:gd name="T6" fmla="*/ 1 w 97"/>
                <a:gd name="T7" fmla="*/ 14 h 4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455">
                  <a:moveTo>
                    <a:pt x="0" y="0"/>
                  </a:moveTo>
                  <a:cubicBezTo>
                    <a:pt x="14" y="21"/>
                    <a:pt x="69" y="79"/>
                    <a:pt x="83" y="134"/>
                  </a:cubicBezTo>
                  <a:cubicBezTo>
                    <a:pt x="97" y="189"/>
                    <a:pt x="95" y="278"/>
                    <a:pt x="83" y="331"/>
                  </a:cubicBezTo>
                  <a:cubicBezTo>
                    <a:pt x="71" y="384"/>
                    <a:pt x="26" y="429"/>
                    <a:pt x="11" y="45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94" name="Group 78"/>
          <p:cNvGrpSpPr>
            <a:grpSpLocks/>
          </p:cNvGrpSpPr>
          <p:nvPr/>
        </p:nvGrpSpPr>
        <p:grpSpPr bwMode="auto">
          <a:xfrm>
            <a:off x="2992439" y="4479925"/>
            <a:ext cx="738187" cy="738188"/>
            <a:chOff x="2064" y="576"/>
            <a:chExt cx="465" cy="465"/>
          </a:xfrm>
        </p:grpSpPr>
        <p:sp>
          <p:nvSpPr>
            <p:cNvPr id="91261" name="Oval 79"/>
            <p:cNvSpPr>
              <a:spLocks noChangeArrowheads="1"/>
            </p:cNvSpPr>
            <p:nvPr/>
          </p:nvSpPr>
          <p:spPr bwMode="auto">
            <a:xfrm>
              <a:off x="2064" y="576"/>
              <a:ext cx="465" cy="46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91262" name="Freeform 80"/>
            <p:cNvSpPr>
              <a:spLocks/>
            </p:cNvSpPr>
            <p:nvPr/>
          </p:nvSpPr>
          <p:spPr bwMode="auto">
            <a:xfrm>
              <a:off x="2178" y="696"/>
              <a:ext cx="109" cy="114"/>
            </a:xfrm>
            <a:custGeom>
              <a:avLst/>
              <a:gdLst>
                <a:gd name="T0" fmla="*/ 0 w 1066"/>
                <a:gd name="T1" fmla="*/ 0 h 1065"/>
                <a:gd name="T2" fmla="*/ 0 w 1066"/>
                <a:gd name="T3" fmla="*/ 0 h 1065"/>
                <a:gd name="T4" fmla="*/ 0 w 1066"/>
                <a:gd name="T5" fmla="*/ 0 h 1065"/>
                <a:gd name="T6" fmla="*/ 0 w 1066"/>
                <a:gd name="T7" fmla="*/ 0 h 1065"/>
                <a:gd name="T8" fmla="*/ 0 w 1066"/>
                <a:gd name="T9" fmla="*/ 0 h 10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6" h="1065">
                  <a:moveTo>
                    <a:pt x="1066" y="1065"/>
                  </a:moveTo>
                  <a:cubicBezTo>
                    <a:pt x="1016" y="934"/>
                    <a:pt x="854" y="455"/>
                    <a:pt x="766" y="279"/>
                  </a:cubicBezTo>
                  <a:cubicBezTo>
                    <a:pt x="678" y="103"/>
                    <a:pt x="612" y="20"/>
                    <a:pt x="538" y="10"/>
                  </a:cubicBezTo>
                  <a:cubicBezTo>
                    <a:pt x="464" y="0"/>
                    <a:pt x="411" y="41"/>
                    <a:pt x="321" y="217"/>
                  </a:cubicBezTo>
                  <a:cubicBezTo>
                    <a:pt x="231" y="393"/>
                    <a:pt x="67" y="888"/>
                    <a:pt x="0" y="1065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63" name="Freeform 81"/>
            <p:cNvSpPr>
              <a:spLocks/>
            </p:cNvSpPr>
            <p:nvPr/>
          </p:nvSpPr>
          <p:spPr bwMode="auto">
            <a:xfrm flipV="1">
              <a:off x="2287" y="805"/>
              <a:ext cx="109" cy="114"/>
            </a:xfrm>
            <a:custGeom>
              <a:avLst/>
              <a:gdLst>
                <a:gd name="T0" fmla="*/ 0 w 1066"/>
                <a:gd name="T1" fmla="*/ 0 h 1065"/>
                <a:gd name="T2" fmla="*/ 0 w 1066"/>
                <a:gd name="T3" fmla="*/ 0 h 1065"/>
                <a:gd name="T4" fmla="*/ 0 w 1066"/>
                <a:gd name="T5" fmla="*/ 0 h 1065"/>
                <a:gd name="T6" fmla="*/ 0 w 1066"/>
                <a:gd name="T7" fmla="*/ 0 h 1065"/>
                <a:gd name="T8" fmla="*/ 0 w 1066"/>
                <a:gd name="T9" fmla="*/ 0 h 10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6" h="1065">
                  <a:moveTo>
                    <a:pt x="1066" y="1065"/>
                  </a:moveTo>
                  <a:cubicBezTo>
                    <a:pt x="1016" y="934"/>
                    <a:pt x="854" y="455"/>
                    <a:pt x="766" y="279"/>
                  </a:cubicBezTo>
                  <a:cubicBezTo>
                    <a:pt x="678" y="103"/>
                    <a:pt x="612" y="20"/>
                    <a:pt x="538" y="10"/>
                  </a:cubicBezTo>
                  <a:cubicBezTo>
                    <a:pt x="464" y="0"/>
                    <a:pt x="411" y="41"/>
                    <a:pt x="321" y="217"/>
                  </a:cubicBezTo>
                  <a:cubicBezTo>
                    <a:pt x="231" y="393"/>
                    <a:pt x="67" y="888"/>
                    <a:pt x="0" y="1065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98" name="Group 82"/>
          <p:cNvGrpSpPr>
            <a:grpSpLocks/>
          </p:cNvGrpSpPr>
          <p:nvPr/>
        </p:nvGrpSpPr>
        <p:grpSpPr bwMode="auto">
          <a:xfrm>
            <a:off x="2971800" y="5622925"/>
            <a:ext cx="762000" cy="304800"/>
            <a:chOff x="1261" y="2969"/>
            <a:chExt cx="480" cy="192"/>
          </a:xfrm>
        </p:grpSpPr>
        <p:sp>
          <p:nvSpPr>
            <p:cNvPr id="91258" name="Line 83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59" name="Line 84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60" name="Line 85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02" name="Line 86"/>
          <p:cNvSpPr>
            <a:spLocks noChangeShapeType="1"/>
          </p:cNvSpPr>
          <p:nvPr/>
        </p:nvSpPr>
        <p:spPr bwMode="auto">
          <a:xfrm flipH="1">
            <a:off x="3384550" y="38862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3" name="Line 87"/>
          <p:cNvSpPr>
            <a:spLocks noChangeShapeType="1"/>
          </p:cNvSpPr>
          <p:nvPr/>
        </p:nvSpPr>
        <p:spPr bwMode="auto">
          <a:xfrm>
            <a:off x="3368675" y="3870325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4" name="Line 88"/>
          <p:cNvSpPr>
            <a:spLocks noChangeShapeType="1"/>
          </p:cNvSpPr>
          <p:nvPr/>
        </p:nvSpPr>
        <p:spPr bwMode="auto">
          <a:xfrm>
            <a:off x="3352800" y="52419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305" name="Group 89"/>
          <p:cNvGrpSpPr>
            <a:grpSpLocks/>
          </p:cNvGrpSpPr>
          <p:nvPr/>
        </p:nvGrpSpPr>
        <p:grpSpPr bwMode="auto">
          <a:xfrm>
            <a:off x="8086726" y="2868614"/>
            <a:ext cx="174625" cy="484187"/>
            <a:chOff x="4176" y="1296"/>
            <a:chExt cx="110" cy="305"/>
          </a:xfrm>
        </p:grpSpPr>
        <p:sp>
          <p:nvSpPr>
            <p:cNvPr id="91256" name="Line 90"/>
            <p:cNvSpPr>
              <a:spLocks noChangeShapeType="1"/>
            </p:cNvSpPr>
            <p:nvPr/>
          </p:nvSpPr>
          <p:spPr bwMode="auto">
            <a:xfrm flipH="1">
              <a:off x="4176" y="1296"/>
              <a:ext cx="0" cy="3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57" name="Freeform 91"/>
            <p:cNvSpPr>
              <a:spLocks/>
            </p:cNvSpPr>
            <p:nvPr/>
          </p:nvSpPr>
          <p:spPr bwMode="auto">
            <a:xfrm flipH="1">
              <a:off x="4231" y="1300"/>
              <a:ext cx="55" cy="295"/>
            </a:xfrm>
            <a:custGeom>
              <a:avLst/>
              <a:gdLst>
                <a:gd name="T0" fmla="*/ 0 w 97"/>
                <a:gd name="T1" fmla="*/ 0 h 455"/>
                <a:gd name="T2" fmla="*/ 1 w 97"/>
                <a:gd name="T3" fmla="*/ 4 h 455"/>
                <a:gd name="T4" fmla="*/ 1 w 97"/>
                <a:gd name="T5" fmla="*/ 10 h 455"/>
                <a:gd name="T6" fmla="*/ 1 w 97"/>
                <a:gd name="T7" fmla="*/ 14 h 4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455">
                  <a:moveTo>
                    <a:pt x="0" y="0"/>
                  </a:moveTo>
                  <a:cubicBezTo>
                    <a:pt x="14" y="21"/>
                    <a:pt x="69" y="79"/>
                    <a:pt x="83" y="134"/>
                  </a:cubicBezTo>
                  <a:cubicBezTo>
                    <a:pt x="97" y="189"/>
                    <a:pt x="95" y="278"/>
                    <a:pt x="83" y="331"/>
                  </a:cubicBezTo>
                  <a:cubicBezTo>
                    <a:pt x="71" y="384"/>
                    <a:pt x="26" y="429"/>
                    <a:pt x="11" y="45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308" name="Group 92"/>
          <p:cNvGrpSpPr>
            <a:grpSpLocks/>
          </p:cNvGrpSpPr>
          <p:nvPr/>
        </p:nvGrpSpPr>
        <p:grpSpPr bwMode="auto">
          <a:xfrm rot="10800000">
            <a:off x="8686800" y="3505200"/>
            <a:ext cx="330200" cy="984250"/>
            <a:chOff x="2000" y="1771"/>
            <a:chExt cx="208" cy="620"/>
          </a:xfrm>
        </p:grpSpPr>
        <p:sp>
          <p:nvSpPr>
            <p:cNvPr id="91249" name="Line 9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50" name="Line 9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51" name="Line 9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52" name="Line 9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53" name="Line 9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54" name="Freeform 9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55" name="Freeform 9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16" name="Line 100"/>
          <p:cNvSpPr>
            <a:spLocks noChangeShapeType="1"/>
          </p:cNvSpPr>
          <p:nvPr/>
        </p:nvSpPr>
        <p:spPr bwMode="auto">
          <a:xfrm>
            <a:off x="8864600" y="4495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317" name="Group 101"/>
          <p:cNvGrpSpPr>
            <a:grpSpLocks/>
          </p:cNvGrpSpPr>
          <p:nvPr/>
        </p:nvGrpSpPr>
        <p:grpSpPr bwMode="auto">
          <a:xfrm>
            <a:off x="8458200" y="4876800"/>
            <a:ext cx="762000" cy="304800"/>
            <a:chOff x="1261" y="2969"/>
            <a:chExt cx="480" cy="192"/>
          </a:xfrm>
        </p:grpSpPr>
        <p:sp>
          <p:nvSpPr>
            <p:cNvPr id="91246" name="Line 102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47" name="Line 103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48" name="Line 104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21" name="Line 105"/>
          <p:cNvSpPr>
            <a:spLocks noChangeShapeType="1"/>
          </p:cNvSpPr>
          <p:nvPr/>
        </p:nvSpPr>
        <p:spPr bwMode="auto">
          <a:xfrm flipH="1">
            <a:off x="6569075" y="3140075"/>
            <a:ext cx="1511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2" name="Line 106"/>
          <p:cNvSpPr>
            <a:spLocks noChangeShapeType="1"/>
          </p:cNvSpPr>
          <p:nvPr/>
        </p:nvSpPr>
        <p:spPr bwMode="auto">
          <a:xfrm flipH="1">
            <a:off x="8185150" y="3140075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3" name="Line 107"/>
          <p:cNvSpPr>
            <a:spLocks noChangeShapeType="1"/>
          </p:cNvSpPr>
          <p:nvPr/>
        </p:nvSpPr>
        <p:spPr bwMode="auto">
          <a:xfrm flipV="1">
            <a:off x="8855075" y="31242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4" name="Text Box 108"/>
          <p:cNvSpPr txBox="1">
            <a:spLocks noChangeArrowheads="1"/>
          </p:cNvSpPr>
          <p:nvPr/>
        </p:nvSpPr>
        <p:spPr bwMode="auto">
          <a:xfrm>
            <a:off x="9009064" y="3748088"/>
            <a:ext cx="1277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100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9325" name="Text Box 109"/>
          <p:cNvSpPr txBox="1">
            <a:spLocks noChangeArrowheads="1"/>
          </p:cNvSpPr>
          <p:nvPr/>
        </p:nvSpPr>
        <p:spPr bwMode="auto">
          <a:xfrm>
            <a:off x="1828801" y="5119688"/>
            <a:ext cx="1357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100  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m</a:t>
            </a:r>
            <a:r>
              <a:rPr lang="en-US" altLang="en-US" sz="2800" b="1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9327" name="Text Box 111"/>
          <p:cNvSpPr txBox="1">
            <a:spLocks noChangeArrowheads="1"/>
          </p:cNvSpPr>
          <p:nvPr/>
        </p:nvSpPr>
        <p:spPr bwMode="auto">
          <a:xfrm>
            <a:off x="6811964" y="2260600"/>
            <a:ext cx="8931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+6.04 V</a:t>
            </a:r>
          </a:p>
        </p:txBody>
      </p:sp>
      <p:grpSp>
        <p:nvGrpSpPr>
          <p:cNvPr id="9328" name="Group 112"/>
          <p:cNvGrpSpPr>
            <a:grpSpLocks/>
          </p:cNvGrpSpPr>
          <p:nvPr/>
        </p:nvGrpSpPr>
        <p:grpSpPr bwMode="auto">
          <a:xfrm>
            <a:off x="7664450" y="2057400"/>
            <a:ext cx="914400" cy="762000"/>
            <a:chOff x="3408" y="960"/>
            <a:chExt cx="576" cy="480"/>
          </a:xfrm>
        </p:grpSpPr>
        <p:grpSp>
          <p:nvGrpSpPr>
            <p:cNvPr id="91235" name="Group 113"/>
            <p:cNvGrpSpPr>
              <a:grpSpLocks/>
            </p:cNvGrpSpPr>
            <p:nvPr/>
          </p:nvGrpSpPr>
          <p:grpSpPr bwMode="auto">
            <a:xfrm flipV="1">
              <a:off x="3456" y="960"/>
              <a:ext cx="480" cy="480"/>
              <a:chOff x="782" y="499"/>
              <a:chExt cx="2085" cy="926"/>
            </a:xfrm>
          </p:grpSpPr>
          <p:grpSp>
            <p:nvGrpSpPr>
              <p:cNvPr id="91237" name="Group 114"/>
              <p:cNvGrpSpPr>
                <a:grpSpLocks/>
              </p:cNvGrpSpPr>
              <p:nvPr/>
            </p:nvGrpSpPr>
            <p:grpSpPr bwMode="auto">
              <a:xfrm>
                <a:off x="782" y="506"/>
                <a:ext cx="700" cy="919"/>
                <a:chOff x="782" y="506"/>
                <a:chExt cx="700" cy="919"/>
              </a:xfrm>
            </p:grpSpPr>
            <p:sp>
              <p:nvSpPr>
                <p:cNvPr id="91244" name="Freeform 115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245" name="Freeform 116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238" name="Group 117"/>
              <p:cNvGrpSpPr>
                <a:grpSpLocks/>
              </p:cNvGrpSpPr>
              <p:nvPr/>
            </p:nvGrpSpPr>
            <p:grpSpPr bwMode="auto">
              <a:xfrm>
                <a:off x="1477" y="499"/>
                <a:ext cx="700" cy="919"/>
                <a:chOff x="782" y="506"/>
                <a:chExt cx="700" cy="919"/>
              </a:xfrm>
            </p:grpSpPr>
            <p:sp>
              <p:nvSpPr>
                <p:cNvPr id="91242" name="Freeform 118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243" name="Freeform 119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239" name="Group 120"/>
              <p:cNvGrpSpPr>
                <a:grpSpLocks/>
              </p:cNvGrpSpPr>
              <p:nvPr/>
            </p:nvGrpSpPr>
            <p:grpSpPr bwMode="auto">
              <a:xfrm>
                <a:off x="2167" y="505"/>
                <a:ext cx="700" cy="919"/>
                <a:chOff x="782" y="506"/>
                <a:chExt cx="700" cy="919"/>
              </a:xfrm>
            </p:grpSpPr>
            <p:sp>
              <p:nvSpPr>
                <p:cNvPr id="91240" name="Freeform 121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241" name="Freeform 122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91236" name="Line 123"/>
            <p:cNvSpPr>
              <a:spLocks noChangeShapeType="1"/>
            </p:cNvSpPr>
            <p:nvPr/>
          </p:nvSpPr>
          <p:spPr bwMode="auto">
            <a:xfrm>
              <a:off x="3408" y="120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340" name="Group 124"/>
          <p:cNvGrpSpPr>
            <a:grpSpLocks/>
          </p:cNvGrpSpPr>
          <p:nvPr/>
        </p:nvGrpSpPr>
        <p:grpSpPr bwMode="auto">
          <a:xfrm>
            <a:off x="8764588" y="2743200"/>
            <a:ext cx="1370012" cy="762000"/>
            <a:chOff x="4108" y="3360"/>
            <a:chExt cx="863" cy="480"/>
          </a:xfrm>
        </p:grpSpPr>
        <p:sp>
          <p:nvSpPr>
            <p:cNvPr id="91222" name="Text Box 125"/>
            <p:cNvSpPr txBox="1">
              <a:spLocks noChangeArrowheads="1"/>
            </p:cNvSpPr>
            <p:nvPr/>
          </p:nvSpPr>
          <p:spPr bwMode="auto">
            <a:xfrm>
              <a:off x="4108" y="3456"/>
              <a:ext cx="22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 0</a:t>
              </a:r>
            </a:p>
          </p:txBody>
        </p:sp>
        <p:grpSp>
          <p:nvGrpSpPr>
            <p:cNvPr id="91223" name="Group 126"/>
            <p:cNvGrpSpPr>
              <a:grpSpLocks/>
            </p:cNvGrpSpPr>
            <p:nvPr/>
          </p:nvGrpSpPr>
          <p:grpSpPr bwMode="auto">
            <a:xfrm>
              <a:off x="4395" y="3360"/>
              <a:ext cx="576" cy="480"/>
              <a:chOff x="3408" y="960"/>
              <a:chExt cx="576" cy="480"/>
            </a:xfrm>
          </p:grpSpPr>
          <p:grpSp>
            <p:nvGrpSpPr>
              <p:cNvPr id="91224" name="Group 127"/>
              <p:cNvGrpSpPr>
                <a:grpSpLocks/>
              </p:cNvGrpSpPr>
              <p:nvPr/>
            </p:nvGrpSpPr>
            <p:grpSpPr bwMode="auto">
              <a:xfrm flipV="1">
                <a:off x="3456" y="960"/>
                <a:ext cx="480" cy="480"/>
                <a:chOff x="782" y="499"/>
                <a:chExt cx="2085" cy="926"/>
              </a:xfrm>
            </p:grpSpPr>
            <p:grpSp>
              <p:nvGrpSpPr>
                <p:cNvPr id="91226" name="Group 128"/>
                <p:cNvGrpSpPr>
                  <a:grpSpLocks/>
                </p:cNvGrpSpPr>
                <p:nvPr/>
              </p:nvGrpSpPr>
              <p:grpSpPr bwMode="auto">
                <a:xfrm>
                  <a:off x="782" y="506"/>
                  <a:ext cx="700" cy="919"/>
                  <a:chOff x="782" y="506"/>
                  <a:chExt cx="700" cy="919"/>
                </a:xfrm>
              </p:grpSpPr>
              <p:sp>
                <p:nvSpPr>
                  <p:cNvPr id="91233" name="Freeform 129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234" name="Freeform 130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1227" name="Group 131"/>
                <p:cNvGrpSpPr>
                  <a:grpSpLocks/>
                </p:cNvGrpSpPr>
                <p:nvPr/>
              </p:nvGrpSpPr>
              <p:grpSpPr bwMode="auto">
                <a:xfrm>
                  <a:off x="1477" y="499"/>
                  <a:ext cx="700" cy="919"/>
                  <a:chOff x="782" y="506"/>
                  <a:chExt cx="700" cy="919"/>
                </a:xfrm>
              </p:grpSpPr>
              <p:sp>
                <p:nvSpPr>
                  <p:cNvPr id="91231" name="Freeform 132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232" name="Freeform 133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1228" name="Group 134"/>
                <p:cNvGrpSpPr>
                  <a:grpSpLocks/>
                </p:cNvGrpSpPr>
                <p:nvPr/>
              </p:nvGrpSpPr>
              <p:grpSpPr bwMode="auto">
                <a:xfrm>
                  <a:off x="2167" y="505"/>
                  <a:ext cx="700" cy="919"/>
                  <a:chOff x="782" y="506"/>
                  <a:chExt cx="700" cy="919"/>
                </a:xfrm>
              </p:grpSpPr>
              <p:sp>
                <p:nvSpPr>
                  <p:cNvPr id="91229" name="Freeform 135"/>
                  <p:cNvSpPr>
                    <a:spLocks/>
                  </p:cNvSpPr>
                  <p:nvPr/>
                </p:nvSpPr>
                <p:spPr bwMode="auto">
                  <a:xfrm>
                    <a:off x="782" y="506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1230" name="Freeform 136"/>
                  <p:cNvSpPr>
                    <a:spLocks/>
                  </p:cNvSpPr>
                  <p:nvPr/>
                </p:nvSpPr>
                <p:spPr bwMode="auto">
                  <a:xfrm flipV="1">
                    <a:off x="1129" y="954"/>
                    <a:ext cx="353" cy="471"/>
                  </a:xfrm>
                  <a:custGeom>
                    <a:avLst/>
                    <a:gdLst>
                      <a:gd name="T0" fmla="*/ 0 w 1066"/>
                      <a:gd name="T1" fmla="*/ 2 h 1065"/>
                      <a:gd name="T2" fmla="*/ 0 w 1066"/>
                      <a:gd name="T3" fmla="*/ 0 h 1065"/>
                      <a:gd name="T4" fmla="*/ 0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2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91225" name="Line 137"/>
              <p:cNvSpPr>
                <a:spLocks noChangeShapeType="1"/>
              </p:cNvSpPr>
              <p:nvPr/>
            </p:nvSpPr>
            <p:spPr bwMode="auto">
              <a:xfrm>
                <a:off x="3408" y="120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354" name="Group 138"/>
          <p:cNvGrpSpPr>
            <a:grpSpLocks/>
          </p:cNvGrpSpPr>
          <p:nvPr/>
        </p:nvGrpSpPr>
        <p:grpSpPr bwMode="auto">
          <a:xfrm>
            <a:off x="2082800" y="3733800"/>
            <a:ext cx="1162050" cy="533400"/>
            <a:chOff x="468" y="1920"/>
            <a:chExt cx="732" cy="336"/>
          </a:xfrm>
        </p:grpSpPr>
        <p:grpSp>
          <p:nvGrpSpPr>
            <p:cNvPr id="91210" name="Group 139"/>
            <p:cNvGrpSpPr>
              <a:grpSpLocks/>
            </p:cNvGrpSpPr>
            <p:nvPr/>
          </p:nvGrpSpPr>
          <p:grpSpPr bwMode="auto">
            <a:xfrm>
              <a:off x="672" y="1920"/>
              <a:ext cx="480" cy="336"/>
              <a:chOff x="782" y="499"/>
              <a:chExt cx="2085" cy="926"/>
            </a:xfrm>
          </p:grpSpPr>
          <p:grpSp>
            <p:nvGrpSpPr>
              <p:cNvPr id="91213" name="Group 140"/>
              <p:cNvGrpSpPr>
                <a:grpSpLocks/>
              </p:cNvGrpSpPr>
              <p:nvPr/>
            </p:nvGrpSpPr>
            <p:grpSpPr bwMode="auto">
              <a:xfrm>
                <a:off x="782" y="506"/>
                <a:ext cx="700" cy="919"/>
                <a:chOff x="782" y="506"/>
                <a:chExt cx="700" cy="919"/>
              </a:xfrm>
            </p:grpSpPr>
            <p:sp>
              <p:nvSpPr>
                <p:cNvPr id="91220" name="Freeform 141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221" name="Freeform 142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214" name="Group 143"/>
              <p:cNvGrpSpPr>
                <a:grpSpLocks/>
              </p:cNvGrpSpPr>
              <p:nvPr/>
            </p:nvGrpSpPr>
            <p:grpSpPr bwMode="auto">
              <a:xfrm>
                <a:off x="1477" y="499"/>
                <a:ext cx="700" cy="919"/>
                <a:chOff x="782" y="506"/>
                <a:chExt cx="700" cy="919"/>
              </a:xfrm>
            </p:grpSpPr>
            <p:sp>
              <p:nvSpPr>
                <p:cNvPr id="91218" name="Freeform 144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219" name="Freeform 145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215" name="Group 146"/>
              <p:cNvGrpSpPr>
                <a:grpSpLocks/>
              </p:cNvGrpSpPr>
              <p:nvPr/>
            </p:nvGrpSpPr>
            <p:grpSpPr bwMode="auto">
              <a:xfrm>
                <a:off x="2167" y="505"/>
                <a:ext cx="700" cy="919"/>
                <a:chOff x="782" y="506"/>
                <a:chExt cx="700" cy="919"/>
              </a:xfrm>
            </p:grpSpPr>
            <p:sp>
              <p:nvSpPr>
                <p:cNvPr id="91216" name="Freeform 147"/>
                <p:cNvSpPr>
                  <a:spLocks/>
                </p:cNvSpPr>
                <p:nvPr/>
              </p:nvSpPr>
              <p:spPr bwMode="auto">
                <a:xfrm>
                  <a:off x="782" y="506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217" name="Freeform 148"/>
                <p:cNvSpPr>
                  <a:spLocks/>
                </p:cNvSpPr>
                <p:nvPr/>
              </p:nvSpPr>
              <p:spPr bwMode="auto">
                <a:xfrm flipV="1">
                  <a:off x="1129" y="954"/>
                  <a:ext cx="353" cy="471"/>
                </a:xfrm>
                <a:custGeom>
                  <a:avLst/>
                  <a:gdLst>
                    <a:gd name="T0" fmla="*/ 0 w 1066"/>
                    <a:gd name="T1" fmla="*/ 2 h 1065"/>
                    <a:gd name="T2" fmla="*/ 0 w 1066"/>
                    <a:gd name="T3" fmla="*/ 0 h 1065"/>
                    <a:gd name="T4" fmla="*/ 0 w 1066"/>
                    <a:gd name="T5" fmla="*/ 0 h 1065"/>
                    <a:gd name="T6" fmla="*/ 0 w 1066"/>
                    <a:gd name="T7" fmla="*/ 0 h 1065"/>
                    <a:gd name="T8" fmla="*/ 0 w 1066"/>
                    <a:gd name="T9" fmla="*/ 2 h 10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6" h="1065">
                      <a:moveTo>
                        <a:pt x="1066" y="1065"/>
                      </a:moveTo>
                      <a:cubicBezTo>
                        <a:pt x="1016" y="934"/>
                        <a:pt x="854" y="455"/>
                        <a:pt x="766" y="279"/>
                      </a:cubicBezTo>
                      <a:cubicBezTo>
                        <a:pt x="678" y="103"/>
                        <a:pt x="612" y="20"/>
                        <a:pt x="538" y="10"/>
                      </a:cubicBezTo>
                      <a:cubicBezTo>
                        <a:pt x="464" y="0"/>
                        <a:pt x="411" y="41"/>
                        <a:pt x="321" y="217"/>
                      </a:cubicBezTo>
                      <a:cubicBezTo>
                        <a:pt x="231" y="393"/>
                        <a:pt x="67" y="888"/>
                        <a:pt x="0" y="1065"/>
                      </a:cubicBezTo>
                    </a:path>
                  </a:pathLst>
                </a:custGeom>
                <a:noFill/>
                <a:ln w="38100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91211" name="Line 149"/>
            <p:cNvSpPr>
              <a:spLocks noChangeShapeType="1"/>
            </p:cNvSpPr>
            <p:nvPr/>
          </p:nvSpPr>
          <p:spPr bwMode="auto">
            <a:xfrm>
              <a:off x="624" y="207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12" name="Text Box 150"/>
            <p:cNvSpPr txBox="1">
              <a:spLocks noChangeArrowheads="1"/>
            </p:cNvSpPr>
            <p:nvPr/>
          </p:nvSpPr>
          <p:spPr bwMode="auto">
            <a:xfrm>
              <a:off x="468" y="1963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9368" name="Group 152"/>
          <p:cNvGrpSpPr>
            <a:grpSpLocks/>
          </p:cNvGrpSpPr>
          <p:nvPr/>
        </p:nvGrpSpPr>
        <p:grpSpPr bwMode="auto">
          <a:xfrm>
            <a:off x="4310063" y="3124200"/>
            <a:ext cx="762000" cy="533400"/>
            <a:chOff x="782" y="499"/>
            <a:chExt cx="2085" cy="926"/>
          </a:xfrm>
        </p:grpSpPr>
        <p:grpSp>
          <p:nvGrpSpPr>
            <p:cNvPr id="91201" name="Group 153"/>
            <p:cNvGrpSpPr>
              <a:grpSpLocks/>
            </p:cNvGrpSpPr>
            <p:nvPr/>
          </p:nvGrpSpPr>
          <p:grpSpPr bwMode="auto">
            <a:xfrm>
              <a:off x="782" y="506"/>
              <a:ext cx="700" cy="919"/>
              <a:chOff x="782" y="506"/>
              <a:chExt cx="700" cy="919"/>
            </a:xfrm>
          </p:grpSpPr>
          <p:sp>
            <p:nvSpPr>
              <p:cNvPr id="91208" name="Freeform 154"/>
              <p:cNvSpPr>
                <a:spLocks/>
              </p:cNvSpPr>
              <p:nvPr/>
            </p:nvSpPr>
            <p:spPr bwMode="auto">
              <a:xfrm>
                <a:off x="782" y="506"/>
                <a:ext cx="353" cy="471"/>
              </a:xfrm>
              <a:custGeom>
                <a:avLst/>
                <a:gdLst>
                  <a:gd name="T0" fmla="*/ 0 w 1066"/>
                  <a:gd name="T1" fmla="*/ 2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2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209" name="Freeform 155"/>
              <p:cNvSpPr>
                <a:spLocks/>
              </p:cNvSpPr>
              <p:nvPr/>
            </p:nvSpPr>
            <p:spPr bwMode="auto">
              <a:xfrm flipV="1">
                <a:off x="1129" y="954"/>
                <a:ext cx="353" cy="471"/>
              </a:xfrm>
              <a:custGeom>
                <a:avLst/>
                <a:gdLst>
                  <a:gd name="T0" fmla="*/ 0 w 1066"/>
                  <a:gd name="T1" fmla="*/ 2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2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1202" name="Group 156"/>
            <p:cNvGrpSpPr>
              <a:grpSpLocks/>
            </p:cNvGrpSpPr>
            <p:nvPr/>
          </p:nvGrpSpPr>
          <p:grpSpPr bwMode="auto">
            <a:xfrm>
              <a:off x="1477" y="499"/>
              <a:ext cx="700" cy="919"/>
              <a:chOff x="782" y="506"/>
              <a:chExt cx="700" cy="919"/>
            </a:xfrm>
          </p:grpSpPr>
          <p:sp>
            <p:nvSpPr>
              <p:cNvPr id="91206" name="Freeform 157"/>
              <p:cNvSpPr>
                <a:spLocks/>
              </p:cNvSpPr>
              <p:nvPr/>
            </p:nvSpPr>
            <p:spPr bwMode="auto">
              <a:xfrm>
                <a:off x="782" y="506"/>
                <a:ext cx="353" cy="471"/>
              </a:xfrm>
              <a:custGeom>
                <a:avLst/>
                <a:gdLst>
                  <a:gd name="T0" fmla="*/ 0 w 1066"/>
                  <a:gd name="T1" fmla="*/ 2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2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207" name="Freeform 158"/>
              <p:cNvSpPr>
                <a:spLocks/>
              </p:cNvSpPr>
              <p:nvPr/>
            </p:nvSpPr>
            <p:spPr bwMode="auto">
              <a:xfrm flipV="1">
                <a:off x="1129" y="954"/>
                <a:ext cx="353" cy="471"/>
              </a:xfrm>
              <a:custGeom>
                <a:avLst/>
                <a:gdLst>
                  <a:gd name="T0" fmla="*/ 0 w 1066"/>
                  <a:gd name="T1" fmla="*/ 2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2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1203" name="Group 159"/>
            <p:cNvGrpSpPr>
              <a:grpSpLocks/>
            </p:cNvGrpSpPr>
            <p:nvPr/>
          </p:nvGrpSpPr>
          <p:grpSpPr bwMode="auto">
            <a:xfrm>
              <a:off x="2167" y="505"/>
              <a:ext cx="700" cy="919"/>
              <a:chOff x="782" y="506"/>
              <a:chExt cx="700" cy="919"/>
            </a:xfrm>
          </p:grpSpPr>
          <p:sp>
            <p:nvSpPr>
              <p:cNvPr id="91204" name="Freeform 160"/>
              <p:cNvSpPr>
                <a:spLocks/>
              </p:cNvSpPr>
              <p:nvPr/>
            </p:nvSpPr>
            <p:spPr bwMode="auto">
              <a:xfrm>
                <a:off x="782" y="506"/>
                <a:ext cx="353" cy="471"/>
              </a:xfrm>
              <a:custGeom>
                <a:avLst/>
                <a:gdLst>
                  <a:gd name="T0" fmla="*/ 0 w 1066"/>
                  <a:gd name="T1" fmla="*/ 2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2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205" name="Freeform 161"/>
              <p:cNvSpPr>
                <a:spLocks/>
              </p:cNvSpPr>
              <p:nvPr/>
            </p:nvSpPr>
            <p:spPr bwMode="auto">
              <a:xfrm flipV="1">
                <a:off x="1129" y="954"/>
                <a:ext cx="353" cy="471"/>
              </a:xfrm>
              <a:custGeom>
                <a:avLst/>
                <a:gdLst>
                  <a:gd name="T0" fmla="*/ 0 w 1066"/>
                  <a:gd name="T1" fmla="*/ 2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2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378" name="Line 162"/>
          <p:cNvSpPr>
            <a:spLocks noChangeShapeType="1"/>
          </p:cNvSpPr>
          <p:nvPr/>
        </p:nvSpPr>
        <p:spPr bwMode="auto">
          <a:xfrm>
            <a:off x="4233863" y="339725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79" name="Text Box 163"/>
          <p:cNvSpPr txBox="1">
            <a:spLocks noChangeArrowheads="1"/>
          </p:cNvSpPr>
          <p:nvPr/>
        </p:nvSpPr>
        <p:spPr bwMode="auto">
          <a:xfrm>
            <a:off x="5133976" y="3221038"/>
            <a:ext cx="7761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+1.8 V</a:t>
            </a:r>
          </a:p>
        </p:txBody>
      </p:sp>
      <p:sp>
        <p:nvSpPr>
          <p:cNvPr id="91193" name="Text Box 181"/>
          <p:cNvSpPr txBox="1">
            <a:spLocks noChangeArrowheads="1"/>
          </p:cNvSpPr>
          <p:nvPr/>
        </p:nvSpPr>
        <p:spPr bwMode="auto">
          <a:xfrm>
            <a:off x="2082800" y="165100"/>
            <a:ext cx="797560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0000"/>
                </a:solidFill>
              </a:rPr>
              <a:t>VDB Amplifier</a:t>
            </a:r>
          </a:p>
        </p:txBody>
      </p:sp>
      <p:sp>
        <p:nvSpPr>
          <p:cNvPr id="169" name="Line 23"/>
          <p:cNvSpPr>
            <a:spLocks noChangeShapeType="1"/>
          </p:cNvSpPr>
          <p:nvPr/>
        </p:nvSpPr>
        <p:spPr bwMode="auto">
          <a:xfrm flipH="1">
            <a:off x="4146551" y="3892551"/>
            <a:ext cx="101282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6705601" y="2606675"/>
            <a:ext cx="658813" cy="4254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61351" y="1092200"/>
            <a:ext cx="2289175" cy="40005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Coupling Capacitors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339138" y="5561013"/>
            <a:ext cx="1987550" cy="40005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Bypass Capacitor</a:t>
            </a:r>
          </a:p>
        </p:txBody>
      </p:sp>
      <p:cxnSp>
        <p:nvCxnSpPr>
          <p:cNvPr id="10" name="Straight Arrow Connector 9"/>
          <p:cNvCxnSpPr>
            <a:stCxn id="8" idx="2"/>
          </p:cNvCxnSpPr>
          <p:nvPr/>
        </p:nvCxnSpPr>
        <p:spPr>
          <a:xfrm flipH="1">
            <a:off x="8374064" y="1492251"/>
            <a:ext cx="1031875" cy="1458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2"/>
          </p:cNvCxnSpPr>
          <p:nvPr/>
        </p:nvCxnSpPr>
        <p:spPr>
          <a:xfrm flipH="1">
            <a:off x="4310064" y="1492250"/>
            <a:ext cx="5095875" cy="2262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74" idx="0"/>
          </p:cNvCxnSpPr>
          <p:nvPr/>
        </p:nvCxnSpPr>
        <p:spPr>
          <a:xfrm flipH="1" flipV="1">
            <a:off x="8261351" y="5332413"/>
            <a:ext cx="1071563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3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9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9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9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9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93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9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9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9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9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9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93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9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9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9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9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9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9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83" grpId="0"/>
      <p:bldP spid="9395" grpId="0" animBg="1"/>
      <p:bldP spid="9281" grpId="0" animBg="1"/>
      <p:bldP spid="9286" grpId="0" animBg="1"/>
      <p:bldP spid="9290" grpId="0" animBg="1"/>
      <p:bldP spid="9302" grpId="0" animBg="1"/>
      <p:bldP spid="9303" grpId="0" animBg="1"/>
      <p:bldP spid="9304" grpId="0" animBg="1"/>
      <p:bldP spid="9316" grpId="0" animBg="1"/>
      <p:bldP spid="9321" grpId="0" animBg="1"/>
      <p:bldP spid="9322" grpId="0" animBg="1"/>
      <p:bldP spid="9323" grpId="0" animBg="1"/>
      <p:bldP spid="9324" grpId="0"/>
      <p:bldP spid="9325" grpId="0"/>
      <p:bldP spid="9327" grpId="0"/>
      <p:bldP spid="9378" grpId="0" animBg="1"/>
      <p:bldP spid="9379" grpId="0"/>
      <p:bldP spid="169" grpId="0" animBg="1"/>
      <p:bldP spid="8" grpId="0" animBg="1"/>
      <p:bldP spid="17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6111876" y="3803650"/>
            <a:ext cx="4175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3333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333CC"/>
                </a:solidFill>
              </a:rPr>
              <a:t>i</a:t>
            </a:r>
            <a:r>
              <a:rPr lang="en-US" altLang="en-US" sz="2800" b="1" baseline="-25000">
                <a:solidFill>
                  <a:srgbClr val="3333CC"/>
                </a:solidFill>
              </a:rPr>
              <a:t>b</a:t>
            </a:r>
            <a:endParaRPr lang="en-US" altLang="en-US" sz="2800" b="1">
              <a:solidFill>
                <a:srgbClr val="3333CC"/>
              </a:solidFill>
            </a:endParaRPr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5060951" y="1352550"/>
            <a:ext cx="10230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FF0000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2800" b="1" baseline="-25000" dirty="0" err="1">
                <a:solidFill>
                  <a:srgbClr val="FF0000"/>
                </a:solidFill>
              </a:rPr>
              <a:t>DC</a:t>
            </a:r>
            <a:r>
              <a:rPr lang="en-US" altLang="en-US" sz="2800" b="1" dirty="0">
                <a:solidFill>
                  <a:srgbClr val="FF0000"/>
                </a:solidFill>
              </a:rPr>
              <a:t> =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5978525" y="1076326"/>
            <a:ext cx="496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I</a:t>
            </a:r>
            <a:r>
              <a:rPr lang="en-US" altLang="en-US" sz="2800" b="1" baseline="-25000">
                <a:solidFill>
                  <a:srgbClr val="FF0000"/>
                </a:solidFill>
              </a:rPr>
              <a:t>C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5994400" y="1593851"/>
            <a:ext cx="48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I</a:t>
            </a:r>
            <a:r>
              <a:rPr lang="en-US" altLang="en-US" sz="2800" b="1" baseline="-25000">
                <a:solidFill>
                  <a:srgbClr val="FF0000"/>
                </a:solidFill>
              </a:rPr>
              <a:t>B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6010275" y="16256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5146676" y="3959226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2800" b="1" baseline="-25000">
                <a:solidFill>
                  <a:srgbClr val="3333CC"/>
                </a:solidFill>
              </a:rPr>
              <a:t>ac</a:t>
            </a:r>
            <a:r>
              <a:rPr lang="en-US" altLang="en-US" sz="2800" b="1">
                <a:solidFill>
                  <a:srgbClr val="3333CC"/>
                </a:solidFill>
              </a:rPr>
              <a:t> =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6088064" y="3165475"/>
            <a:ext cx="3889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3333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333CC"/>
                </a:solidFill>
              </a:rPr>
              <a:t>i</a:t>
            </a:r>
            <a:r>
              <a:rPr lang="en-US" altLang="en-US" sz="2800" b="1" baseline="-25000">
                <a:solidFill>
                  <a:srgbClr val="3333CC"/>
                </a:solidFill>
              </a:rPr>
              <a:t>c</a:t>
            </a:r>
            <a:endParaRPr lang="en-US" altLang="en-US" sz="2800" b="1">
              <a:solidFill>
                <a:srgbClr val="3333CC"/>
              </a:solidFill>
            </a:endParaRPr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6096000" y="423227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4" name="Text Box 11"/>
          <p:cNvSpPr txBox="1">
            <a:spLocks noChangeArrowheads="1"/>
          </p:cNvSpPr>
          <p:nvPr/>
        </p:nvSpPr>
        <p:spPr bwMode="auto">
          <a:xfrm>
            <a:off x="3514726" y="304801"/>
            <a:ext cx="494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The </a:t>
            </a:r>
            <a:r>
              <a:rPr lang="en-US" altLang="en-US" sz="2800" b="1" u="sng">
                <a:solidFill>
                  <a:srgbClr val="FF0000"/>
                </a:solidFill>
              </a:rPr>
              <a:t>dc</a:t>
            </a:r>
            <a:r>
              <a:rPr lang="en-US" altLang="en-US" sz="2800" b="1">
                <a:solidFill>
                  <a:srgbClr val="FF0000"/>
                </a:solidFill>
              </a:rPr>
              <a:t> current gain is given as: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3581400" y="2905126"/>
            <a:ext cx="4922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333CC"/>
                </a:solidFill>
              </a:rPr>
              <a:t>The </a:t>
            </a:r>
            <a:r>
              <a:rPr lang="en-US" altLang="en-US" sz="2800" b="1" u="sng">
                <a:solidFill>
                  <a:srgbClr val="3333CC"/>
                </a:solidFill>
              </a:rPr>
              <a:t>ac</a:t>
            </a:r>
            <a:r>
              <a:rPr lang="en-US" altLang="en-US" sz="2800" b="1">
                <a:solidFill>
                  <a:srgbClr val="3333CC"/>
                </a:solidFill>
              </a:rPr>
              <a:t> current gain is given as: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2921000" y="5181600"/>
            <a:ext cx="61293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</a:rPr>
              <a:t>Use </a:t>
            </a:r>
            <a:r>
              <a:rPr lang="en-US" altLang="en-US" sz="2800" b="1">
                <a:solidFill>
                  <a:srgbClr val="FF0000"/>
                </a:solidFill>
              </a:rPr>
              <a:t>CAPITAL</a:t>
            </a:r>
            <a:r>
              <a:rPr lang="en-US" altLang="en-US" sz="2800" b="1">
                <a:solidFill>
                  <a:srgbClr val="000000"/>
                </a:solidFill>
              </a:rPr>
              <a:t> letters for </a:t>
            </a:r>
            <a:r>
              <a:rPr lang="en-US" altLang="en-US" sz="2800" b="1" u="sng">
                <a:solidFill>
                  <a:srgbClr val="FF0000"/>
                </a:solidFill>
              </a:rPr>
              <a:t>dc</a:t>
            </a:r>
            <a:r>
              <a:rPr lang="en-US" altLang="en-US" sz="2800" b="1">
                <a:solidFill>
                  <a:srgbClr val="000000"/>
                </a:solidFill>
              </a:rPr>
              <a:t> quantities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</a:rPr>
              <a:t>and </a:t>
            </a:r>
            <a:r>
              <a:rPr lang="en-US" altLang="en-US" sz="2800" b="1">
                <a:solidFill>
                  <a:srgbClr val="3333CC"/>
                </a:solidFill>
              </a:rPr>
              <a:t>lowercase </a:t>
            </a:r>
            <a:r>
              <a:rPr lang="en-US" altLang="en-US" sz="2800" b="1">
                <a:solidFill>
                  <a:srgbClr val="000000"/>
                </a:solidFill>
              </a:rPr>
              <a:t>letters for </a:t>
            </a:r>
            <a:r>
              <a:rPr lang="en-US" altLang="en-US" sz="2800" b="1" u="sng">
                <a:solidFill>
                  <a:srgbClr val="3333CC"/>
                </a:solidFill>
              </a:rPr>
              <a:t>ac</a:t>
            </a:r>
            <a:r>
              <a:rPr lang="en-US" altLang="en-US" sz="2800" b="1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8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" grpId="0" autoUpdateAnimBg="0"/>
      <p:bldP spid="13314" grpId="0" autoUpdateAnimBg="0"/>
      <p:bldP spid="13315" grpId="0" autoUpdateAnimBg="0"/>
      <p:bldP spid="13316" grpId="0" autoUpdateAnimBg="0"/>
      <p:bldP spid="13317" grpId="0" animBg="1"/>
      <p:bldP spid="13318" grpId="0" autoUpdateAnimBg="0"/>
      <p:bldP spid="13319" grpId="0" autoUpdateAnimBg="0"/>
      <p:bldP spid="13321" grpId="0" animBg="1"/>
      <p:bldP spid="13324" grpId="0" autoUpdateAnimBg="0"/>
      <p:bldP spid="1332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724401" y="3332164"/>
            <a:ext cx="9683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CC"/>
                </a:solidFill>
              </a:rPr>
              <a:t>r</a:t>
            </a:r>
            <a:r>
              <a:rPr lang="en-US" altLang="en-US" b="1" baseline="-25000">
                <a:solidFill>
                  <a:srgbClr val="3333CC"/>
                </a:solidFill>
              </a:rPr>
              <a:t>e</a:t>
            </a:r>
            <a:r>
              <a:rPr lang="en-US" altLang="en-US" b="1" baseline="16000">
                <a:solidFill>
                  <a:srgbClr val="3333CC"/>
                </a:solidFill>
                <a:latin typeface="Tahoma" panose="020B0604030504040204" pitchFamily="34" charset="0"/>
              </a:rPr>
              <a:t>’ </a:t>
            </a:r>
            <a:r>
              <a:rPr lang="en-US" altLang="en-US" b="1">
                <a:solidFill>
                  <a:srgbClr val="3333CC"/>
                </a:solidFill>
                <a:latin typeface="Tahoma" panose="020B0604030504040204" pitchFamily="34" charset="0"/>
              </a:rPr>
              <a:t>=</a:t>
            </a:r>
            <a:endParaRPr lang="en-US" altLang="en-US" b="1">
              <a:solidFill>
                <a:srgbClr val="3333C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Text Box 4"/>
              <p:cNvSpPr txBox="1">
                <a:spLocks noChangeArrowheads="1"/>
              </p:cNvSpPr>
              <p:nvPr/>
            </p:nvSpPr>
            <p:spPr bwMode="auto">
              <a:xfrm>
                <a:off x="5762625" y="3048001"/>
                <a:ext cx="2595198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en-US" b="1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sSub>
                      <m:sSubPr>
                        <m:ctrlPr>
                          <a:rPr lang="en-US" altLang="en-US" b="1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en-US" b="1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en-US" b="1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b="1" dirty="0">
                    <a:solidFill>
                      <a:srgbClr val="3333CC"/>
                    </a:solidFill>
                  </a:rPr>
                  <a:t> 26 mV</a:t>
                </a:r>
              </a:p>
            </p:txBody>
          </p:sp>
        </mc:Choice>
        <mc:Fallback xmlns="">
          <p:sp>
            <p:nvSpPr>
              <p:cNvPr id="1741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2625" y="3048001"/>
                <a:ext cx="2595198" cy="584775"/>
              </a:xfrm>
              <a:prstGeom prst="rect">
                <a:avLst/>
              </a:prstGeom>
              <a:blipFill>
                <a:blip r:embed="rId2"/>
                <a:stretch>
                  <a:fillRect t="-14583" r="-4695" b="-3229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6642101" y="3627439"/>
            <a:ext cx="5277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3333CC"/>
                </a:solidFill>
              </a:rPr>
              <a:t>I</a:t>
            </a:r>
            <a:r>
              <a:rPr lang="en-US" altLang="en-US" b="1" baseline="-25000" dirty="0">
                <a:solidFill>
                  <a:srgbClr val="3333CC"/>
                </a:solidFill>
              </a:rPr>
              <a:t>E</a:t>
            </a:r>
            <a:endParaRPr lang="en-US" altLang="en-US" b="1" dirty="0">
              <a:solidFill>
                <a:srgbClr val="3333CC"/>
              </a:solidFill>
            </a:endParaRPr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5730875" y="3627438"/>
            <a:ext cx="262694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0" name="Text Box 7"/>
          <p:cNvSpPr txBox="1">
            <a:spLocks noChangeArrowheads="1"/>
          </p:cNvSpPr>
          <p:nvPr/>
        </p:nvSpPr>
        <p:spPr bwMode="auto">
          <a:xfrm>
            <a:off x="2133601" y="407988"/>
            <a:ext cx="75930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0000"/>
                </a:solidFill>
              </a:rPr>
              <a:t>Formula for ac </a:t>
            </a:r>
            <a:r>
              <a:rPr lang="en-US" altLang="en-US" sz="4400" b="1">
                <a:solidFill>
                  <a:srgbClr val="FF0000"/>
                </a:solidFill>
              </a:rPr>
              <a:t>emitter</a:t>
            </a:r>
            <a:r>
              <a:rPr lang="en-US" altLang="en-US" sz="4000" b="1">
                <a:solidFill>
                  <a:srgbClr val="FF0000"/>
                </a:solidFill>
              </a:rPr>
              <a:t> 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6" name="Text Box 8"/>
              <p:cNvSpPr txBox="1">
                <a:spLocks noChangeArrowheads="1"/>
              </p:cNvSpPr>
              <p:nvPr/>
            </p:nvSpPr>
            <p:spPr bwMode="auto">
              <a:xfrm>
                <a:off x="2819400" y="1565275"/>
                <a:ext cx="6477000" cy="15298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 dirty="0">
                    <a:solidFill>
                      <a:srgbClr val="000000"/>
                    </a:solidFill>
                  </a:rPr>
                  <a:t>Derived by using solid-state physics and calculus: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>
                    <a:solidFill>
                      <a:srgbClr val="FF0000"/>
                    </a:solidFill>
                  </a:rPr>
                  <a:t>Diode AC Resistance,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altLang="en-US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𝒂𝒄</m:t>
                        </m:r>
                      </m:sub>
                    </m:sSub>
                    <m:r>
                      <a:rPr lang="en-US" altLang="en-US" sz="24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sSub>
                          <m:sSubPr>
                            <m:ctrlPr>
                              <a:rPr lang="en-US" alt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𝑫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en-US" sz="2400" b="1" dirty="0">
                            <a:solidFill>
                              <a:srgbClr val="FF0000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rgbClr val="000000"/>
                    </a:solidFill>
                  </a:rPr>
                  <a:t>	Chapter 1</a:t>
                </a:r>
              </a:p>
            </p:txBody>
          </p:sp>
        </mc:Choice>
        <mc:Fallback xmlns="">
          <p:sp>
            <p:nvSpPr>
              <p:cNvPr id="1741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400" y="1565275"/>
                <a:ext cx="6477000" cy="1529842"/>
              </a:xfrm>
              <a:prstGeom prst="rect">
                <a:avLst/>
              </a:prstGeom>
              <a:blipFill>
                <a:blip r:embed="rId3"/>
                <a:stretch>
                  <a:fillRect l="-1977" t="-438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7" name="Text Box 9"/>
              <p:cNvSpPr txBox="1">
                <a:spLocks noChangeArrowheads="1"/>
              </p:cNvSpPr>
              <p:nvPr/>
            </p:nvSpPr>
            <p:spPr bwMode="auto">
              <a:xfrm>
                <a:off x="2925651" y="4884806"/>
                <a:ext cx="5943600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altLang="en-US" sz="2800" b="1" dirty="0">
                    <a:solidFill>
                      <a:srgbClr val="000000"/>
                    </a:solidFill>
                  </a:rPr>
                  <a:t> is AC emitter resistance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𝑬</m:t>
                        </m:r>
                      </m:sub>
                    </m:sSub>
                  </m:oMath>
                </a14:m>
                <a:r>
                  <a:rPr lang="en-US" altLang="en-US" sz="2800" b="1" dirty="0">
                    <a:solidFill>
                      <a:srgbClr val="000000"/>
                    </a:solidFill>
                  </a:rPr>
                  <a:t> is DC emitter current</a:t>
                </a:r>
              </a:p>
            </p:txBody>
          </p:sp>
        </mc:Choice>
        <mc:Fallback xmlns="">
          <p:sp>
            <p:nvSpPr>
              <p:cNvPr id="1741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5651" y="4884806"/>
                <a:ext cx="5943600" cy="954107"/>
              </a:xfrm>
              <a:prstGeom prst="rect">
                <a:avLst/>
              </a:prstGeom>
              <a:blipFill>
                <a:blip r:embed="rId4"/>
                <a:stretch>
                  <a:fillRect t="-6369" b="-165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412" grpId="0"/>
      <p:bldP spid="17413" grpId="0"/>
      <p:bldP spid="17414" grpId="0" animBg="1"/>
      <p:bldP spid="17416" grpId="0"/>
      <p:bldP spid="174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 </a:t>
            </a:r>
            <a:r>
              <a:rPr lang="en-US" altLang="en-US" sz="4000" dirty="0"/>
              <a:t>5.3 </a:t>
            </a:r>
            <a:r>
              <a:rPr lang="en-US" altLang="en-US" sz="4000" b="1" dirty="0">
                <a:solidFill>
                  <a:srgbClr val="C00000"/>
                </a:solidFill>
              </a:rPr>
              <a:t>BJT TRANSISTOR MODELING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1" y="895350"/>
            <a:ext cx="3895725" cy="312420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447800"/>
            <a:ext cx="3784600" cy="303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72000" y="1165225"/>
            <a:ext cx="2376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 Transistor Circuit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391400" y="4648200"/>
            <a:ext cx="3246438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AC Equivalent Circuit: </a:t>
            </a: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After the removal of the dc supply and insertion of the short-circuit equivalent for the capacitors.</a:t>
            </a: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1" y="4298951"/>
            <a:ext cx="50768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109788" y="6403975"/>
            <a:ext cx="4667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Redrawn for small-signal ac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838200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Transistor AC models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295400"/>
            <a:ext cx="7772400" cy="5029200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AC equivalent circuit</a:t>
            </a:r>
            <a:r>
              <a:rPr lang="en-US" altLang="en-US" b="1" dirty="0">
                <a:solidFill>
                  <a:schemeClr val="accent2"/>
                </a:solidFill>
              </a:rPr>
              <a:t> for a transistor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Simulates</a:t>
            </a:r>
            <a:r>
              <a:rPr lang="en-US" altLang="en-US" b="1" dirty="0">
                <a:solidFill>
                  <a:schemeClr val="accent2"/>
                </a:solidFill>
              </a:rPr>
              <a:t> how a transistor behaves when an ac signal is present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b="1" dirty="0">
                <a:solidFill>
                  <a:schemeClr val="accent2"/>
                </a:solidFill>
                <a:cs typeface="Arial" panose="020B0604020202020204" pitchFamily="34" charset="0"/>
              </a:rPr>
              <a:t>There are two models commonly used in </a:t>
            </a:r>
            <a:r>
              <a:rPr lang="en-US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small signal AC </a:t>
            </a:r>
            <a:r>
              <a:rPr lang="en-US" altLang="en-US" b="1" dirty="0">
                <a:solidFill>
                  <a:schemeClr val="accent2"/>
                </a:solidFill>
                <a:cs typeface="Arial" panose="020B0604020202020204" pitchFamily="34" charset="0"/>
              </a:rPr>
              <a:t>analysis of a transistor:</a:t>
            </a:r>
          </a:p>
          <a:p>
            <a:pPr lvl="2" eaLnBrk="1" hangingPunct="1">
              <a:spcBef>
                <a:spcPct val="30000"/>
              </a:spcBef>
            </a:pPr>
            <a:r>
              <a:rPr lang="en-US" altLang="en-US" sz="2800" b="1" i="1" dirty="0">
                <a:solidFill>
                  <a:srgbClr val="C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8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e</a:t>
            </a:r>
            <a:r>
              <a:rPr lang="en-US" altLang="en-US" sz="2800" b="1" dirty="0">
                <a:solidFill>
                  <a:srgbClr val="C00000"/>
                </a:solidFill>
                <a:cs typeface="Arial" panose="020B0604020202020204" pitchFamily="34" charset="0"/>
              </a:rPr>
              <a:t> model</a:t>
            </a:r>
          </a:p>
          <a:p>
            <a:pPr lvl="3" eaLnBrk="1" hangingPunct="1">
              <a:spcBef>
                <a:spcPct val="30000"/>
              </a:spcBef>
            </a:pPr>
            <a:r>
              <a:rPr lang="en-US" altLang="en-US" b="1" dirty="0">
                <a:solidFill>
                  <a:srgbClr val="FF0000"/>
                </a:solidFill>
              </a:rPr>
              <a:t>T</a:t>
            </a:r>
            <a:r>
              <a:rPr lang="en-US" altLang="en-US" b="1" dirty="0">
                <a:solidFill>
                  <a:schemeClr val="accent2"/>
                </a:solidFill>
              </a:rPr>
              <a:t> model and </a:t>
            </a:r>
            <a:r>
              <a:rPr lang="en-US" altLang="en-US" b="1" dirty="0">
                <a:solidFill>
                  <a:srgbClr val="FF0000"/>
                </a:solidFill>
                <a:latin typeface="Symbol" panose="05050102010706020507" pitchFamily="18" charset="2"/>
              </a:rPr>
              <a:t>p</a:t>
            </a:r>
            <a:r>
              <a:rPr lang="en-US" altLang="en-US" b="1" dirty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chemeClr val="accent2"/>
                </a:solidFill>
              </a:rPr>
              <a:t>type models are widely used</a:t>
            </a:r>
            <a:endParaRPr lang="en-US" altLang="en-US" b="1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lvl="2" eaLnBrk="1" hangingPunct="1">
              <a:spcBef>
                <a:spcPct val="30000"/>
              </a:spcBef>
            </a:pPr>
            <a:r>
              <a:rPr lang="en-US" altLang="en-US" sz="2800" b="1" dirty="0">
                <a:solidFill>
                  <a:srgbClr val="C00000"/>
                </a:solidFill>
                <a:cs typeface="Arial" panose="020B0604020202020204" pitchFamily="34" charset="0"/>
              </a:rPr>
              <a:t>Hybrid equivalent model (</a:t>
            </a:r>
            <a:r>
              <a:rPr lang="en-US" altLang="en-US" sz="2800" b="1" i="1" dirty="0">
                <a:solidFill>
                  <a:srgbClr val="C00000"/>
                </a:solidFill>
                <a:cs typeface="Arial" panose="020B0604020202020204" pitchFamily="34" charset="0"/>
              </a:rPr>
              <a:t>h</a:t>
            </a:r>
            <a:r>
              <a:rPr lang="en-US" altLang="en-US" sz="2800" b="1" dirty="0">
                <a:solidFill>
                  <a:srgbClr val="C00000"/>
                </a:solidFill>
                <a:cs typeface="Arial" panose="020B0604020202020204" pitchFamily="34" charset="0"/>
              </a:rPr>
              <a:t> parameter model)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1618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09800" y="228600"/>
                <a:ext cx="7772400" cy="914400"/>
              </a:xfrm>
            </p:spPr>
            <p:txBody>
              <a:bodyPr>
                <a:normAutofit fontScale="90000"/>
              </a:bodyPr>
              <a:lstStyle/>
              <a:p>
                <a:pPr eaLnBrk="1" hangingPunct="1"/>
                <a:r>
                  <a:rPr lang="pt-BR" altLang="en-US" sz="4800" b="1" dirty="0">
                    <a:solidFill>
                      <a:srgbClr val="C00000"/>
                    </a:solidFill>
                  </a:rPr>
                  <a:t> 5.4 </a:t>
                </a:r>
                <a:r>
                  <a:rPr lang="en-US" altLang="en-US" sz="4800" b="1" dirty="0">
                    <a:solidFill>
                      <a:srgbClr val="C00000"/>
                    </a:solidFill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en-US" sz="4800" b="1" i="1" dirty="0">
                        <a:solidFill>
                          <a:srgbClr val="C00000"/>
                        </a:solidFill>
                        <a:latin typeface="Cambria Math"/>
                        <a:cs typeface="Arial" panose="020B0604020202020204" pitchFamily="34" charset="0"/>
                      </a:rPr>
                      <m:t>𝒓</m:t>
                    </m:r>
                    <m:r>
                      <a:rPr lang="en-US" altLang="en-US" sz="4800" b="1" i="1" baseline="-25000" dirty="0">
                        <a:solidFill>
                          <a:srgbClr val="C00000"/>
                        </a:solidFill>
                        <a:latin typeface="Cambria Math"/>
                        <a:cs typeface="Arial" panose="020B0604020202020204" pitchFamily="34" charset="0"/>
                      </a:rPr>
                      <m:t>𝒆</m:t>
                    </m:r>
                  </m:oMath>
                </a14:m>
                <a:r>
                  <a:rPr lang="en-US" altLang="en-US" sz="4800" b="1" dirty="0">
                    <a:solidFill>
                      <a:srgbClr val="C00000"/>
                    </a:solidFill>
                    <a:cs typeface="Arial" panose="020B0604020202020204" pitchFamily="34" charset="0"/>
                  </a:rPr>
                  <a:t> Transistor Model</a:t>
                </a:r>
                <a:br>
                  <a:rPr lang="en-US" altLang="en-US" sz="4800" b="1" dirty="0">
                    <a:solidFill>
                      <a:srgbClr val="C00000"/>
                    </a:solidFill>
                    <a:cs typeface="Arial" panose="020B0604020202020204" pitchFamily="34" charset="0"/>
                  </a:rPr>
                </a:br>
                <a:r>
                  <a:rPr lang="en-US" altLang="en-US" sz="3200" b="1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(The Input Equivalent Circuit)</a:t>
                </a:r>
                <a:endParaRPr lang="en-US" altLang="en-US" sz="1600" b="1" dirty="0">
                  <a:solidFill>
                    <a:srgbClr val="0070C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1618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09800" y="228600"/>
                <a:ext cx="7772400" cy="914400"/>
              </a:xfrm>
              <a:blipFill>
                <a:blip r:embed="rId2"/>
                <a:stretch>
                  <a:fillRect l="-1725" t="-30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295400"/>
            <a:ext cx="4057650" cy="419100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962" y="1371600"/>
            <a:ext cx="411003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524001" y="5486401"/>
                <a:ext cx="9079217" cy="800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2300" dirty="0">
                    <a:solidFill>
                      <a:srgbClr val="FF0000"/>
                    </a:solidFill>
                  </a:rPr>
                  <a:t>BJT similar to two diodes, emitter-base (FB) and collector-base (RB)</a:t>
                </a:r>
              </a:p>
              <a:p>
                <a14:m>
                  <m:oMath xmlns:m="http://schemas.openxmlformats.org/officeDocument/2006/math">
                    <m:r>
                      <a:rPr lang="en-US" altLang="en-US" sz="2300" i="1" dirty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𝑟</m:t>
                    </m:r>
                    <m:r>
                      <a:rPr lang="en-US" altLang="en-US" sz="2300" i="1" baseline="-25000" dirty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𝑒</m:t>
                    </m:r>
                  </m:oMath>
                </a14:m>
                <a:r>
                  <a:rPr lang="en-US" altLang="en-US" sz="23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Transistor Model: </a:t>
                </a:r>
                <a:r>
                  <a:rPr lang="en-US" altLang="en-US" sz="2300" dirty="0">
                    <a:solidFill>
                      <a:srgbClr val="FF0000"/>
                    </a:solidFill>
                  </a:rPr>
                  <a:t>Diode between Emitter and Base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5486401"/>
                <a:ext cx="9079217" cy="800219"/>
              </a:xfrm>
              <a:prstGeom prst="rect">
                <a:avLst/>
              </a:prstGeom>
              <a:blipFill>
                <a:blip r:embed="rId5"/>
                <a:stretch>
                  <a:fillRect l="-940" t="-5344" r="-67" b="-16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7" b="4123"/>
          <a:stretch/>
        </p:blipFill>
        <p:spPr>
          <a:xfrm>
            <a:off x="5354536" y="1661376"/>
            <a:ext cx="1503464" cy="22022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62646" y="3440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21581" y="198120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B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6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0" b="608"/>
          <a:stretch/>
        </p:blipFill>
        <p:spPr bwMode="auto">
          <a:xfrm>
            <a:off x="7162801" y="1309538"/>
            <a:ext cx="2667000" cy="3286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4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altLang="en-US" sz="4800" b="1" dirty="0">
                <a:solidFill>
                  <a:srgbClr val="C00000"/>
                </a:solidFill>
              </a:rPr>
              <a:t> </a:t>
            </a:r>
            <a:r>
              <a:rPr lang="en-US" altLang="en-US" sz="4800" b="1" dirty="0">
                <a:solidFill>
                  <a:srgbClr val="C00000"/>
                </a:solidFill>
                <a:cs typeface="Arial" panose="020B0604020202020204" pitchFamily="34" charset="0"/>
              </a:rPr>
              <a:t>The r</a:t>
            </a:r>
            <a:r>
              <a:rPr lang="en-US" altLang="en-US" sz="4800" b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e</a:t>
            </a:r>
            <a:r>
              <a:rPr lang="en-US" altLang="en-US" sz="4800" b="1" dirty="0">
                <a:solidFill>
                  <a:srgbClr val="C00000"/>
                </a:solidFill>
                <a:cs typeface="Arial" panose="020B0604020202020204" pitchFamily="34" charset="0"/>
              </a:rPr>
              <a:t> Transistor Model</a:t>
            </a:r>
            <a:br>
              <a:rPr lang="en-US" altLang="en-US" sz="4800" b="1" dirty="0">
                <a:solidFill>
                  <a:srgbClr val="C00000"/>
                </a:solidFill>
                <a:cs typeface="Arial" panose="020B0604020202020204" pitchFamily="34" charset="0"/>
              </a:rPr>
            </a:br>
            <a:r>
              <a:rPr lang="en-US" altLang="en-US" sz="2800" b="1" dirty="0">
                <a:solidFill>
                  <a:srgbClr val="0070C0"/>
                </a:solidFill>
                <a:cs typeface="Arial" panose="020B0604020202020204" pitchFamily="34" charset="0"/>
              </a:rPr>
              <a:t>(The BJT Equivalent Circuit – T Model)</a:t>
            </a:r>
            <a:endParaRPr lang="en-US" altLang="en-US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32"/>
          <a:stretch>
            <a:fillRect/>
          </a:stretch>
        </p:blipFill>
        <p:spPr bwMode="auto">
          <a:xfrm>
            <a:off x="1752600" y="1355726"/>
            <a:ext cx="35814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520781" y="4617009"/>
                <a:ext cx="9147219" cy="22159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sz="2300" dirty="0">
                    <a:solidFill>
                      <a:srgbClr val="FF0000"/>
                    </a:solidFill>
                  </a:rPr>
                  <a:t>BJT similar to two diodes, emitter-base (FB) and collector-base (RB)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en-US" sz="2300" i="1" dirty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𝑟</m:t>
                    </m:r>
                    <m:r>
                      <a:rPr lang="en-US" altLang="en-US" sz="2300" i="1" baseline="-25000" dirty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𝑒</m:t>
                    </m:r>
                  </m:oMath>
                </a14:m>
                <a:r>
                  <a:rPr lang="en-US" altLang="en-US" sz="23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Transistor Model: </a:t>
                </a:r>
                <a:r>
                  <a:rPr lang="en-US" altLang="en-US" sz="2300" dirty="0">
                    <a:solidFill>
                      <a:srgbClr val="FF0000"/>
                    </a:solidFill>
                  </a:rPr>
                  <a:t>AC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en-US" sz="2300" dirty="0">
                    <a:solidFill>
                      <a:srgbClr val="FF0000"/>
                    </a:solidFill>
                  </a:rPr>
                  <a:t>) between Emitter and Base (input/ base side)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sz="2300" dirty="0">
                    <a:solidFill>
                      <a:srgbClr val="FF0000"/>
                    </a:solidFill>
                  </a:rPr>
                  <a:t>Output/ collector side: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altLang="en-US" sz="23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en-US" sz="23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𝛽</m:t>
                    </m:r>
                    <m:sSub>
                      <m:sSubPr>
                        <m:ctrlP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3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en-US" sz="2300" dirty="0">
                    <a:solidFill>
                      <a:srgbClr val="FF0000"/>
                    </a:solidFill>
                  </a:rPr>
                  <a:t>; output current = </a:t>
                </a:r>
                <a14:m>
                  <m:oMath xmlns:m="http://schemas.openxmlformats.org/officeDocument/2006/math">
                    <m:r>
                      <a:rPr lang="en-US" altLang="en-US" sz="23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altLang="en-US" sz="23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en-US" sz="2300" dirty="0">
                    <a:solidFill>
                      <a:srgbClr val="FF0000"/>
                    </a:solidFill>
                  </a:rPr>
                  <a:t> input current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sz="2300" dirty="0">
                    <a:solidFill>
                      <a:srgbClr val="FF0000"/>
                    </a:solidFill>
                  </a:rPr>
                  <a:t>Output side: Current dependent current source ( diamond shape)   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781" y="4617009"/>
                <a:ext cx="9147219" cy="2215991"/>
              </a:xfrm>
              <a:prstGeom prst="rect">
                <a:avLst/>
              </a:prstGeom>
              <a:blipFill>
                <a:blip r:embed="rId4"/>
                <a:stretch>
                  <a:fillRect l="-799" t="-1923" r="-1799" b="-4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191001" y="2600433"/>
                <a:ext cx="4072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1" y="2600433"/>
                <a:ext cx="40729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254370" y="4162752"/>
                <a:ext cx="4020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370" y="4162752"/>
                <a:ext cx="4020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257800" y="1309538"/>
                <a:ext cx="3952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309538"/>
                <a:ext cx="3952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33"/>
          <p:cNvSpPr txBox="1">
            <a:spLocks noChangeArrowheads="1"/>
          </p:cNvSpPr>
          <p:nvPr/>
        </p:nvSpPr>
        <p:spPr bwMode="auto">
          <a:xfrm>
            <a:off x="2927456" y="365966"/>
            <a:ext cx="64017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CC00"/>
                </a:solidFill>
              </a:rPr>
              <a:t>Deriving </a:t>
            </a:r>
            <a:r>
              <a:rPr lang="en-US" altLang="en-US" sz="3600" b="1" dirty="0">
                <a:solidFill>
                  <a:srgbClr val="000000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3600" b="1" dirty="0">
                <a:solidFill>
                  <a:srgbClr val="00CC00"/>
                </a:solidFill>
              </a:rPr>
              <a:t> model from </a:t>
            </a:r>
            <a:r>
              <a:rPr lang="en-US" altLang="en-US" sz="3600" b="1" dirty="0">
                <a:solidFill>
                  <a:srgbClr val="000000"/>
                </a:solidFill>
              </a:rPr>
              <a:t>T</a:t>
            </a:r>
            <a:r>
              <a:rPr lang="en-US" altLang="en-US" sz="3600" b="1" dirty="0">
                <a:solidFill>
                  <a:srgbClr val="00CC00"/>
                </a:solidFill>
              </a:rPr>
              <a:t> model</a:t>
            </a:r>
          </a:p>
        </p:txBody>
      </p:sp>
      <p:grpSp>
        <p:nvGrpSpPr>
          <p:cNvPr id="113667" name="Group 45"/>
          <p:cNvGrpSpPr>
            <a:grpSpLocks/>
          </p:cNvGrpSpPr>
          <p:nvPr/>
        </p:nvGrpSpPr>
        <p:grpSpPr bwMode="auto">
          <a:xfrm>
            <a:off x="7127875" y="1676400"/>
            <a:ext cx="2133600" cy="3505200"/>
            <a:chOff x="2256" y="1728"/>
            <a:chExt cx="1344" cy="2208"/>
          </a:xfrm>
        </p:grpSpPr>
        <p:sp>
          <p:nvSpPr>
            <p:cNvPr id="113690" name="Oval 2"/>
            <p:cNvSpPr>
              <a:spLocks noChangeArrowheads="1"/>
            </p:cNvSpPr>
            <p:nvPr/>
          </p:nvSpPr>
          <p:spPr bwMode="auto">
            <a:xfrm>
              <a:off x="3024" y="2064"/>
              <a:ext cx="576" cy="57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13691" name="Line 3"/>
            <p:cNvSpPr>
              <a:spLocks noChangeShapeType="1"/>
            </p:cNvSpPr>
            <p:nvPr/>
          </p:nvSpPr>
          <p:spPr bwMode="auto">
            <a:xfrm>
              <a:off x="3312" y="216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92" name="Line 4"/>
            <p:cNvSpPr>
              <a:spLocks noChangeShapeType="1"/>
            </p:cNvSpPr>
            <p:nvPr/>
          </p:nvSpPr>
          <p:spPr bwMode="auto">
            <a:xfrm flipV="1">
              <a:off x="3312" y="1872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93" name="Line 7"/>
            <p:cNvSpPr>
              <a:spLocks noChangeShapeType="1"/>
            </p:cNvSpPr>
            <p:nvPr/>
          </p:nvSpPr>
          <p:spPr bwMode="auto">
            <a:xfrm flipV="1">
              <a:off x="3312" y="2640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94" name="Oval 13"/>
            <p:cNvSpPr>
              <a:spLocks noChangeArrowheads="1"/>
            </p:cNvSpPr>
            <p:nvPr/>
          </p:nvSpPr>
          <p:spPr bwMode="auto">
            <a:xfrm>
              <a:off x="3234" y="1728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13695" name="Oval 14"/>
            <p:cNvSpPr>
              <a:spLocks noChangeArrowheads="1"/>
            </p:cNvSpPr>
            <p:nvPr/>
          </p:nvSpPr>
          <p:spPr bwMode="auto">
            <a:xfrm>
              <a:off x="3236" y="3792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113696" name="Group 34"/>
            <p:cNvGrpSpPr>
              <a:grpSpLocks/>
            </p:cNvGrpSpPr>
            <p:nvPr/>
          </p:nvGrpSpPr>
          <p:grpSpPr bwMode="auto">
            <a:xfrm rot="10800000">
              <a:off x="3208" y="2976"/>
              <a:ext cx="208" cy="620"/>
              <a:chOff x="2000" y="1771"/>
              <a:chExt cx="208" cy="620"/>
            </a:xfrm>
          </p:grpSpPr>
          <p:sp>
            <p:nvSpPr>
              <p:cNvPr id="113700" name="Line 35"/>
              <p:cNvSpPr>
                <a:spLocks noChangeShapeType="1"/>
              </p:cNvSpPr>
              <p:nvPr/>
            </p:nvSpPr>
            <p:spPr bwMode="auto">
              <a:xfrm flipV="1">
                <a:off x="2001" y="1925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701" name="Line 36"/>
              <p:cNvSpPr>
                <a:spLocks noChangeShapeType="1"/>
              </p:cNvSpPr>
              <p:nvPr/>
            </p:nvSpPr>
            <p:spPr bwMode="auto">
              <a:xfrm flipV="1">
                <a:off x="2001" y="213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702" name="Line 37"/>
              <p:cNvSpPr>
                <a:spLocks noChangeShapeType="1"/>
              </p:cNvSpPr>
              <p:nvPr/>
            </p:nvSpPr>
            <p:spPr bwMode="auto">
              <a:xfrm flipH="1" flipV="1">
                <a:off x="2001" y="2028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703" name="Line 38"/>
              <p:cNvSpPr>
                <a:spLocks noChangeShapeType="1"/>
              </p:cNvSpPr>
              <p:nvPr/>
            </p:nvSpPr>
            <p:spPr bwMode="auto">
              <a:xfrm flipH="1" flipV="1">
                <a:off x="2001" y="2232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704" name="Line 39"/>
              <p:cNvSpPr>
                <a:spLocks noChangeShapeType="1"/>
              </p:cNvSpPr>
              <p:nvPr/>
            </p:nvSpPr>
            <p:spPr bwMode="auto">
              <a:xfrm flipH="1" flipV="1">
                <a:off x="2001" y="182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705" name="Freeform 40"/>
              <p:cNvSpPr>
                <a:spLocks/>
              </p:cNvSpPr>
              <p:nvPr/>
            </p:nvSpPr>
            <p:spPr bwMode="auto">
              <a:xfrm flipH="1">
                <a:off x="2101" y="2336"/>
                <a:ext cx="107" cy="55"/>
              </a:xfrm>
              <a:custGeom>
                <a:avLst/>
                <a:gdLst>
                  <a:gd name="T0" fmla="*/ 25 w 131"/>
                  <a:gd name="T1" fmla="*/ 12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706" name="Freeform 41"/>
              <p:cNvSpPr>
                <a:spLocks/>
              </p:cNvSpPr>
              <p:nvPr/>
            </p:nvSpPr>
            <p:spPr bwMode="auto">
              <a:xfrm flipH="1">
                <a:off x="2000" y="1771"/>
                <a:ext cx="100" cy="50"/>
              </a:xfrm>
              <a:custGeom>
                <a:avLst/>
                <a:gdLst>
                  <a:gd name="T0" fmla="*/ 15 w 131"/>
                  <a:gd name="T1" fmla="*/ 6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3697" name="Line 42"/>
            <p:cNvSpPr>
              <a:spLocks noChangeShapeType="1"/>
            </p:cNvSpPr>
            <p:nvPr/>
          </p:nvSpPr>
          <p:spPr bwMode="auto">
            <a:xfrm flipV="1">
              <a:off x="3312" y="3600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98" name="Oval 43"/>
            <p:cNvSpPr>
              <a:spLocks noChangeArrowheads="1"/>
            </p:cNvSpPr>
            <p:nvPr/>
          </p:nvSpPr>
          <p:spPr bwMode="auto">
            <a:xfrm>
              <a:off x="2256" y="2698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13699" name="Line 44"/>
            <p:cNvSpPr>
              <a:spLocks noChangeShapeType="1"/>
            </p:cNvSpPr>
            <p:nvPr/>
          </p:nvSpPr>
          <p:spPr bwMode="auto">
            <a:xfrm flipH="1">
              <a:off x="2400" y="278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3668" name="Rectangle 46"/>
          <p:cNvSpPr>
            <a:spLocks noChangeArrowheads="1"/>
          </p:cNvSpPr>
          <p:nvPr/>
        </p:nvSpPr>
        <p:spPr bwMode="auto">
          <a:xfrm>
            <a:off x="9032876" y="3810000"/>
            <a:ext cx="5572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CC"/>
                </a:solidFill>
              </a:rPr>
              <a:t>r</a:t>
            </a:r>
            <a:r>
              <a:rPr lang="en-US" altLang="en-US" b="1" baseline="-25000">
                <a:solidFill>
                  <a:srgbClr val="3333CC"/>
                </a:solidFill>
              </a:rPr>
              <a:t>e</a:t>
            </a:r>
            <a:r>
              <a:rPr lang="en-US" altLang="en-US" b="1" baseline="16000">
                <a:solidFill>
                  <a:srgbClr val="3333CC"/>
                </a:solidFill>
                <a:latin typeface="Tahoma" panose="020B0604030504040204" pitchFamily="34" charset="0"/>
              </a:rPr>
              <a:t>’</a:t>
            </a:r>
          </a:p>
        </p:txBody>
      </p:sp>
      <p:sp>
        <p:nvSpPr>
          <p:cNvPr id="113669" name="Text Box 47"/>
          <p:cNvSpPr txBox="1">
            <a:spLocks noChangeArrowheads="1"/>
          </p:cNvSpPr>
          <p:nvPr/>
        </p:nvSpPr>
        <p:spPr bwMode="auto">
          <a:xfrm>
            <a:off x="9413875" y="1600201"/>
            <a:ext cx="42030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CC"/>
                </a:solidFill>
              </a:rPr>
              <a:t>i</a:t>
            </a:r>
            <a:r>
              <a:rPr lang="en-US" altLang="en-US" b="1" baseline="-25000">
                <a:solidFill>
                  <a:srgbClr val="3333CC"/>
                </a:solidFill>
              </a:rPr>
              <a:t>c</a:t>
            </a:r>
            <a:endParaRPr lang="en-US" altLang="en-US" b="1">
              <a:solidFill>
                <a:srgbClr val="3333CC"/>
              </a:solidFill>
            </a:endParaRPr>
          </a:p>
        </p:txBody>
      </p:sp>
      <p:sp>
        <p:nvSpPr>
          <p:cNvPr id="113670" name="Text Box 48"/>
          <p:cNvSpPr txBox="1">
            <a:spLocks noChangeArrowheads="1"/>
          </p:cNvSpPr>
          <p:nvPr/>
        </p:nvSpPr>
        <p:spPr bwMode="auto">
          <a:xfrm>
            <a:off x="9337675" y="4724401"/>
            <a:ext cx="42030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CC"/>
                </a:solidFill>
              </a:rPr>
              <a:t>i</a:t>
            </a:r>
            <a:r>
              <a:rPr lang="en-US" altLang="en-US" b="1" baseline="-25000">
                <a:solidFill>
                  <a:srgbClr val="3333CC"/>
                </a:solidFill>
              </a:rPr>
              <a:t>e</a:t>
            </a:r>
            <a:endParaRPr lang="en-US" altLang="en-US" b="1">
              <a:solidFill>
                <a:srgbClr val="3333CC"/>
              </a:solidFill>
            </a:endParaRPr>
          </a:p>
        </p:txBody>
      </p:sp>
      <p:sp>
        <p:nvSpPr>
          <p:cNvPr id="113671" name="Text Box 49"/>
          <p:cNvSpPr txBox="1">
            <a:spLocks noChangeArrowheads="1"/>
          </p:cNvSpPr>
          <p:nvPr/>
        </p:nvSpPr>
        <p:spPr bwMode="auto">
          <a:xfrm>
            <a:off x="7467600" y="3733801"/>
            <a:ext cx="45076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CC"/>
                </a:solidFill>
              </a:rPr>
              <a:t>i</a:t>
            </a:r>
            <a:r>
              <a:rPr lang="en-US" altLang="en-US" b="1" baseline="-25000">
                <a:solidFill>
                  <a:srgbClr val="3333CC"/>
                </a:solidFill>
              </a:rPr>
              <a:t>b</a:t>
            </a:r>
            <a:endParaRPr lang="en-US" altLang="en-US" b="1">
              <a:solidFill>
                <a:srgbClr val="3333CC"/>
              </a:solidFill>
            </a:endParaRPr>
          </a:p>
        </p:txBody>
      </p:sp>
      <p:sp>
        <p:nvSpPr>
          <p:cNvPr id="113672" name="AutoShape 50"/>
          <p:cNvSpPr>
            <a:spLocks noChangeArrowheads="1"/>
          </p:cNvSpPr>
          <p:nvPr/>
        </p:nvSpPr>
        <p:spPr bwMode="auto">
          <a:xfrm>
            <a:off x="7467600" y="358140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3673" name="AutoShape 51"/>
          <p:cNvSpPr>
            <a:spLocks noChangeArrowheads="1"/>
          </p:cNvSpPr>
          <p:nvPr/>
        </p:nvSpPr>
        <p:spPr bwMode="auto">
          <a:xfrm rot="5400000">
            <a:off x="8880475" y="495300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3674" name="AutoShape 52"/>
          <p:cNvSpPr>
            <a:spLocks noChangeArrowheads="1"/>
          </p:cNvSpPr>
          <p:nvPr/>
        </p:nvSpPr>
        <p:spPr bwMode="auto">
          <a:xfrm rot="5400000">
            <a:off x="8956675" y="182880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89" name="Text Box 57"/>
              <p:cNvSpPr txBox="1">
                <a:spLocks noChangeArrowheads="1"/>
              </p:cNvSpPr>
              <p:nvPr/>
            </p:nvSpPr>
            <p:spPr bwMode="auto">
              <a:xfrm>
                <a:off x="2451101" y="1347789"/>
                <a:ext cx="1929311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1" dirty="0" err="1">
                    <a:solidFill>
                      <a:srgbClr val="000000"/>
                    </a:solidFill>
                  </a:rPr>
                  <a:t>v</a:t>
                </a:r>
                <a:r>
                  <a:rPr lang="en-US" altLang="en-US" b="1" baseline="-25000" dirty="0" err="1">
                    <a:solidFill>
                      <a:srgbClr val="000000"/>
                    </a:solidFill>
                  </a:rPr>
                  <a:t>be</a:t>
                </a:r>
                <a:r>
                  <a:rPr lang="en-US" altLang="en-US" b="1" dirty="0">
                    <a:solidFill>
                      <a:srgbClr val="000000"/>
                    </a:solidFill>
                  </a:rPr>
                  <a:t> = </a:t>
                </a:r>
                <a:r>
                  <a:rPr lang="en-US" altLang="en-US" b="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en-US" b="1" baseline="-25000" dirty="0" err="1">
                    <a:solidFill>
                      <a:srgbClr val="000000"/>
                    </a:solidFill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en-US" b="1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en-US" b="1" dirty="0" err="1">
                    <a:solidFill>
                      <a:srgbClr val="000000"/>
                    </a:solidFill>
                  </a:rPr>
                  <a:t>r</a:t>
                </a:r>
                <a:r>
                  <a:rPr lang="en-US" altLang="en-US" b="1" baseline="-25000" dirty="0" err="1">
                    <a:solidFill>
                      <a:srgbClr val="000000"/>
                    </a:solidFill>
                  </a:rPr>
                  <a:t>e</a:t>
                </a:r>
                <a:endParaRPr lang="en-US" altLang="en-US" b="1" baseline="16000" dirty="0">
                  <a:solidFill>
                    <a:srgbClr val="3333CC"/>
                  </a:solidFill>
                  <a:latin typeface="Tahoma" panose="020B0604030504040204" pitchFamily="34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8489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1101" y="1347789"/>
                <a:ext cx="1929311" cy="954107"/>
              </a:xfrm>
              <a:prstGeom prst="rect">
                <a:avLst/>
              </a:prstGeom>
              <a:blipFill>
                <a:blip r:embed="rId2"/>
                <a:stretch>
                  <a:fillRect l="-7886" t="-8917" r="-31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682" name="Text Box 58"/>
              <p:cNvSpPr txBox="1">
                <a:spLocks noChangeArrowheads="1"/>
              </p:cNvSpPr>
              <p:nvPr/>
            </p:nvSpPr>
            <p:spPr bwMode="auto">
              <a:xfrm>
                <a:off x="2671793" y="2819400"/>
                <a:ext cx="2089793" cy="584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1" i="1" dirty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≅</m:t>
                      </m:r>
                      <m:r>
                        <m:rPr>
                          <m:nor/>
                        </m:rPr>
                        <a:rPr lang="en-US" altLang="en-US" b="1" dirty="0">
                          <a:solidFill>
                            <a:srgbClr val="000000"/>
                          </a:solidFill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en-US" b="1" baseline="-25000" dirty="0">
                          <a:solidFill>
                            <a:srgbClr val="000000"/>
                          </a:solidFill>
                        </a:rPr>
                        <m:t>b</m:t>
                      </m:r>
                      <m:r>
                        <a:rPr lang="en-US" altLang="en-US" b="1" i="1" dirty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en-US" b="1" dirty="0">
                          <a:solidFill>
                            <a:srgbClr val="000000"/>
                          </a:solidFill>
                          <a:latin typeface="Symbol" panose="05050102010706020507" pitchFamily="18" charset="2"/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en-US" b="1" dirty="0">
                          <a:solidFill>
                            <a:srgbClr val="000000"/>
                          </a:solidFill>
                          <a:latin typeface="Symbol" panose="05050102010706020507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en-US" b="1" baseline="-25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m:t>e</m:t>
                      </m:r>
                    </m:oMath>
                  </m:oMathPara>
                </a14:m>
                <a:endParaRPr lang="en-US" altLang="en-US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13682" name="Text 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1793" y="2819400"/>
                <a:ext cx="2089793" cy="584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94" name="Text Box 62"/>
          <p:cNvSpPr txBox="1">
            <a:spLocks noChangeArrowheads="1"/>
          </p:cNvSpPr>
          <p:nvPr/>
        </p:nvSpPr>
        <p:spPr bwMode="auto">
          <a:xfrm>
            <a:off x="2671792" y="2174026"/>
            <a:ext cx="2281208" cy="91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b="1" dirty="0">
                <a:solidFill>
                  <a:srgbClr val="000000"/>
                </a:solidFill>
              </a:rPr>
              <a:t>= (</a:t>
            </a:r>
            <a:r>
              <a:rPr lang="en-US" altLang="en-US" b="1" dirty="0">
                <a:solidFill>
                  <a:srgbClr val="000000"/>
                </a:solidFill>
                <a:latin typeface="Symbol" panose="05050102010706020507" pitchFamily="18" charset="2"/>
              </a:rPr>
              <a:t>b+1)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</a:rPr>
              <a:t>i</a:t>
            </a:r>
            <a:r>
              <a:rPr lang="en-US" altLang="en-US" b="1" baseline="-25000" dirty="0" err="1">
                <a:solidFill>
                  <a:srgbClr val="000000"/>
                </a:solidFill>
              </a:rPr>
              <a:t>b</a:t>
            </a:r>
            <a:r>
              <a:rPr lang="en-US" altLang="en-US" b="1" dirty="0" err="1">
                <a:solidFill>
                  <a:srgbClr val="000000"/>
                </a:solidFill>
              </a:rPr>
              <a:t>r</a:t>
            </a:r>
            <a:r>
              <a:rPr lang="en-US" altLang="en-US" b="1" baseline="-25000" dirty="0" err="1">
                <a:solidFill>
                  <a:srgbClr val="000000"/>
                </a:solidFill>
              </a:rPr>
              <a:t>e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b="1" baseline="16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495" name="AutoShape 63"/>
          <p:cNvSpPr>
            <a:spLocks noChangeArrowheads="1"/>
          </p:cNvSpPr>
          <p:nvPr/>
        </p:nvSpPr>
        <p:spPr bwMode="auto">
          <a:xfrm>
            <a:off x="6400800" y="3184525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8496" name="Text Box 64"/>
          <p:cNvSpPr txBox="1">
            <a:spLocks noChangeArrowheads="1"/>
          </p:cNvSpPr>
          <p:nvPr/>
        </p:nvSpPr>
        <p:spPr bwMode="auto">
          <a:xfrm>
            <a:off x="5181600" y="2955926"/>
            <a:ext cx="12939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</a:rPr>
              <a:t>z</a:t>
            </a:r>
            <a:r>
              <a:rPr lang="en-US" altLang="en-US" b="1" baseline="-25000">
                <a:solidFill>
                  <a:srgbClr val="FF0000"/>
                </a:solidFill>
              </a:rPr>
              <a:t>in(base)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8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3383670" y="52036"/>
            <a:ext cx="55911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CC00"/>
                </a:solidFill>
              </a:rPr>
              <a:t>The </a:t>
            </a:r>
            <a:r>
              <a:rPr lang="en-US" altLang="en-US" sz="3600" b="1" dirty="0">
                <a:solidFill>
                  <a:srgbClr val="000000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3600" b="1" dirty="0">
                <a:solidFill>
                  <a:srgbClr val="00CC00"/>
                </a:solidFill>
              </a:rPr>
              <a:t> model of a transistor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CC00"/>
                </a:solidFill>
              </a:rPr>
              <a:t>is based on </a:t>
            </a:r>
            <a:r>
              <a:rPr lang="en-US" altLang="en-US" sz="3600" b="1" dirty="0">
                <a:solidFill>
                  <a:srgbClr val="00FF00"/>
                </a:solidFill>
              </a:rPr>
              <a:t>z</a:t>
            </a:r>
            <a:r>
              <a:rPr lang="en-US" altLang="en-US" sz="3600" b="1" baseline="-25000" dirty="0">
                <a:solidFill>
                  <a:srgbClr val="00FF00"/>
                </a:solidFill>
              </a:rPr>
              <a:t>in(base)</a:t>
            </a:r>
            <a:r>
              <a:rPr lang="en-US" altLang="en-US" sz="3600" b="1" dirty="0">
                <a:solidFill>
                  <a:srgbClr val="00FF00"/>
                </a:solidFill>
              </a:rPr>
              <a:t> = </a:t>
            </a:r>
            <a:r>
              <a:rPr lang="en-US" altLang="en-US" sz="3600" b="1" dirty="0" err="1">
                <a:solidFill>
                  <a:srgbClr val="00FF00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3600" b="1" dirty="0" err="1">
                <a:solidFill>
                  <a:srgbClr val="00FF00"/>
                </a:solidFill>
              </a:rPr>
              <a:t>r</a:t>
            </a:r>
            <a:r>
              <a:rPr lang="en-US" altLang="en-US" sz="3600" b="1" baseline="-25000" dirty="0" err="1">
                <a:solidFill>
                  <a:srgbClr val="00FF00"/>
                </a:solidFill>
              </a:rPr>
              <a:t>e</a:t>
            </a:r>
            <a:r>
              <a:rPr lang="en-US" altLang="en-US" sz="3600" b="1" dirty="0">
                <a:solidFill>
                  <a:srgbClr val="00CC00"/>
                </a:solidFill>
              </a:rPr>
              <a:t>:</a:t>
            </a:r>
          </a:p>
        </p:txBody>
      </p:sp>
      <p:sp>
        <p:nvSpPr>
          <p:cNvPr id="114691" name="Oval 4"/>
          <p:cNvSpPr>
            <a:spLocks noChangeArrowheads="1"/>
          </p:cNvSpPr>
          <p:nvPr/>
        </p:nvSpPr>
        <p:spPr bwMode="auto">
          <a:xfrm>
            <a:off x="6035675" y="2346325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4692" name="Line 5"/>
          <p:cNvSpPr>
            <a:spLocks noChangeShapeType="1"/>
          </p:cNvSpPr>
          <p:nvPr/>
        </p:nvSpPr>
        <p:spPr bwMode="auto">
          <a:xfrm>
            <a:off x="6492875" y="2498725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3" name="Line 6"/>
          <p:cNvSpPr>
            <a:spLocks noChangeShapeType="1"/>
          </p:cNvSpPr>
          <p:nvPr/>
        </p:nvSpPr>
        <p:spPr bwMode="auto">
          <a:xfrm flipV="1">
            <a:off x="6492875" y="2041525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4" name="Oval 8"/>
          <p:cNvSpPr>
            <a:spLocks noChangeArrowheads="1"/>
          </p:cNvSpPr>
          <p:nvPr/>
        </p:nvSpPr>
        <p:spPr bwMode="auto">
          <a:xfrm>
            <a:off x="7940675" y="1933575"/>
            <a:ext cx="228600" cy="228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4695" name="Oval 9"/>
          <p:cNvSpPr>
            <a:spLocks noChangeArrowheads="1"/>
          </p:cNvSpPr>
          <p:nvPr/>
        </p:nvSpPr>
        <p:spPr bwMode="auto">
          <a:xfrm>
            <a:off x="5718175" y="4327525"/>
            <a:ext cx="228600" cy="228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114696" name="Group 10"/>
          <p:cNvGrpSpPr>
            <a:grpSpLocks/>
          </p:cNvGrpSpPr>
          <p:nvPr/>
        </p:nvGrpSpPr>
        <p:grpSpPr bwMode="auto">
          <a:xfrm rot="10800000">
            <a:off x="5016500" y="2346325"/>
            <a:ext cx="330200" cy="984250"/>
            <a:chOff x="2000" y="1771"/>
            <a:chExt cx="208" cy="620"/>
          </a:xfrm>
        </p:grpSpPr>
        <p:sp>
          <p:nvSpPr>
            <p:cNvPr id="114714" name="Line 1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15" name="Line 1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16" name="Line 1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17" name="Line 1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18" name="Line 1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19" name="Freeform 1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5 w 131"/>
                <a:gd name="T1" fmla="*/ 12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20" name="Freeform 1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5 w 131"/>
                <a:gd name="T1" fmla="*/ 6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4697" name="Line 18"/>
          <p:cNvSpPr>
            <a:spLocks noChangeShapeType="1"/>
          </p:cNvSpPr>
          <p:nvPr/>
        </p:nvSpPr>
        <p:spPr bwMode="auto">
          <a:xfrm flipV="1">
            <a:off x="5822950" y="3641725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8" name="Oval 19"/>
          <p:cNvSpPr>
            <a:spLocks noChangeArrowheads="1"/>
          </p:cNvSpPr>
          <p:nvPr/>
        </p:nvSpPr>
        <p:spPr bwMode="auto">
          <a:xfrm>
            <a:off x="3549650" y="1905000"/>
            <a:ext cx="228600" cy="228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4699" name="Line 20"/>
          <p:cNvSpPr>
            <a:spLocks noChangeShapeType="1"/>
          </p:cNvSpPr>
          <p:nvPr/>
        </p:nvSpPr>
        <p:spPr bwMode="auto">
          <a:xfrm flipH="1">
            <a:off x="3765550" y="2041525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0" name="Rectangle 21"/>
          <p:cNvSpPr>
            <a:spLocks noChangeArrowheads="1"/>
          </p:cNvSpPr>
          <p:nvPr/>
        </p:nvSpPr>
        <p:spPr bwMode="auto">
          <a:xfrm>
            <a:off x="4222750" y="2422526"/>
            <a:ext cx="7078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en-US" b="1" dirty="0" err="1">
                <a:solidFill>
                  <a:srgbClr val="3333CC"/>
                </a:solidFill>
              </a:rPr>
              <a:t>r</a:t>
            </a:r>
            <a:r>
              <a:rPr lang="en-US" altLang="en-US" b="1" baseline="-25000" dirty="0" err="1">
                <a:solidFill>
                  <a:srgbClr val="3333CC"/>
                </a:solidFill>
              </a:rPr>
              <a:t>e</a:t>
            </a:r>
            <a:endParaRPr lang="en-US" altLang="en-US" b="1" baseline="16000" dirty="0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114701" name="Text Box 22"/>
          <p:cNvSpPr txBox="1">
            <a:spLocks noChangeArrowheads="1"/>
          </p:cNvSpPr>
          <p:nvPr/>
        </p:nvSpPr>
        <p:spPr bwMode="auto">
          <a:xfrm>
            <a:off x="6931026" y="2422526"/>
            <a:ext cx="1192213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CC"/>
                </a:solidFill>
              </a:rPr>
              <a:t>I</a:t>
            </a:r>
            <a:r>
              <a:rPr lang="en-US" altLang="en-US" b="1" baseline="-25000">
                <a:solidFill>
                  <a:srgbClr val="3333CC"/>
                </a:solidFill>
              </a:rPr>
              <a:t>c</a:t>
            </a:r>
            <a:r>
              <a:rPr lang="en-US" altLang="en-US" b="1">
                <a:solidFill>
                  <a:srgbClr val="3333CC"/>
                </a:solidFill>
              </a:rPr>
              <a:t>=</a:t>
            </a:r>
            <a:r>
              <a:rPr lang="en-US" altLang="en-US" b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en-US" b="1">
                <a:solidFill>
                  <a:srgbClr val="3333CC"/>
                </a:solidFill>
              </a:rPr>
              <a:t>i</a:t>
            </a:r>
            <a:r>
              <a:rPr lang="en-US" altLang="en-US" b="1" baseline="-25000">
                <a:solidFill>
                  <a:srgbClr val="3333CC"/>
                </a:solidFill>
              </a:rPr>
              <a:t>b</a:t>
            </a:r>
            <a:endParaRPr lang="en-US" altLang="en-US" b="1">
              <a:solidFill>
                <a:srgbClr val="3333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3333CC"/>
              </a:solidFill>
            </a:endParaRPr>
          </a:p>
        </p:txBody>
      </p:sp>
      <p:sp>
        <p:nvSpPr>
          <p:cNvPr id="114702" name="Text Box 23"/>
          <p:cNvSpPr txBox="1">
            <a:spLocks noChangeArrowheads="1"/>
          </p:cNvSpPr>
          <p:nvPr/>
        </p:nvSpPr>
        <p:spPr bwMode="auto">
          <a:xfrm>
            <a:off x="6356350" y="3870326"/>
            <a:ext cx="42030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CC"/>
                </a:solidFill>
              </a:rPr>
              <a:t>i</a:t>
            </a:r>
            <a:r>
              <a:rPr lang="en-US" altLang="en-US" b="1" baseline="-25000">
                <a:solidFill>
                  <a:srgbClr val="3333CC"/>
                </a:solidFill>
              </a:rPr>
              <a:t>e</a:t>
            </a:r>
            <a:endParaRPr lang="en-US" altLang="en-US" b="1">
              <a:solidFill>
                <a:srgbClr val="3333CC"/>
              </a:solidFill>
            </a:endParaRPr>
          </a:p>
        </p:txBody>
      </p:sp>
      <p:sp>
        <p:nvSpPr>
          <p:cNvPr id="114703" name="Text Box 24"/>
          <p:cNvSpPr txBox="1">
            <a:spLocks noChangeArrowheads="1"/>
          </p:cNvSpPr>
          <p:nvPr/>
        </p:nvSpPr>
        <p:spPr bwMode="auto">
          <a:xfrm>
            <a:off x="3765550" y="1050926"/>
            <a:ext cx="45076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CC"/>
                </a:solidFill>
              </a:rPr>
              <a:t>i</a:t>
            </a:r>
            <a:r>
              <a:rPr lang="en-US" altLang="en-US" b="1" baseline="-25000">
                <a:solidFill>
                  <a:srgbClr val="3333CC"/>
                </a:solidFill>
              </a:rPr>
              <a:t>b</a:t>
            </a:r>
            <a:endParaRPr lang="en-US" altLang="en-US" b="1">
              <a:solidFill>
                <a:srgbClr val="3333CC"/>
              </a:solidFill>
            </a:endParaRPr>
          </a:p>
        </p:txBody>
      </p:sp>
      <p:sp>
        <p:nvSpPr>
          <p:cNvPr id="114704" name="AutoShape 25"/>
          <p:cNvSpPr>
            <a:spLocks noChangeArrowheads="1"/>
          </p:cNvSpPr>
          <p:nvPr/>
        </p:nvSpPr>
        <p:spPr bwMode="auto">
          <a:xfrm>
            <a:off x="3765550" y="158432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4705" name="AutoShape 26"/>
          <p:cNvSpPr>
            <a:spLocks noChangeArrowheads="1"/>
          </p:cNvSpPr>
          <p:nvPr/>
        </p:nvSpPr>
        <p:spPr bwMode="auto">
          <a:xfrm rot="5400000">
            <a:off x="5975350" y="409892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4706" name="AutoShape 40"/>
          <p:cNvSpPr>
            <a:spLocks noChangeArrowheads="1"/>
          </p:cNvSpPr>
          <p:nvPr/>
        </p:nvSpPr>
        <p:spPr bwMode="auto">
          <a:xfrm>
            <a:off x="2851150" y="187325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4707" name="Text Box 41"/>
          <p:cNvSpPr txBox="1">
            <a:spLocks noChangeArrowheads="1"/>
          </p:cNvSpPr>
          <p:nvPr/>
        </p:nvSpPr>
        <p:spPr bwMode="auto">
          <a:xfrm>
            <a:off x="1631950" y="1660526"/>
            <a:ext cx="12939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</a:rPr>
              <a:t>z</a:t>
            </a:r>
            <a:r>
              <a:rPr lang="en-US" altLang="en-US" b="1" baseline="-25000">
                <a:solidFill>
                  <a:srgbClr val="FF0000"/>
                </a:solidFill>
              </a:rPr>
              <a:t>in(base)</a:t>
            </a:r>
          </a:p>
        </p:txBody>
      </p:sp>
      <p:sp>
        <p:nvSpPr>
          <p:cNvPr id="114708" name="Line 42"/>
          <p:cNvSpPr>
            <a:spLocks noChangeShapeType="1"/>
          </p:cNvSpPr>
          <p:nvPr/>
        </p:nvSpPr>
        <p:spPr bwMode="auto">
          <a:xfrm flipV="1">
            <a:off x="5213350" y="2041525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9" name="Line 43"/>
          <p:cNvSpPr>
            <a:spLocks noChangeShapeType="1"/>
          </p:cNvSpPr>
          <p:nvPr/>
        </p:nvSpPr>
        <p:spPr bwMode="auto">
          <a:xfrm flipV="1">
            <a:off x="5213350" y="332105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0" name="Line 44"/>
          <p:cNvSpPr>
            <a:spLocks noChangeShapeType="1"/>
          </p:cNvSpPr>
          <p:nvPr/>
        </p:nvSpPr>
        <p:spPr bwMode="auto">
          <a:xfrm flipH="1">
            <a:off x="6477000" y="20574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1" name="Line 45"/>
          <p:cNvSpPr>
            <a:spLocks noChangeShapeType="1"/>
          </p:cNvSpPr>
          <p:nvPr/>
        </p:nvSpPr>
        <p:spPr bwMode="auto">
          <a:xfrm>
            <a:off x="5197475" y="3641725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2" name="Line 46"/>
          <p:cNvSpPr>
            <a:spLocks noChangeShapeType="1"/>
          </p:cNvSpPr>
          <p:nvPr/>
        </p:nvSpPr>
        <p:spPr bwMode="auto">
          <a:xfrm flipV="1">
            <a:off x="6492875" y="32607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3" name="Picture 3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669" y="4754562"/>
            <a:ext cx="4310063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32"/>
          <a:stretch>
            <a:fillRect/>
          </a:stretch>
        </p:blipFill>
        <p:spPr bwMode="auto">
          <a:xfrm>
            <a:off x="2133601" y="2438401"/>
            <a:ext cx="2690813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6" name="Title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87630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altLang="en-US" sz="4800" b="1" dirty="0">
                <a:solidFill>
                  <a:srgbClr val="C00000"/>
                </a:solidFill>
              </a:rPr>
              <a:t> </a:t>
            </a:r>
            <a:r>
              <a:rPr lang="pt-BR" altLang="en-US" b="1" dirty="0">
                <a:solidFill>
                  <a:srgbClr val="C00000"/>
                </a:solidFill>
              </a:rPr>
              <a:t>Overview of</a:t>
            </a:r>
            <a:r>
              <a:rPr lang="en-US" altLang="en-US" b="1" dirty="0">
                <a:solidFill>
                  <a:srgbClr val="C00000"/>
                </a:solidFill>
                <a:cs typeface="Arial" panose="020B0604020202020204" pitchFamily="34" charset="0"/>
              </a:rPr>
              <a:t> r</a:t>
            </a:r>
            <a:r>
              <a:rPr lang="en-US" altLang="en-US" b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e</a:t>
            </a:r>
            <a:r>
              <a:rPr lang="en-US" altLang="en-US" b="1" dirty="0">
                <a:solidFill>
                  <a:srgbClr val="C00000"/>
                </a:solidFill>
                <a:cs typeface="Arial" panose="020B0604020202020204" pitchFamily="34" charset="0"/>
              </a:rPr>
              <a:t> Transistor Models</a:t>
            </a:r>
            <a:br>
              <a:rPr lang="en-US" altLang="en-US" b="1" dirty="0">
                <a:solidFill>
                  <a:srgbClr val="C00000"/>
                </a:solidFill>
                <a:cs typeface="Arial" panose="020B0604020202020204" pitchFamily="34" charset="0"/>
              </a:rPr>
            </a:br>
            <a:r>
              <a:rPr lang="en-US" altLang="en-US" sz="2800" b="1" dirty="0">
                <a:solidFill>
                  <a:srgbClr val="0070C0"/>
                </a:solidFill>
                <a:cs typeface="Arial" panose="020B0604020202020204" pitchFamily="34" charset="0"/>
              </a:rPr>
              <a:t>(T and </a:t>
            </a:r>
            <a:r>
              <a:rPr lang="en-US" altLang="en-US" sz="2800" b="1" dirty="0">
                <a:solidFill>
                  <a:srgbClr val="0070C0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800" b="1" dirty="0">
                <a:solidFill>
                  <a:srgbClr val="000000"/>
                </a:solidFill>
                <a:latin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0070C0"/>
                </a:solidFill>
                <a:cs typeface="Arial" panose="020B0604020202020204" pitchFamily="34" charset="0"/>
              </a:rPr>
              <a:t>Model)</a:t>
            </a:r>
            <a:endParaRPr lang="en-US" altLang="en-US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575" y="2894012"/>
            <a:ext cx="4310063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00401" y="4989512"/>
            <a:ext cx="1057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Model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08199" y="5089524"/>
            <a:ext cx="1036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70C0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1800" b="1">
                <a:solidFill>
                  <a:srgbClr val="000000"/>
                </a:solidFill>
                <a:latin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24400" y="2362200"/>
            <a:ext cx="327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88794" y="4776559"/>
            <a:ext cx="327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06297" y="3479373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b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01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8382000" cy="990600"/>
          </a:xfrm>
        </p:spPr>
        <p:txBody>
          <a:bodyPr/>
          <a:lstStyle/>
          <a:p>
            <a:r>
              <a:rPr lang="en-US" altLang="en-US" sz="4800" b="1">
                <a:solidFill>
                  <a:srgbClr val="C00000"/>
                </a:solidFill>
              </a:rPr>
              <a:t> </a:t>
            </a:r>
            <a:r>
              <a:rPr lang="en-US" altLang="en-US" sz="4800" b="1" i="1">
                <a:solidFill>
                  <a:srgbClr val="C00000"/>
                </a:solidFill>
              </a:rPr>
              <a:t>r</a:t>
            </a:r>
            <a:r>
              <a:rPr lang="en-US" altLang="en-US" sz="4800" b="1" i="1" baseline="-25000">
                <a:solidFill>
                  <a:srgbClr val="C00000"/>
                </a:solidFill>
              </a:rPr>
              <a:t>e</a:t>
            </a:r>
            <a:r>
              <a:rPr lang="en-US" altLang="en-US" sz="4800" b="1">
                <a:solidFill>
                  <a:srgbClr val="C00000"/>
                </a:solidFill>
              </a:rPr>
              <a:t> model including effects of </a:t>
            </a:r>
            <a:r>
              <a:rPr lang="en-US" altLang="en-US" sz="4800" b="1" i="1">
                <a:solidFill>
                  <a:srgbClr val="C00000"/>
                </a:solidFill>
              </a:rPr>
              <a:t>r</a:t>
            </a:r>
            <a:r>
              <a:rPr lang="en-US" altLang="en-US" sz="4800" b="1" i="1" baseline="-25000">
                <a:solidFill>
                  <a:srgbClr val="C00000"/>
                </a:solidFill>
              </a:rPr>
              <a:t>o</a:t>
            </a:r>
            <a:r>
              <a:rPr lang="en-US" altLang="en-US" sz="4800" b="1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117763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514" y="1981200"/>
            <a:ext cx="72929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449514" y="5105400"/>
                <a:ext cx="776128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In practical transistors, collector current depends on collector voltage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Ideally,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alt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=∞</m:t>
                    </m:r>
                  </m:oMath>
                </a14:m>
                <a:r>
                  <a:rPr lang="en-US" altLang="en-US" dirty="0">
                    <a:solidFill>
                      <a:srgbClr val="FF0000"/>
                    </a:solidFill>
                  </a:rPr>
                  <a:t> ( Open circuit)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Practically,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srgbClr val="FF0000"/>
                    </a:solidFill>
                  </a:rPr>
                  <a:t> is very high but not infinity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514" y="5105400"/>
                <a:ext cx="7761287" cy="923330"/>
              </a:xfrm>
              <a:prstGeom prst="rect">
                <a:avLst/>
              </a:prstGeom>
              <a:blipFill>
                <a:blip r:embed="rId3"/>
                <a:stretch>
                  <a:fillRect l="-550" t="-3974" b="-9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BJT Amplifier AC analysis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219200"/>
            <a:ext cx="9144000" cy="4876800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Superposition theorem (DC + AC analysis)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Perform</a:t>
            </a:r>
            <a:r>
              <a:rPr lang="en-US" altLang="en-US" b="1" dirty="0">
                <a:solidFill>
                  <a:schemeClr val="accent2"/>
                </a:solidFill>
              </a:rPr>
              <a:t> a complete </a:t>
            </a:r>
            <a:r>
              <a:rPr lang="en-US" altLang="en-US" b="1" u="sng" dirty="0">
                <a:solidFill>
                  <a:schemeClr val="accent2"/>
                </a:solidFill>
              </a:rPr>
              <a:t>DC</a:t>
            </a:r>
            <a:r>
              <a:rPr lang="en-US" altLang="en-US" b="1" dirty="0">
                <a:solidFill>
                  <a:schemeClr val="accent2"/>
                </a:solidFill>
              </a:rPr>
              <a:t> analysis (Chapter 4)</a:t>
            </a:r>
          </a:p>
          <a:p>
            <a:r>
              <a:rPr lang="en-US" altLang="en-US" b="1" u="sng" dirty="0">
                <a:solidFill>
                  <a:srgbClr val="FF0000"/>
                </a:solidFill>
              </a:rPr>
              <a:t>Short</a:t>
            </a:r>
            <a:r>
              <a:rPr lang="en-US" altLang="en-US" b="1" dirty="0">
                <a:solidFill>
                  <a:schemeClr val="accent2"/>
                </a:solidFill>
              </a:rPr>
              <a:t> all coupling and bypass capacitors for ac signals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Visualize</a:t>
            </a:r>
            <a:r>
              <a:rPr lang="en-US" altLang="en-US" b="1" dirty="0">
                <a:solidFill>
                  <a:schemeClr val="accent2"/>
                </a:solidFill>
              </a:rPr>
              <a:t> all </a:t>
            </a:r>
            <a:r>
              <a:rPr lang="en-US" altLang="en-US" b="1" u="sng" dirty="0">
                <a:solidFill>
                  <a:schemeClr val="accent2"/>
                </a:solidFill>
              </a:rPr>
              <a:t>DC </a:t>
            </a:r>
            <a:r>
              <a:rPr lang="en-US" altLang="en-US" b="1" dirty="0">
                <a:solidFill>
                  <a:schemeClr val="accent2"/>
                </a:solidFill>
              </a:rPr>
              <a:t>supply voltages as grounds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Replace</a:t>
            </a:r>
            <a:r>
              <a:rPr lang="en-US" altLang="en-US" b="1" dirty="0">
                <a:solidFill>
                  <a:schemeClr val="accent2"/>
                </a:solidFill>
              </a:rPr>
              <a:t> the transistor by its </a:t>
            </a:r>
            <a:r>
              <a:rPr lang="en-US" altLang="en-US" b="1" u="sng" dirty="0">
                <a:solidFill>
                  <a:schemeClr val="accent2"/>
                </a:solidFill>
                <a:latin typeface="Symbol" panose="05050102010706020507" pitchFamily="18" charset="2"/>
              </a:rPr>
              <a:t>p</a:t>
            </a:r>
            <a:r>
              <a:rPr lang="en-US" altLang="en-US" b="1" dirty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chemeClr val="accent2"/>
                </a:solidFill>
              </a:rPr>
              <a:t>or </a:t>
            </a:r>
            <a:r>
              <a:rPr lang="en-US" altLang="en-US" b="1" u="sng" dirty="0">
                <a:solidFill>
                  <a:schemeClr val="accent2"/>
                </a:solidFill>
              </a:rPr>
              <a:t>T</a:t>
            </a:r>
            <a:r>
              <a:rPr lang="en-US" altLang="en-US" b="1" dirty="0">
                <a:solidFill>
                  <a:schemeClr val="accent2"/>
                </a:solidFill>
              </a:rPr>
              <a:t> model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Draw</a:t>
            </a:r>
            <a:r>
              <a:rPr lang="en-US" altLang="en-US" b="1" dirty="0">
                <a:solidFill>
                  <a:schemeClr val="accent2"/>
                </a:solidFill>
              </a:rPr>
              <a:t> the </a:t>
            </a:r>
            <a:r>
              <a:rPr lang="en-US" altLang="en-US" b="1" u="sng" dirty="0">
                <a:solidFill>
                  <a:schemeClr val="accent2"/>
                </a:solidFill>
              </a:rPr>
              <a:t>AC</a:t>
            </a:r>
            <a:r>
              <a:rPr lang="en-US" altLang="en-US" b="1" dirty="0">
                <a:solidFill>
                  <a:schemeClr val="accent2"/>
                </a:solidFill>
              </a:rPr>
              <a:t> equivalent circuit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6"/>
          <p:cNvSpPr txBox="1">
            <a:spLocks noChangeArrowheads="1"/>
          </p:cNvSpPr>
          <p:nvPr/>
        </p:nvSpPr>
        <p:spPr bwMode="auto">
          <a:xfrm>
            <a:off x="1524000" y="0"/>
            <a:ext cx="91440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 5.5 Common-Emitter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 Fixed-Bias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 Configuration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5955" name="Group 17"/>
          <p:cNvGrpSpPr>
            <a:grpSpLocks/>
          </p:cNvGrpSpPr>
          <p:nvPr/>
        </p:nvGrpSpPr>
        <p:grpSpPr bwMode="auto">
          <a:xfrm>
            <a:off x="6629401" y="152400"/>
            <a:ext cx="3962400" cy="2438400"/>
            <a:chOff x="4953000" y="1219200"/>
            <a:chExt cx="3529584" cy="2438400"/>
          </a:xfrm>
        </p:grpSpPr>
        <p:sp>
          <p:nvSpPr>
            <p:cNvPr id="125960" name="Rectangle 16"/>
            <p:cNvSpPr>
              <a:spLocks noChangeArrowheads="1"/>
            </p:cNvSpPr>
            <p:nvPr/>
          </p:nvSpPr>
          <p:spPr bwMode="auto">
            <a:xfrm>
              <a:off x="5536692" y="3200400"/>
              <a:ext cx="2362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1143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1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AC equivalent</a:t>
              </a:r>
            </a:p>
          </p:txBody>
        </p:sp>
        <p:pic>
          <p:nvPicPr>
            <p:cNvPr id="125961" name="Picture 12" descr="fg05_02100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1219200"/>
              <a:ext cx="3529584" cy="1944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5956" name="Picture 14" descr="fg05_020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352800"/>
            <a:ext cx="3890407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5957" name="Group 18"/>
          <p:cNvGrpSpPr>
            <a:grpSpLocks/>
          </p:cNvGrpSpPr>
          <p:nvPr/>
        </p:nvGrpSpPr>
        <p:grpSpPr bwMode="auto">
          <a:xfrm>
            <a:off x="5715001" y="3962401"/>
            <a:ext cx="4803775" cy="2752428"/>
            <a:chOff x="4419600" y="3810000"/>
            <a:chExt cx="4346448" cy="2380478"/>
          </a:xfrm>
        </p:grpSpPr>
        <p:sp>
          <p:nvSpPr>
            <p:cNvPr id="125958" name="Text Box 14"/>
            <p:cNvSpPr txBox="1">
              <a:spLocks noChangeArrowheads="1"/>
            </p:cNvSpPr>
            <p:nvPr/>
          </p:nvSpPr>
          <p:spPr bwMode="auto">
            <a:xfrm>
              <a:off x="5949093" y="5791200"/>
              <a:ext cx="1175110" cy="399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r</a:t>
              </a:r>
              <a:r>
                <a:rPr lang="en-US" altLang="en-US" sz="2400" i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e </a:t>
              </a:r>
              <a:r>
                <a:rPr lang="en-US" altLang="en-U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model</a:t>
              </a:r>
            </a:p>
          </p:txBody>
        </p:sp>
        <p:pic>
          <p:nvPicPr>
            <p:cNvPr id="125959" name="Picture 16" descr="fg05_02200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3810000"/>
              <a:ext cx="4346448" cy="198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6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Common-Emitter Fixed-Bias Calculations</a:t>
            </a:r>
            <a:endParaRPr lang="en-US" alt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6979" name="Group 25"/>
          <p:cNvGrpSpPr>
            <a:grpSpLocks/>
          </p:cNvGrpSpPr>
          <p:nvPr/>
        </p:nvGrpSpPr>
        <p:grpSpPr bwMode="auto">
          <a:xfrm>
            <a:off x="3657600" y="4876800"/>
            <a:ext cx="1981200" cy="1295400"/>
            <a:chOff x="1440" y="3072"/>
            <a:chExt cx="1248" cy="816"/>
          </a:xfrm>
        </p:grpSpPr>
        <p:sp>
          <p:nvSpPr>
            <p:cNvPr id="126998" name="AutoShape 20"/>
            <p:cNvSpPr>
              <a:spLocks noChangeArrowheads="1"/>
            </p:cNvSpPr>
            <p:nvPr/>
          </p:nvSpPr>
          <p:spPr bwMode="auto">
            <a:xfrm>
              <a:off x="1440" y="3072"/>
              <a:ext cx="1248" cy="81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126999" name="Object 25"/>
            <p:cNvGraphicFramePr>
              <a:graphicFrameLocks noChangeAspect="1"/>
            </p:cNvGraphicFramePr>
            <p:nvPr/>
          </p:nvGraphicFramePr>
          <p:xfrm>
            <a:off x="1497" y="3096"/>
            <a:ext cx="1135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Equation" r:id="rId3" imgW="1308100" imgH="889000" progId="Equation.3">
                    <p:embed/>
                  </p:oleObj>
                </mc:Choice>
                <mc:Fallback>
                  <p:oleObj name="Equation" r:id="rId3" imgW="1308100" imgH="889000" progId="Equation.3">
                    <p:embed/>
                    <p:pic>
                      <p:nvPicPr>
                        <p:cNvPr id="12699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3096"/>
                          <a:ext cx="1135" cy="7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6980" name="Group 26"/>
          <p:cNvGrpSpPr>
            <a:grpSpLocks/>
          </p:cNvGrpSpPr>
          <p:nvPr/>
        </p:nvGrpSpPr>
        <p:grpSpPr bwMode="auto">
          <a:xfrm>
            <a:off x="7548563" y="3352800"/>
            <a:ext cx="2895600" cy="1219200"/>
            <a:chOff x="3840" y="2016"/>
            <a:chExt cx="1824" cy="768"/>
          </a:xfrm>
        </p:grpSpPr>
        <p:sp>
          <p:nvSpPr>
            <p:cNvPr id="126996" name="AutoShape 21"/>
            <p:cNvSpPr>
              <a:spLocks noChangeArrowheads="1"/>
            </p:cNvSpPr>
            <p:nvPr/>
          </p:nvSpPr>
          <p:spPr bwMode="auto">
            <a:xfrm>
              <a:off x="3840" y="2016"/>
              <a:ext cx="1824" cy="76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126997" name="Object 26"/>
            <p:cNvGraphicFramePr>
              <a:graphicFrameLocks noChangeAspect="1"/>
            </p:cNvGraphicFramePr>
            <p:nvPr/>
          </p:nvGraphicFramePr>
          <p:xfrm>
            <a:off x="3881" y="2056"/>
            <a:ext cx="1742" cy="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Microsoft Equation 3.0" r:id="rId5" imgW="1866900" imgH="736600" progId="Equation.3">
                    <p:embed/>
                  </p:oleObj>
                </mc:Choice>
                <mc:Fallback>
                  <p:oleObj name="Microsoft Equation 3.0" r:id="rId5" imgW="1866900" imgH="736600" progId="Equation.3">
                    <p:embed/>
                    <p:pic>
                      <p:nvPicPr>
                        <p:cNvPr id="126997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1" y="2056"/>
                          <a:ext cx="1742" cy="6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6983" name="Text Box 35"/>
          <p:cNvSpPr txBox="1">
            <a:spLocks noChangeArrowheads="1"/>
          </p:cNvSpPr>
          <p:nvPr/>
        </p:nvSpPr>
        <p:spPr bwMode="auto">
          <a:xfrm>
            <a:off x="1905000" y="3024188"/>
            <a:ext cx="1828800" cy="666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</a:p>
          <a:p>
            <a:pPr eaLnBrk="1" hangingPunct="1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impedance:</a:t>
            </a:r>
          </a:p>
        </p:txBody>
      </p:sp>
      <p:sp>
        <p:nvSpPr>
          <p:cNvPr id="126984" name="Rectangle 38"/>
          <p:cNvSpPr>
            <a:spLocks noChangeArrowheads="1"/>
          </p:cNvSpPr>
          <p:nvPr/>
        </p:nvSpPr>
        <p:spPr bwMode="auto">
          <a:xfrm>
            <a:off x="1905001" y="4044950"/>
            <a:ext cx="1662113" cy="666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Output </a:t>
            </a:r>
          </a:p>
          <a:p>
            <a:pPr eaLnBrk="1" hangingPunct="1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impedance:</a:t>
            </a:r>
          </a:p>
        </p:txBody>
      </p:sp>
      <p:sp>
        <p:nvSpPr>
          <p:cNvPr id="126985" name="Rectangle 39"/>
          <p:cNvSpPr>
            <a:spLocks noChangeArrowheads="1"/>
          </p:cNvSpPr>
          <p:nvPr/>
        </p:nvSpPr>
        <p:spPr bwMode="auto">
          <a:xfrm>
            <a:off x="1905000" y="5364164"/>
            <a:ext cx="170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Voltage gain:</a:t>
            </a:r>
          </a:p>
        </p:txBody>
      </p:sp>
      <p:sp>
        <p:nvSpPr>
          <p:cNvPr id="126986" name="Rectangle 40"/>
          <p:cNvSpPr>
            <a:spLocks noChangeArrowheads="1"/>
          </p:cNvSpPr>
          <p:nvPr/>
        </p:nvSpPr>
        <p:spPr bwMode="auto">
          <a:xfrm>
            <a:off x="5791201" y="3749675"/>
            <a:ext cx="18018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Current gain:</a:t>
            </a:r>
          </a:p>
        </p:txBody>
      </p:sp>
      <p:grpSp>
        <p:nvGrpSpPr>
          <p:cNvPr id="126987" name="Group 23"/>
          <p:cNvGrpSpPr>
            <a:grpSpLocks/>
          </p:cNvGrpSpPr>
          <p:nvPr/>
        </p:nvGrpSpPr>
        <p:grpSpPr bwMode="auto">
          <a:xfrm>
            <a:off x="3810000" y="2971800"/>
            <a:ext cx="1676400" cy="838200"/>
            <a:chOff x="1536" y="1824"/>
            <a:chExt cx="1056" cy="528"/>
          </a:xfrm>
        </p:grpSpPr>
        <p:sp>
          <p:nvSpPr>
            <p:cNvPr id="126992" name="AutoShape 18"/>
            <p:cNvSpPr>
              <a:spLocks noChangeArrowheads="1"/>
            </p:cNvSpPr>
            <p:nvPr/>
          </p:nvSpPr>
          <p:spPr bwMode="auto">
            <a:xfrm>
              <a:off x="1536" y="1824"/>
              <a:ext cx="1056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126993" name="Object 46"/>
            <p:cNvGraphicFramePr>
              <a:graphicFrameLocks noChangeAspect="1"/>
            </p:cNvGraphicFramePr>
            <p:nvPr/>
          </p:nvGraphicFramePr>
          <p:xfrm>
            <a:off x="1634" y="1872"/>
            <a:ext cx="877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Equation" r:id="rId7" imgW="1054100" imgH="533400" progId="Equation.3">
                    <p:embed/>
                  </p:oleObj>
                </mc:Choice>
                <mc:Fallback>
                  <p:oleObj name="Equation" r:id="rId7" imgW="1054100" imgH="533400" progId="Equation.3">
                    <p:embed/>
                    <p:pic>
                      <p:nvPicPr>
                        <p:cNvPr id="126993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4" y="1872"/>
                          <a:ext cx="877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6988" name="Group 24"/>
          <p:cNvGrpSpPr>
            <a:grpSpLocks/>
          </p:cNvGrpSpPr>
          <p:nvPr/>
        </p:nvGrpSpPr>
        <p:grpSpPr bwMode="auto">
          <a:xfrm>
            <a:off x="3810000" y="3886200"/>
            <a:ext cx="1676400" cy="838200"/>
            <a:chOff x="1536" y="2448"/>
            <a:chExt cx="1056" cy="528"/>
          </a:xfrm>
        </p:grpSpPr>
        <p:sp>
          <p:nvSpPr>
            <p:cNvPr id="126990" name="AutoShape 19"/>
            <p:cNvSpPr>
              <a:spLocks noChangeArrowheads="1"/>
            </p:cNvSpPr>
            <p:nvPr/>
          </p:nvSpPr>
          <p:spPr bwMode="auto">
            <a:xfrm>
              <a:off x="1536" y="2448"/>
              <a:ext cx="1056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126991" name="Object 48"/>
            <p:cNvGraphicFramePr>
              <a:graphicFrameLocks noChangeAspect="1"/>
            </p:cNvGraphicFramePr>
            <p:nvPr/>
          </p:nvGraphicFramePr>
          <p:xfrm>
            <a:off x="1655" y="2489"/>
            <a:ext cx="834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Equation" r:id="rId9" imgW="1002865" imgH="533169" progId="Equation.3">
                    <p:embed/>
                  </p:oleObj>
                </mc:Choice>
                <mc:Fallback>
                  <p:oleObj name="Equation" r:id="rId9" imgW="1002865" imgH="533169" progId="Equation.3">
                    <p:embed/>
                    <p:pic>
                      <p:nvPicPr>
                        <p:cNvPr id="126991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2489"/>
                          <a:ext cx="834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26989" name="Picture 26" descr="fg05_02200.jpg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8"/>
          <a:stretch/>
        </p:blipFill>
        <p:spPr bwMode="auto">
          <a:xfrm>
            <a:off x="5486401" y="533400"/>
            <a:ext cx="5181601" cy="2667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36" r="49643" b="12815"/>
          <a:stretch/>
        </p:blipFill>
        <p:spPr bwMode="auto">
          <a:xfrm>
            <a:off x="1524001" y="1"/>
            <a:ext cx="4572000" cy="1646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051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7"/>
          <a:stretch/>
        </p:blipFill>
        <p:spPr bwMode="auto">
          <a:xfrm>
            <a:off x="1524000" y="3437586"/>
            <a:ext cx="4267200" cy="3420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96000" y="762000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 u="sng" dirty="0">
                <a:solidFill>
                  <a:srgbClr val="FF0000"/>
                </a:solidFill>
              </a:rPr>
              <a:t>1. Short</a:t>
            </a:r>
            <a:r>
              <a:rPr lang="en-US" altLang="en-US" sz="2400" dirty="0">
                <a:solidFill>
                  <a:schemeClr val="accent2"/>
                </a:solidFill>
              </a:rPr>
              <a:t> all coupling and bypass capacitors for ac signals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2. </a:t>
            </a:r>
            <a:r>
              <a:rPr lang="en-US" altLang="en-US" sz="2400" u="sng" dirty="0">
                <a:solidFill>
                  <a:schemeClr val="accent2"/>
                </a:solidFill>
              </a:rPr>
              <a:t>DC </a:t>
            </a:r>
            <a:r>
              <a:rPr lang="en-US" altLang="en-US" sz="2400" dirty="0">
                <a:solidFill>
                  <a:schemeClr val="accent2"/>
                </a:solidFill>
              </a:rPr>
              <a:t>supply voltages as grounds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3. Replace</a:t>
            </a:r>
            <a:r>
              <a:rPr lang="en-US" altLang="en-US" sz="2400" dirty="0">
                <a:solidFill>
                  <a:schemeClr val="accent2"/>
                </a:solidFill>
              </a:rPr>
              <a:t> the transistor by its </a:t>
            </a:r>
            <a:r>
              <a:rPr lang="en-US" altLang="en-US" sz="2400" u="sng" dirty="0">
                <a:solidFill>
                  <a:schemeClr val="accent2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400" dirty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</a:rPr>
              <a:t>or </a:t>
            </a:r>
            <a:r>
              <a:rPr lang="en-US" altLang="en-US" sz="2400" u="sng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 model</a:t>
            </a:r>
          </a:p>
          <a:p>
            <a:pPr marL="342900" indent="-342900">
              <a:buFont typeface="Symbol"/>
              <a:buChar char="p"/>
            </a:pPr>
            <a:r>
              <a:rPr lang="en-US" altLang="en-US" sz="2400" dirty="0">
                <a:solidFill>
                  <a:schemeClr val="accent2"/>
                </a:solidFill>
              </a:rPr>
              <a:t>Model: CE </a:t>
            </a:r>
          </a:p>
          <a:p>
            <a:r>
              <a:rPr lang="en-US" altLang="en-US" sz="2400" u="sng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 model: CB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4. Draw</a:t>
            </a:r>
            <a:r>
              <a:rPr lang="en-US" altLang="en-US" sz="2400" dirty="0">
                <a:solidFill>
                  <a:schemeClr val="accent2"/>
                </a:solidFill>
              </a:rPr>
              <a:t> the </a:t>
            </a:r>
            <a:r>
              <a:rPr lang="en-US" altLang="en-US" sz="2400" u="sng" dirty="0">
                <a:solidFill>
                  <a:schemeClr val="accent2"/>
                </a:solidFill>
              </a:rPr>
              <a:t>AC</a:t>
            </a:r>
            <a:r>
              <a:rPr lang="en-US" altLang="en-US" sz="2400" dirty="0">
                <a:solidFill>
                  <a:schemeClr val="accent2"/>
                </a:solidFill>
              </a:rPr>
              <a:t> equivalent circuit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1" name="Picture 4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7"/>
          <a:stretch/>
        </p:blipFill>
        <p:spPr bwMode="auto">
          <a:xfrm>
            <a:off x="1521691" y="-4618"/>
            <a:ext cx="4267200" cy="3420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601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17" r="58685" b="14107"/>
          <a:stretch/>
        </p:blipFill>
        <p:spPr bwMode="auto">
          <a:xfrm>
            <a:off x="1524000" y="5367"/>
            <a:ext cx="4520168" cy="1497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38"/>
          <a:stretch/>
        </p:blipFill>
        <p:spPr bwMode="auto">
          <a:xfrm>
            <a:off x="4997004" y="3657600"/>
            <a:ext cx="567099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5438" y="1676400"/>
            <a:ext cx="5925423" cy="1981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/>
          <p:cNvSpPr/>
          <p:nvPr/>
        </p:nvSpPr>
        <p:spPr bwMode="auto">
          <a:xfrm>
            <a:off x="1524000" y="1905000"/>
            <a:ext cx="2743200" cy="19050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4648200" y="1676400"/>
            <a:ext cx="3064098" cy="20574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09800" y="3897868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rgbClr val="FF0000"/>
                </a:solidFill>
              </a:rPr>
              <a:t>INPUT</a:t>
            </a:r>
            <a:endParaRPr lang="en-US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7848600" y="2512784"/>
            <a:ext cx="1661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rgbClr val="FF0000"/>
                </a:solidFill>
              </a:rPr>
              <a:t>OUTPUT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0829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ext Box 6"/>
          <p:cNvSpPr txBox="1">
            <a:spLocks noChangeArrowheads="1"/>
          </p:cNvSpPr>
          <p:nvPr/>
        </p:nvSpPr>
        <p:spPr bwMode="auto">
          <a:xfrm>
            <a:off x="1512888" y="1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5.6 Common-Emitter Voltage-Divider Bias</a:t>
            </a:r>
            <a:endParaRPr lang="en-US" alt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147" name="Text Box 16"/>
          <p:cNvSpPr txBox="1">
            <a:spLocks noChangeArrowheads="1"/>
          </p:cNvSpPr>
          <p:nvPr/>
        </p:nvSpPr>
        <p:spPr bwMode="auto">
          <a:xfrm>
            <a:off x="6210300" y="2349501"/>
            <a:ext cx="35766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2400" i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 requires you to determine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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2400" i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2400" i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34148" name="Picture 9" descr="fg05_0260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" r="4165" b="4472"/>
          <a:stretch/>
        </p:blipFill>
        <p:spPr bwMode="auto">
          <a:xfrm>
            <a:off x="1524000" y="646114"/>
            <a:ext cx="3218002" cy="325618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49" name="Picture 11" descr="fg05_027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902300"/>
            <a:ext cx="8389861" cy="2943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6"/>
          <p:cNvSpPr txBox="1">
            <a:spLocks noChangeArrowheads="1"/>
          </p:cNvSpPr>
          <p:nvPr/>
        </p:nvSpPr>
        <p:spPr bwMode="auto">
          <a:xfrm>
            <a:off x="1524000" y="33338"/>
            <a:ext cx="9144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5.6 Common-Emitter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Voltage-Divider Bias</a:t>
            </a:r>
          </a:p>
        </p:txBody>
      </p:sp>
      <p:grpSp>
        <p:nvGrpSpPr>
          <p:cNvPr id="135171" name="Group 29"/>
          <p:cNvGrpSpPr>
            <a:grpSpLocks/>
          </p:cNvGrpSpPr>
          <p:nvPr/>
        </p:nvGrpSpPr>
        <p:grpSpPr bwMode="auto">
          <a:xfrm>
            <a:off x="1871664" y="1311275"/>
            <a:ext cx="2162175" cy="1219200"/>
            <a:chOff x="174" y="1872"/>
            <a:chExt cx="1362" cy="768"/>
          </a:xfrm>
        </p:grpSpPr>
        <p:sp>
          <p:nvSpPr>
            <p:cNvPr id="135193" name="Text Box 18"/>
            <p:cNvSpPr txBox="1">
              <a:spLocks noChangeArrowheads="1"/>
            </p:cNvSpPr>
            <p:nvPr/>
          </p:nvSpPr>
          <p:spPr bwMode="auto">
            <a:xfrm>
              <a:off x="174" y="1872"/>
              <a:ext cx="1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Input impedance</a:t>
              </a:r>
            </a:p>
          </p:txBody>
        </p:sp>
        <p:grpSp>
          <p:nvGrpSpPr>
            <p:cNvPr id="135194" name="Group 24"/>
            <p:cNvGrpSpPr>
              <a:grpSpLocks/>
            </p:cNvGrpSpPr>
            <p:nvPr/>
          </p:nvGrpSpPr>
          <p:grpSpPr bwMode="auto">
            <a:xfrm>
              <a:off x="423" y="2160"/>
              <a:ext cx="864" cy="480"/>
              <a:chOff x="480" y="2400"/>
              <a:chExt cx="864" cy="480"/>
            </a:xfrm>
          </p:grpSpPr>
          <p:sp>
            <p:nvSpPr>
              <p:cNvPr id="135195" name="AutoShape 23"/>
              <p:cNvSpPr>
                <a:spLocks noChangeArrowheads="1"/>
              </p:cNvSpPr>
              <p:nvPr/>
            </p:nvSpPr>
            <p:spPr bwMode="auto">
              <a:xfrm>
                <a:off x="480" y="2400"/>
                <a:ext cx="864" cy="48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35196" name="Object 23"/>
              <p:cNvGraphicFramePr>
                <a:graphicFrameLocks noChangeAspect="1"/>
              </p:cNvGraphicFramePr>
              <p:nvPr/>
            </p:nvGraphicFramePr>
            <p:xfrm>
              <a:off x="578" y="2455"/>
              <a:ext cx="679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2" name="Equation" r:id="rId3" imgW="838200" imgH="457200" progId="Equation.3">
                      <p:embed/>
                    </p:oleObj>
                  </mc:Choice>
                  <mc:Fallback>
                    <p:oleObj name="Equation" r:id="rId3" imgW="838200" imgH="457200" progId="Equation.3">
                      <p:embed/>
                      <p:pic>
                        <p:nvPicPr>
                          <p:cNvPr id="135196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8" y="2455"/>
                            <a:ext cx="679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ACAEE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35172" name="Group 30"/>
          <p:cNvGrpSpPr>
            <a:grpSpLocks/>
          </p:cNvGrpSpPr>
          <p:nvPr/>
        </p:nvGrpSpPr>
        <p:grpSpPr bwMode="auto">
          <a:xfrm>
            <a:off x="1870076" y="2627313"/>
            <a:ext cx="2257425" cy="1295400"/>
            <a:chOff x="174" y="2832"/>
            <a:chExt cx="1422" cy="816"/>
          </a:xfrm>
        </p:grpSpPr>
        <p:sp>
          <p:nvSpPr>
            <p:cNvPr id="135189" name="Rectangle 19"/>
            <p:cNvSpPr>
              <a:spLocks noChangeArrowheads="1"/>
            </p:cNvSpPr>
            <p:nvPr/>
          </p:nvSpPr>
          <p:spPr bwMode="auto">
            <a:xfrm>
              <a:off x="174" y="2832"/>
              <a:ext cx="14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Output impedance</a:t>
              </a:r>
            </a:p>
          </p:txBody>
        </p:sp>
        <p:grpSp>
          <p:nvGrpSpPr>
            <p:cNvPr id="135190" name="Group 25"/>
            <p:cNvGrpSpPr>
              <a:grpSpLocks/>
            </p:cNvGrpSpPr>
            <p:nvPr/>
          </p:nvGrpSpPr>
          <p:grpSpPr bwMode="auto">
            <a:xfrm>
              <a:off x="386" y="3120"/>
              <a:ext cx="1056" cy="528"/>
              <a:chOff x="528" y="3262"/>
              <a:chExt cx="1056" cy="528"/>
            </a:xfrm>
          </p:grpSpPr>
          <p:sp>
            <p:nvSpPr>
              <p:cNvPr id="135191" name="AutoShape 18"/>
              <p:cNvSpPr>
                <a:spLocks noChangeArrowheads="1"/>
              </p:cNvSpPr>
              <p:nvPr/>
            </p:nvSpPr>
            <p:spPr bwMode="auto">
              <a:xfrm>
                <a:off x="528" y="3262"/>
                <a:ext cx="1056" cy="52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35192" name="Object 25"/>
              <p:cNvGraphicFramePr>
                <a:graphicFrameLocks noChangeAspect="1"/>
              </p:cNvGraphicFramePr>
              <p:nvPr/>
            </p:nvGraphicFramePr>
            <p:xfrm>
              <a:off x="628" y="3290"/>
              <a:ext cx="856" cy="4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" name="Equation" r:id="rId5" imgW="965200" imgH="533400" progId="Equation.3">
                      <p:embed/>
                    </p:oleObj>
                  </mc:Choice>
                  <mc:Fallback>
                    <p:oleObj name="Equation" r:id="rId5" imgW="965200" imgH="533400" progId="Equation.3">
                      <p:embed/>
                      <p:pic>
                        <p:nvPicPr>
                          <p:cNvPr id="135192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8" y="3290"/>
                            <a:ext cx="856" cy="4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ACAEE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35173" name="Group 31"/>
          <p:cNvGrpSpPr>
            <a:grpSpLocks/>
          </p:cNvGrpSpPr>
          <p:nvPr/>
        </p:nvGrpSpPr>
        <p:grpSpPr bwMode="auto">
          <a:xfrm>
            <a:off x="4733925" y="1751013"/>
            <a:ext cx="1981200" cy="1752600"/>
            <a:chOff x="1882" y="1872"/>
            <a:chExt cx="1248" cy="1104"/>
          </a:xfrm>
        </p:grpSpPr>
        <p:sp>
          <p:nvSpPr>
            <p:cNvPr id="135185" name="Rectangle 20"/>
            <p:cNvSpPr>
              <a:spLocks noChangeArrowheads="1"/>
            </p:cNvSpPr>
            <p:nvPr/>
          </p:nvSpPr>
          <p:spPr bwMode="auto">
            <a:xfrm>
              <a:off x="1981" y="1872"/>
              <a:ext cx="10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Voltage gain</a:t>
              </a:r>
            </a:p>
          </p:txBody>
        </p:sp>
        <p:grpSp>
          <p:nvGrpSpPr>
            <p:cNvPr id="135186" name="Group 27"/>
            <p:cNvGrpSpPr>
              <a:grpSpLocks/>
            </p:cNvGrpSpPr>
            <p:nvPr/>
          </p:nvGrpSpPr>
          <p:grpSpPr bwMode="auto">
            <a:xfrm>
              <a:off x="1882" y="2112"/>
              <a:ext cx="1248" cy="864"/>
              <a:chOff x="2592" y="1872"/>
              <a:chExt cx="1248" cy="864"/>
            </a:xfrm>
          </p:grpSpPr>
          <p:sp>
            <p:nvSpPr>
              <p:cNvPr id="135187" name="AutoShape 20"/>
              <p:cNvSpPr>
                <a:spLocks noChangeArrowheads="1"/>
              </p:cNvSpPr>
              <p:nvPr/>
            </p:nvSpPr>
            <p:spPr bwMode="auto">
              <a:xfrm>
                <a:off x="2592" y="1872"/>
                <a:ext cx="1248" cy="864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35188" name="Object 27"/>
              <p:cNvGraphicFramePr>
                <a:graphicFrameLocks noChangeAspect="1"/>
              </p:cNvGraphicFramePr>
              <p:nvPr/>
            </p:nvGraphicFramePr>
            <p:xfrm>
              <a:off x="2619" y="1938"/>
              <a:ext cx="1195" cy="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" name="Equation" r:id="rId7" imgW="1447800" imgH="889000" progId="Equation.3">
                      <p:embed/>
                    </p:oleObj>
                  </mc:Choice>
                  <mc:Fallback>
                    <p:oleObj name="Equation" r:id="rId7" imgW="1447800" imgH="889000" progId="Equation.3">
                      <p:embed/>
                      <p:pic>
                        <p:nvPicPr>
                          <p:cNvPr id="135188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19" y="1938"/>
                            <a:ext cx="1195" cy="7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ACAEE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35174" name="Group 33"/>
          <p:cNvGrpSpPr>
            <a:grpSpLocks/>
          </p:cNvGrpSpPr>
          <p:nvPr/>
        </p:nvGrpSpPr>
        <p:grpSpPr bwMode="auto">
          <a:xfrm>
            <a:off x="7086600" y="85725"/>
            <a:ext cx="2895600" cy="2286000"/>
            <a:chOff x="3456" y="1872"/>
            <a:chExt cx="1824" cy="1440"/>
          </a:xfrm>
        </p:grpSpPr>
        <p:sp>
          <p:nvSpPr>
            <p:cNvPr id="135181" name="Rectangle 21"/>
            <p:cNvSpPr>
              <a:spLocks noChangeArrowheads="1"/>
            </p:cNvSpPr>
            <p:nvPr/>
          </p:nvSpPr>
          <p:spPr bwMode="auto">
            <a:xfrm>
              <a:off x="3870" y="1872"/>
              <a:ext cx="9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Current gain</a:t>
              </a:r>
            </a:p>
          </p:txBody>
        </p:sp>
        <p:grpSp>
          <p:nvGrpSpPr>
            <p:cNvPr id="135182" name="Group 26"/>
            <p:cNvGrpSpPr>
              <a:grpSpLocks/>
            </p:cNvGrpSpPr>
            <p:nvPr/>
          </p:nvGrpSpPr>
          <p:grpSpPr bwMode="auto">
            <a:xfrm>
              <a:off x="3456" y="2112"/>
              <a:ext cx="1824" cy="1200"/>
              <a:chOff x="2256" y="2882"/>
              <a:chExt cx="1824" cy="1200"/>
            </a:xfrm>
          </p:grpSpPr>
          <p:sp>
            <p:nvSpPr>
              <p:cNvPr id="135183" name="AutoShape 19"/>
              <p:cNvSpPr>
                <a:spLocks noChangeArrowheads="1"/>
              </p:cNvSpPr>
              <p:nvPr/>
            </p:nvSpPr>
            <p:spPr bwMode="auto">
              <a:xfrm>
                <a:off x="2256" y="2882"/>
                <a:ext cx="1824" cy="12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35184" name="Object 29"/>
              <p:cNvGraphicFramePr>
                <a:graphicFrameLocks noChangeAspect="1"/>
              </p:cNvGraphicFramePr>
              <p:nvPr/>
            </p:nvGraphicFramePr>
            <p:xfrm>
              <a:off x="2342" y="2884"/>
              <a:ext cx="1653" cy="1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5" name="Equation" r:id="rId9" imgW="1841500" imgH="1333500" progId="Equation.3">
                      <p:embed/>
                    </p:oleObj>
                  </mc:Choice>
                  <mc:Fallback>
                    <p:oleObj name="Equation" r:id="rId9" imgW="1841500" imgH="1333500" progId="Equation.3">
                      <p:embed/>
                      <p:pic>
                        <p:nvPicPr>
                          <p:cNvPr id="135184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42" y="2884"/>
                            <a:ext cx="1653" cy="1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ACAEE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135176" name="Picture 31" descr="fg05_02700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276" y="4106863"/>
            <a:ext cx="7485063" cy="26400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56"/>
          <a:stretch/>
        </p:blipFill>
        <p:spPr bwMode="auto">
          <a:xfrm>
            <a:off x="1524001" y="0"/>
            <a:ext cx="7173913" cy="16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19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19250"/>
            <a:ext cx="3657600" cy="4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708" y="609600"/>
            <a:ext cx="498942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56"/>
          <a:stretch/>
        </p:blipFill>
        <p:spPr bwMode="auto">
          <a:xfrm>
            <a:off x="1524001" y="0"/>
            <a:ext cx="7173913" cy="16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64"/>
          <a:stretch/>
        </p:blipFill>
        <p:spPr bwMode="auto">
          <a:xfrm>
            <a:off x="5017538" y="4495800"/>
            <a:ext cx="5650462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0" y="1622739"/>
            <a:ext cx="7960848" cy="242122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71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ChangeArrowheads="1"/>
              </p:cNvSpPr>
              <p:nvPr/>
            </p:nvSpPr>
            <p:spPr bwMode="auto">
              <a:xfrm>
                <a:off x="1520687" y="569913"/>
                <a:ext cx="9147313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5750" indent="-28575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800" b="1" dirty="0">
                    <a:solidFill>
                      <a:srgbClr val="C00000"/>
                    </a:solidFill>
                  </a:rPr>
                  <a:t>Common base PNP: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altLang="en-US" sz="2800" b="1" dirty="0">
                    <a:solidFill>
                      <a:srgbClr val="C00000"/>
                    </a:solidFill>
                  </a:rPr>
                  <a:t> T model </a:t>
                </a: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800" b="1" dirty="0">
                    <a:solidFill>
                      <a:srgbClr val="C00000"/>
                    </a:solidFill>
                  </a:rPr>
                  <a:t>Input: emitter; output: collector</a:t>
                </a: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800" b="1" dirty="0">
                    <a:solidFill>
                      <a:srgbClr val="C00000"/>
                    </a:solidFill>
                  </a:rPr>
                  <a:t>Output Current: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sSub>
                      <m:sSubPr>
                        <m:ctrlP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sSub>
                      <m:sSubPr>
                        <m:ctrlP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en-US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en-US" sz="2800" b="1" dirty="0">
                    <a:solidFill>
                      <a:srgbClr val="C00000"/>
                    </a:solidFill>
                    <a:latin typeface="+mj-lt"/>
                    <a:ea typeface="Cambria Math" panose="02040503050406030204" pitchFamily="18" charset="0"/>
                  </a:rPr>
                  <a:t> input current</a:t>
                </a:r>
                <a:endParaRPr lang="en-US" alt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0687" y="569913"/>
                <a:ext cx="9147313" cy="1384995"/>
              </a:xfrm>
              <a:prstGeom prst="rect">
                <a:avLst/>
              </a:prstGeom>
              <a:blipFill>
                <a:blip r:embed="rId2"/>
                <a:stretch>
                  <a:fillRect l="-1199" t="-3947" b="-114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48" name="Rectangle 5"/>
          <p:cNvSpPr>
            <a:spLocks noChangeArrowheads="1"/>
          </p:cNvSpPr>
          <p:nvPr/>
        </p:nvSpPr>
        <p:spPr bwMode="auto">
          <a:xfrm>
            <a:off x="1828800" y="1"/>
            <a:ext cx="853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</a:rPr>
              <a:t>Example 5.8: Common Base BJT Amplifier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8F23EC2-1CFB-4705-A4D9-62EC8B0084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2" t="16360"/>
          <a:stretch/>
        </p:blipFill>
        <p:spPr>
          <a:xfrm>
            <a:off x="1524000" y="1981200"/>
            <a:ext cx="5950429" cy="2209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F918523A-54BF-4283-8C4F-5894084CC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686" y="4640034"/>
            <a:ext cx="5695266" cy="191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68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5"/>
          <p:cNvSpPr>
            <a:spLocks noChangeArrowheads="1"/>
          </p:cNvSpPr>
          <p:nvPr/>
        </p:nvSpPr>
        <p:spPr bwMode="auto">
          <a:xfrm>
            <a:off x="1828800" y="1"/>
            <a:ext cx="853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</a:rPr>
              <a:t>Example 5.8: Common Base BJT Amplifier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F918523A-54BF-4283-8C4F-5894084CC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990601"/>
            <a:ext cx="5695266" cy="1913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A81A640-345D-4B91-BCAA-E22FE21FF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204068"/>
            <a:ext cx="5123362" cy="29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7097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1564763" y="152401"/>
            <a:ext cx="9148979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</a:rPr>
              <a:t>5.16 Cascaded Systems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</a:rPr>
              <a:t>To get more gain, a </a:t>
            </a:r>
            <a:r>
              <a:rPr lang="en-US" altLang="en-US" b="1" u="sng" dirty="0">
                <a:solidFill>
                  <a:srgbClr val="000000"/>
                </a:solidFill>
              </a:rPr>
              <a:t>cascaded</a:t>
            </a:r>
            <a:r>
              <a:rPr lang="en-US" altLang="en-US" b="1" dirty="0">
                <a:solidFill>
                  <a:srgbClr val="000000"/>
                </a:solidFill>
              </a:rPr>
              <a:t> amplifier can be used.</a:t>
            </a:r>
          </a:p>
        </p:txBody>
      </p:sp>
      <p:sp>
        <p:nvSpPr>
          <p:cNvPr id="8269" name="Rectangle 77"/>
          <p:cNvSpPr>
            <a:spLocks noChangeArrowheads="1"/>
          </p:cNvSpPr>
          <p:nvPr/>
        </p:nvSpPr>
        <p:spPr bwMode="auto">
          <a:xfrm>
            <a:off x="3255030" y="4065588"/>
            <a:ext cx="6129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The </a:t>
            </a:r>
            <a:r>
              <a:rPr lang="en-US" altLang="en-US" sz="2800" b="1" u="sng" dirty="0">
                <a:solidFill>
                  <a:srgbClr val="FF0000"/>
                </a:solidFill>
              </a:rPr>
              <a:t>overall</a:t>
            </a:r>
            <a:r>
              <a:rPr lang="en-US" altLang="en-US" sz="2800" b="1" dirty="0">
                <a:solidFill>
                  <a:srgbClr val="FF0000"/>
                </a:solidFill>
              </a:rPr>
              <a:t> voltage gain:   A</a:t>
            </a:r>
            <a:r>
              <a:rPr lang="en-US" altLang="en-US" sz="2800" b="1" baseline="-25000" dirty="0">
                <a:solidFill>
                  <a:srgbClr val="FF0000"/>
                </a:solidFill>
              </a:rPr>
              <a:t>V</a:t>
            </a:r>
            <a:r>
              <a:rPr lang="en-US" altLang="en-US" sz="2800" b="1" dirty="0">
                <a:solidFill>
                  <a:srgbClr val="FF0000"/>
                </a:solidFill>
              </a:rPr>
              <a:t> = A</a:t>
            </a:r>
            <a:r>
              <a:rPr lang="en-US" altLang="en-US" sz="2800" b="1" baseline="-25000" dirty="0">
                <a:solidFill>
                  <a:srgbClr val="FF0000"/>
                </a:solidFill>
              </a:rPr>
              <a:t>V1</a:t>
            </a:r>
            <a:r>
              <a:rPr lang="en-US" altLang="en-US" sz="2800" b="1" dirty="0">
                <a:solidFill>
                  <a:srgbClr val="FF0000"/>
                </a:solidFill>
              </a:rPr>
              <a:t>A</a:t>
            </a:r>
            <a:r>
              <a:rPr lang="en-US" altLang="en-US" sz="2800" b="1" baseline="-25000" dirty="0">
                <a:solidFill>
                  <a:srgbClr val="FF0000"/>
                </a:solidFill>
              </a:rPr>
              <a:t>V2</a:t>
            </a:r>
            <a:endParaRPr lang="en-US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874044" y="1524000"/>
            <a:ext cx="8439150" cy="2514600"/>
            <a:chOff x="407988" y="2038350"/>
            <a:chExt cx="8439150" cy="2514600"/>
          </a:xfrm>
        </p:grpSpPr>
        <p:grpSp>
          <p:nvGrpSpPr>
            <p:cNvPr id="146435" name="Group 11"/>
            <p:cNvGrpSpPr>
              <a:grpSpLocks/>
            </p:cNvGrpSpPr>
            <p:nvPr/>
          </p:nvGrpSpPr>
          <p:grpSpPr bwMode="auto">
            <a:xfrm>
              <a:off x="1855788" y="2038350"/>
              <a:ext cx="1752600" cy="990600"/>
              <a:chOff x="1200" y="1872"/>
              <a:chExt cx="1104" cy="624"/>
            </a:xfrm>
          </p:grpSpPr>
          <p:sp>
            <p:nvSpPr>
              <p:cNvPr id="146481" name="Rectangle 3"/>
              <p:cNvSpPr>
                <a:spLocks noChangeArrowheads="1"/>
              </p:cNvSpPr>
              <p:nvPr/>
            </p:nvSpPr>
            <p:spPr bwMode="auto">
              <a:xfrm>
                <a:off x="1200" y="1872"/>
                <a:ext cx="1104" cy="624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PerspectiveTopRight"/>
                <a:lightRig rig="legacyFlat3" dir="b"/>
              </a:scene3d>
              <a:sp3d extrusionH="1243000" prstMaterial="legacyMatte">
                <a:bevelT w="13500" h="13500" prst="angle"/>
                <a:bevelB w="13500" h="13500" prst="angle"/>
                <a:extrusionClr>
                  <a:schemeClr val="accent2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46482" name="Text Box 5"/>
              <p:cNvSpPr txBox="1">
                <a:spLocks noChangeArrowheads="1"/>
              </p:cNvSpPr>
              <p:nvPr/>
            </p:nvSpPr>
            <p:spPr bwMode="auto">
              <a:xfrm>
                <a:off x="1344" y="1872"/>
                <a:ext cx="80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>
                    <a:solidFill>
                      <a:srgbClr val="FFFFFF"/>
                    </a:solidFill>
                  </a:rPr>
                  <a:t>Stage 1</a:t>
                </a:r>
              </a:p>
            </p:txBody>
          </p:sp>
          <p:sp>
            <p:nvSpPr>
              <p:cNvPr id="146483" name="Text Box 6"/>
              <p:cNvSpPr txBox="1">
                <a:spLocks noChangeArrowheads="1"/>
              </p:cNvSpPr>
              <p:nvPr/>
            </p:nvSpPr>
            <p:spPr bwMode="auto">
              <a:xfrm>
                <a:off x="1584" y="2160"/>
                <a:ext cx="43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>
                    <a:solidFill>
                      <a:srgbClr val="FFFFFF"/>
                    </a:solidFill>
                  </a:rPr>
                  <a:t>A</a:t>
                </a:r>
                <a:r>
                  <a:rPr lang="en-US" altLang="en-US" sz="2800" b="1" baseline="-25000">
                    <a:solidFill>
                      <a:srgbClr val="FFFFFF"/>
                    </a:solidFill>
                  </a:rPr>
                  <a:t>V1</a:t>
                </a:r>
              </a:p>
            </p:txBody>
          </p:sp>
        </p:grpSp>
        <p:grpSp>
          <p:nvGrpSpPr>
            <p:cNvPr id="146436" name="Group 10"/>
            <p:cNvGrpSpPr>
              <a:grpSpLocks/>
            </p:cNvGrpSpPr>
            <p:nvPr/>
          </p:nvGrpSpPr>
          <p:grpSpPr bwMode="auto">
            <a:xfrm>
              <a:off x="4979988" y="2038350"/>
              <a:ext cx="1752600" cy="990600"/>
              <a:chOff x="2592" y="2784"/>
              <a:chExt cx="1104" cy="624"/>
            </a:xfrm>
          </p:grpSpPr>
          <p:sp>
            <p:nvSpPr>
              <p:cNvPr id="146478" name="Rectangle 7"/>
              <p:cNvSpPr>
                <a:spLocks noChangeArrowheads="1"/>
              </p:cNvSpPr>
              <p:nvPr/>
            </p:nvSpPr>
            <p:spPr bwMode="auto">
              <a:xfrm>
                <a:off x="2592" y="2784"/>
                <a:ext cx="1104" cy="624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effectLst/>
              <a:scene3d>
                <a:camera prst="legacyPerspectiveTopRight"/>
                <a:lightRig rig="legacyFlat3" dir="b"/>
              </a:scene3d>
              <a:sp3d extrusionH="1243000" prstMaterial="legacyMatte">
                <a:bevelT w="13500" h="13500" prst="angle"/>
                <a:bevelB w="13500" h="13500" prst="angle"/>
                <a:extrusionClr>
                  <a:schemeClr val="accent2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46479" name="Text Box 8"/>
              <p:cNvSpPr txBox="1">
                <a:spLocks noChangeArrowheads="1"/>
              </p:cNvSpPr>
              <p:nvPr/>
            </p:nvSpPr>
            <p:spPr bwMode="auto">
              <a:xfrm>
                <a:off x="2736" y="2784"/>
                <a:ext cx="80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>
                    <a:solidFill>
                      <a:srgbClr val="FFFFFF"/>
                    </a:solidFill>
                  </a:rPr>
                  <a:t>Stage 2</a:t>
                </a:r>
              </a:p>
            </p:txBody>
          </p:sp>
          <p:sp>
            <p:nvSpPr>
              <p:cNvPr id="146480" name="Text Box 9"/>
              <p:cNvSpPr txBox="1">
                <a:spLocks noChangeArrowheads="1"/>
              </p:cNvSpPr>
              <p:nvPr/>
            </p:nvSpPr>
            <p:spPr bwMode="auto">
              <a:xfrm>
                <a:off x="2976" y="3072"/>
                <a:ext cx="43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 dirty="0">
                    <a:solidFill>
                      <a:srgbClr val="FFFFFF"/>
                    </a:solidFill>
                  </a:rPr>
                  <a:t>A</a:t>
                </a:r>
                <a:r>
                  <a:rPr lang="en-US" altLang="en-US" sz="2800" b="1" baseline="-25000" dirty="0">
                    <a:solidFill>
                      <a:srgbClr val="FFFFFF"/>
                    </a:solidFill>
                  </a:rPr>
                  <a:t>V2</a:t>
                </a:r>
                <a:endParaRPr lang="en-US" altLang="en-US" sz="28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46437" name="Group 13"/>
            <p:cNvGrpSpPr>
              <a:grpSpLocks/>
            </p:cNvGrpSpPr>
            <p:nvPr/>
          </p:nvGrpSpPr>
          <p:grpSpPr bwMode="auto">
            <a:xfrm>
              <a:off x="1038225" y="3105150"/>
              <a:ext cx="738188" cy="738188"/>
              <a:chOff x="2064" y="576"/>
              <a:chExt cx="465" cy="465"/>
            </a:xfrm>
          </p:grpSpPr>
          <p:sp>
            <p:nvSpPr>
              <p:cNvPr id="146475" name="Oval 14"/>
              <p:cNvSpPr>
                <a:spLocks noChangeArrowheads="1"/>
              </p:cNvSpPr>
              <p:nvPr/>
            </p:nvSpPr>
            <p:spPr bwMode="auto">
              <a:xfrm>
                <a:off x="2064" y="576"/>
                <a:ext cx="465" cy="46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46476" name="Freeform 15"/>
              <p:cNvSpPr>
                <a:spLocks/>
              </p:cNvSpPr>
              <p:nvPr/>
            </p:nvSpPr>
            <p:spPr bwMode="auto">
              <a:xfrm>
                <a:off x="2178" y="696"/>
                <a:ext cx="109" cy="114"/>
              </a:xfrm>
              <a:custGeom>
                <a:avLst/>
                <a:gdLst>
                  <a:gd name="T0" fmla="*/ 0 w 1066"/>
                  <a:gd name="T1" fmla="*/ 0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0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477" name="Freeform 16"/>
              <p:cNvSpPr>
                <a:spLocks/>
              </p:cNvSpPr>
              <p:nvPr/>
            </p:nvSpPr>
            <p:spPr bwMode="auto">
              <a:xfrm flipV="1">
                <a:off x="2287" y="805"/>
                <a:ext cx="109" cy="114"/>
              </a:xfrm>
              <a:custGeom>
                <a:avLst/>
                <a:gdLst>
                  <a:gd name="T0" fmla="*/ 0 w 1066"/>
                  <a:gd name="T1" fmla="*/ 0 h 1065"/>
                  <a:gd name="T2" fmla="*/ 0 w 1066"/>
                  <a:gd name="T3" fmla="*/ 0 h 1065"/>
                  <a:gd name="T4" fmla="*/ 0 w 1066"/>
                  <a:gd name="T5" fmla="*/ 0 h 1065"/>
                  <a:gd name="T6" fmla="*/ 0 w 1066"/>
                  <a:gd name="T7" fmla="*/ 0 h 1065"/>
                  <a:gd name="T8" fmla="*/ 0 w 1066"/>
                  <a:gd name="T9" fmla="*/ 0 h 10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6" h="1065">
                    <a:moveTo>
                      <a:pt x="1066" y="1065"/>
                    </a:moveTo>
                    <a:cubicBezTo>
                      <a:pt x="1016" y="934"/>
                      <a:pt x="854" y="455"/>
                      <a:pt x="766" y="279"/>
                    </a:cubicBezTo>
                    <a:cubicBezTo>
                      <a:pt x="678" y="103"/>
                      <a:pt x="612" y="20"/>
                      <a:pt x="538" y="10"/>
                    </a:cubicBezTo>
                    <a:cubicBezTo>
                      <a:pt x="464" y="0"/>
                      <a:pt x="411" y="41"/>
                      <a:pt x="321" y="217"/>
                    </a:cubicBezTo>
                    <a:cubicBezTo>
                      <a:pt x="231" y="393"/>
                      <a:pt x="67" y="888"/>
                      <a:pt x="0" y="1065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6438" name="Line 17"/>
            <p:cNvSpPr>
              <a:spLocks noChangeShapeType="1"/>
            </p:cNvSpPr>
            <p:nvPr/>
          </p:nvSpPr>
          <p:spPr bwMode="auto">
            <a:xfrm>
              <a:off x="1414463" y="2495550"/>
              <a:ext cx="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6439" name="Group 18"/>
            <p:cNvGrpSpPr>
              <a:grpSpLocks/>
            </p:cNvGrpSpPr>
            <p:nvPr/>
          </p:nvGrpSpPr>
          <p:grpSpPr bwMode="auto">
            <a:xfrm>
              <a:off x="1017588" y="3867150"/>
              <a:ext cx="762000" cy="685800"/>
              <a:chOff x="806" y="3408"/>
              <a:chExt cx="480" cy="432"/>
            </a:xfrm>
          </p:grpSpPr>
          <p:grpSp>
            <p:nvGrpSpPr>
              <p:cNvPr id="146470" name="Group 19"/>
              <p:cNvGrpSpPr>
                <a:grpSpLocks/>
              </p:cNvGrpSpPr>
              <p:nvPr/>
            </p:nvGrpSpPr>
            <p:grpSpPr bwMode="auto">
              <a:xfrm>
                <a:off x="806" y="3648"/>
                <a:ext cx="480" cy="192"/>
                <a:chOff x="1261" y="2969"/>
                <a:chExt cx="480" cy="192"/>
              </a:xfrm>
            </p:grpSpPr>
            <p:sp>
              <p:nvSpPr>
                <p:cNvPr id="146472" name="Line 20"/>
                <p:cNvSpPr>
                  <a:spLocks noChangeShapeType="1"/>
                </p:cNvSpPr>
                <p:nvPr/>
              </p:nvSpPr>
              <p:spPr bwMode="auto">
                <a:xfrm>
                  <a:off x="1261" y="2969"/>
                  <a:ext cx="48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73" name="Line 21"/>
                <p:cNvSpPr>
                  <a:spLocks noChangeShapeType="1"/>
                </p:cNvSpPr>
                <p:nvPr/>
              </p:nvSpPr>
              <p:spPr bwMode="auto">
                <a:xfrm>
                  <a:off x="1357" y="3065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74" name="Line 22"/>
                <p:cNvSpPr>
                  <a:spLocks noChangeShapeType="1"/>
                </p:cNvSpPr>
                <p:nvPr/>
              </p:nvSpPr>
              <p:spPr bwMode="auto">
                <a:xfrm>
                  <a:off x="1453" y="3161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6471" name="Line 23"/>
              <p:cNvSpPr>
                <a:spLocks noChangeShapeType="1"/>
              </p:cNvSpPr>
              <p:nvPr/>
            </p:nvSpPr>
            <p:spPr bwMode="auto">
              <a:xfrm>
                <a:off x="1046" y="340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6440" name="Text Box 24"/>
            <p:cNvSpPr txBox="1">
              <a:spLocks noChangeArrowheads="1"/>
            </p:cNvSpPr>
            <p:nvPr/>
          </p:nvSpPr>
          <p:spPr bwMode="auto">
            <a:xfrm>
              <a:off x="407988" y="3209925"/>
              <a:ext cx="563562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</a:rPr>
                <a:t>v</a:t>
              </a:r>
              <a:r>
                <a:rPr lang="en-US" altLang="en-US" sz="2800" b="1" baseline="-25000">
                  <a:solidFill>
                    <a:srgbClr val="FF0000"/>
                  </a:solidFill>
                </a:rPr>
                <a:t>in</a:t>
              </a:r>
              <a:endParaRPr lang="en-US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146441" name="Line 25"/>
            <p:cNvSpPr>
              <a:spLocks noChangeShapeType="1"/>
            </p:cNvSpPr>
            <p:nvPr/>
          </p:nvSpPr>
          <p:spPr bwMode="auto">
            <a:xfrm flipH="1">
              <a:off x="1398588" y="249555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6442" name="Group 66"/>
            <p:cNvGrpSpPr>
              <a:grpSpLocks/>
            </p:cNvGrpSpPr>
            <p:nvPr/>
          </p:nvGrpSpPr>
          <p:grpSpPr bwMode="auto">
            <a:xfrm>
              <a:off x="7021513" y="2416175"/>
              <a:ext cx="1825625" cy="2060575"/>
              <a:chOff x="4464" y="1956"/>
              <a:chExt cx="1150" cy="1298"/>
            </a:xfrm>
          </p:grpSpPr>
          <p:grpSp>
            <p:nvGrpSpPr>
              <p:cNvPr id="146450" name="Group 46"/>
              <p:cNvGrpSpPr>
                <a:grpSpLocks/>
              </p:cNvGrpSpPr>
              <p:nvPr/>
            </p:nvGrpSpPr>
            <p:grpSpPr bwMode="auto">
              <a:xfrm rot="10800000">
                <a:off x="4608" y="2198"/>
                <a:ext cx="208" cy="620"/>
                <a:chOff x="2000" y="1771"/>
                <a:chExt cx="208" cy="620"/>
              </a:xfrm>
            </p:grpSpPr>
            <p:sp>
              <p:nvSpPr>
                <p:cNvPr id="146463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2001" y="1925"/>
                  <a:ext cx="207" cy="10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64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2001" y="2131"/>
                  <a:ext cx="207" cy="10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65" name="Line 49"/>
                <p:cNvSpPr>
                  <a:spLocks noChangeShapeType="1"/>
                </p:cNvSpPr>
                <p:nvPr/>
              </p:nvSpPr>
              <p:spPr bwMode="auto">
                <a:xfrm flipH="1" flipV="1">
                  <a:off x="2001" y="2028"/>
                  <a:ext cx="207" cy="10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66" name="Line 50"/>
                <p:cNvSpPr>
                  <a:spLocks noChangeShapeType="1"/>
                </p:cNvSpPr>
                <p:nvPr/>
              </p:nvSpPr>
              <p:spPr bwMode="auto">
                <a:xfrm flipH="1" flipV="1">
                  <a:off x="2001" y="2232"/>
                  <a:ext cx="207" cy="10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67" name="Line 51"/>
                <p:cNvSpPr>
                  <a:spLocks noChangeShapeType="1"/>
                </p:cNvSpPr>
                <p:nvPr/>
              </p:nvSpPr>
              <p:spPr bwMode="auto">
                <a:xfrm flipH="1" flipV="1">
                  <a:off x="2001" y="1821"/>
                  <a:ext cx="207" cy="10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68" name="Freeform 52"/>
                <p:cNvSpPr>
                  <a:spLocks/>
                </p:cNvSpPr>
                <p:nvPr/>
              </p:nvSpPr>
              <p:spPr bwMode="auto">
                <a:xfrm flipH="1">
                  <a:off x="2101" y="2336"/>
                  <a:ext cx="107" cy="55"/>
                </a:xfrm>
                <a:custGeom>
                  <a:avLst/>
                  <a:gdLst>
                    <a:gd name="T0" fmla="*/ 25 w 131"/>
                    <a:gd name="T1" fmla="*/ 12 h 68"/>
                    <a:gd name="T2" fmla="*/ 0 w 131"/>
                    <a:gd name="T3" fmla="*/ 0 h 6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1" h="68">
                      <a:moveTo>
                        <a:pt x="131" y="6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69" name="Freeform 53"/>
                <p:cNvSpPr>
                  <a:spLocks/>
                </p:cNvSpPr>
                <p:nvPr/>
              </p:nvSpPr>
              <p:spPr bwMode="auto">
                <a:xfrm flipH="1">
                  <a:off x="2000" y="1771"/>
                  <a:ext cx="100" cy="50"/>
                </a:xfrm>
                <a:custGeom>
                  <a:avLst/>
                  <a:gdLst>
                    <a:gd name="T0" fmla="*/ 15 w 131"/>
                    <a:gd name="T1" fmla="*/ 6 h 68"/>
                    <a:gd name="T2" fmla="*/ 0 w 131"/>
                    <a:gd name="T3" fmla="*/ 0 h 6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1" h="68">
                      <a:moveTo>
                        <a:pt x="131" y="6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6451" name="Line 54"/>
              <p:cNvSpPr>
                <a:spLocks noChangeShapeType="1"/>
              </p:cNvSpPr>
              <p:nvPr/>
            </p:nvSpPr>
            <p:spPr bwMode="auto">
              <a:xfrm>
                <a:off x="4720" y="2822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6452" name="Group 55"/>
              <p:cNvGrpSpPr>
                <a:grpSpLocks/>
              </p:cNvGrpSpPr>
              <p:nvPr/>
            </p:nvGrpSpPr>
            <p:grpSpPr bwMode="auto">
              <a:xfrm>
                <a:off x="4464" y="3062"/>
                <a:ext cx="480" cy="192"/>
                <a:chOff x="1261" y="2969"/>
                <a:chExt cx="480" cy="192"/>
              </a:xfrm>
            </p:grpSpPr>
            <p:sp>
              <p:nvSpPr>
                <p:cNvPr id="146460" name="Line 56"/>
                <p:cNvSpPr>
                  <a:spLocks noChangeShapeType="1"/>
                </p:cNvSpPr>
                <p:nvPr/>
              </p:nvSpPr>
              <p:spPr bwMode="auto">
                <a:xfrm>
                  <a:off x="1261" y="2969"/>
                  <a:ext cx="48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61" name="Line 57"/>
                <p:cNvSpPr>
                  <a:spLocks noChangeShapeType="1"/>
                </p:cNvSpPr>
                <p:nvPr/>
              </p:nvSpPr>
              <p:spPr bwMode="auto">
                <a:xfrm>
                  <a:off x="1357" y="3065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462" name="Line 58"/>
                <p:cNvSpPr>
                  <a:spLocks noChangeShapeType="1"/>
                </p:cNvSpPr>
                <p:nvPr/>
              </p:nvSpPr>
              <p:spPr bwMode="auto">
                <a:xfrm>
                  <a:off x="1453" y="3161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6453" name="Line 59"/>
              <p:cNvSpPr>
                <a:spLocks noChangeShapeType="1"/>
              </p:cNvSpPr>
              <p:nvPr/>
            </p:nvSpPr>
            <p:spPr bwMode="auto">
              <a:xfrm flipV="1">
                <a:off x="4708" y="1956"/>
                <a:ext cx="0" cy="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454" name="Text Box 60"/>
              <p:cNvSpPr txBox="1">
                <a:spLocks noChangeArrowheads="1"/>
              </p:cNvSpPr>
              <p:nvPr/>
            </p:nvSpPr>
            <p:spPr bwMode="auto">
              <a:xfrm>
                <a:off x="4800" y="2365"/>
                <a:ext cx="37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>
                    <a:solidFill>
                      <a:srgbClr val="FF0000"/>
                    </a:solidFill>
                  </a:rPr>
                  <a:t>R</a:t>
                </a:r>
                <a:r>
                  <a:rPr lang="en-US" altLang="en-US" sz="2800" b="1" baseline="-25000">
                    <a:solidFill>
                      <a:srgbClr val="FF0000"/>
                    </a:solidFill>
                  </a:rPr>
                  <a:t>L</a:t>
                </a:r>
                <a:endParaRPr lang="en-US" altLang="en-US" sz="28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46455" name="Text Box 61"/>
              <p:cNvSpPr txBox="1">
                <a:spLocks noChangeArrowheads="1"/>
              </p:cNvSpPr>
              <p:nvPr/>
            </p:nvSpPr>
            <p:spPr bwMode="auto">
              <a:xfrm>
                <a:off x="5174" y="2314"/>
                <a:ext cx="4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>
                    <a:solidFill>
                      <a:srgbClr val="FF0000"/>
                    </a:solidFill>
                  </a:rPr>
                  <a:t>v</a:t>
                </a:r>
                <a:r>
                  <a:rPr lang="en-US" altLang="en-US" sz="2800" b="1" baseline="-25000">
                    <a:solidFill>
                      <a:srgbClr val="FF0000"/>
                    </a:solidFill>
                  </a:rPr>
                  <a:t>out</a:t>
                </a:r>
              </a:p>
            </p:txBody>
          </p:sp>
          <p:sp>
            <p:nvSpPr>
              <p:cNvPr id="146456" name="Line 62"/>
              <p:cNvSpPr>
                <a:spLocks noChangeShapeType="1"/>
              </p:cNvSpPr>
              <p:nvPr/>
            </p:nvSpPr>
            <p:spPr bwMode="auto">
              <a:xfrm>
                <a:off x="4800" y="195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457" name="Line 63"/>
              <p:cNvSpPr>
                <a:spLocks noChangeShapeType="1"/>
              </p:cNvSpPr>
              <p:nvPr/>
            </p:nvSpPr>
            <p:spPr bwMode="auto">
              <a:xfrm>
                <a:off x="4992" y="306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458" name="Line 64"/>
              <p:cNvSpPr>
                <a:spLocks noChangeShapeType="1"/>
              </p:cNvSpPr>
              <p:nvPr/>
            </p:nvSpPr>
            <p:spPr bwMode="auto">
              <a:xfrm flipV="1">
                <a:off x="5328" y="1958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459" name="Line 65"/>
              <p:cNvSpPr>
                <a:spLocks noChangeShapeType="1"/>
              </p:cNvSpPr>
              <p:nvPr/>
            </p:nvSpPr>
            <p:spPr bwMode="auto">
              <a:xfrm>
                <a:off x="5328" y="263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6443" name="Line 67"/>
            <p:cNvSpPr>
              <a:spLocks noChangeShapeType="1"/>
            </p:cNvSpPr>
            <p:nvPr/>
          </p:nvSpPr>
          <p:spPr bwMode="auto">
            <a:xfrm>
              <a:off x="6808788" y="2419350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44" name="Line 68"/>
            <p:cNvSpPr>
              <a:spLocks noChangeShapeType="1"/>
            </p:cNvSpPr>
            <p:nvPr/>
          </p:nvSpPr>
          <p:spPr bwMode="auto">
            <a:xfrm>
              <a:off x="3684588" y="2451100"/>
              <a:ext cx="1295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70" name="Rectangle 78"/>
            <p:cNvSpPr>
              <a:spLocks noChangeArrowheads="1"/>
            </p:cNvSpPr>
            <p:nvPr/>
          </p:nvSpPr>
          <p:spPr bwMode="auto">
            <a:xfrm>
              <a:off x="2482850" y="3321050"/>
              <a:ext cx="1408113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</a:rPr>
                <a:t>z</a:t>
              </a:r>
              <a:r>
                <a:rPr lang="en-US" altLang="en-US" sz="2800" b="1" baseline="-25000">
                  <a:solidFill>
                    <a:srgbClr val="FF0000"/>
                  </a:solidFill>
                </a:rPr>
                <a:t>in(stage 2)</a:t>
              </a:r>
            </a:p>
          </p:txBody>
        </p:sp>
        <p:sp>
          <p:nvSpPr>
            <p:cNvPr id="8271" name="Line 79"/>
            <p:cNvSpPr>
              <a:spLocks noChangeShapeType="1"/>
            </p:cNvSpPr>
            <p:nvPr/>
          </p:nvSpPr>
          <p:spPr bwMode="auto">
            <a:xfrm>
              <a:off x="4495800" y="266700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72" name="Line 80"/>
            <p:cNvSpPr>
              <a:spLocks noChangeShapeType="1"/>
            </p:cNvSpPr>
            <p:nvPr/>
          </p:nvSpPr>
          <p:spPr bwMode="auto">
            <a:xfrm>
              <a:off x="4495800" y="2667000"/>
              <a:ext cx="0" cy="1066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73" name="Line 81"/>
            <p:cNvSpPr>
              <a:spLocks noChangeShapeType="1"/>
            </p:cNvSpPr>
            <p:nvPr/>
          </p:nvSpPr>
          <p:spPr bwMode="auto">
            <a:xfrm flipH="1">
              <a:off x="3825875" y="3733800"/>
              <a:ext cx="685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3" name="Rectangle 14"/>
          <p:cNvSpPr txBox="1">
            <a:spLocks noChangeArrowheads="1"/>
          </p:cNvSpPr>
          <p:nvPr/>
        </p:nvSpPr>
        <p:spPr bwMode="auto">
          <a:xfrm>
            <a:off x="1709539" y="4887913"/>
            <a:ext cx="8605449" cy="1406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output of one amplifier is the input to the next amplifier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DC bias circuits are isolated from each other by the coupling capacitors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9" grpId="0" autoUpdateAnimBg="0"/>
    </p:bldLst>
  </p:timing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4459</TotalTime>
  <Words>912</Words>
  <Application>Microsoft Office PowerPoint</Application>
  <PresentationFormat>Widescreen</PresentationFormat>
  <Paragraphs>226</Paragraphs>
  <Slides>32</Slides>
  <Notes>3</Notes>
  <HiddenSlides>2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Symbol</vt:lpstr>
      <vt:lpstr>Tahoma</vt:lpstr>
      <vt:lpstr>Times New Roman</vt:lpstr>
      <vt:lpstr>ppt_template_blue</vt:lpstr>
      <vt:lpstr>1_Office Theme</vt:lpstr>
      <vt:lpstr>Office 2013 - 2022 Theme</vt:lpstr>
      <vt:lpstr>Equation</vt:lpstr>
      <vt:lpstr>Microsoft Equation 3.0</vt:lpstr>
      <vt:lpstr>BJT AC Analysis</vt:lpstr>
      <vt:lpstr>5.2 AC Amplification</vt:lpstr>
      <vt:lpstr>PowerPoint Presentation</vt:lpstr>
      <vt:lpstr>Base-biased amplifier</vt:lpstr>
      <vt:lpstr>PowerPoint Presentation</vt:lpstr>
      <vt:lpstr>PowerPoint Presentation</vt:lpstr>
      <vt:lpstr>PowerPoint Presentation</vt:lpstr>
      <vt:lpstr>BJT Amplifier Analysis</vt:lpstr>
      <vt:lpstr>PowerPoint Presentation</vt:lpstr>
      <vt:lpstr>PowerPoint Presentation</vt:lpstr>
      <vt:lpstr>PowerPoint Presentation</vt:lpstr>
      <vt:lpstr> 5.3 BJT TRANSISTOR MODELING</vt:lpstr>
      <vt:lpstr>Transistor AC models</vt:lpstr>
      <vt:lpstr> 5.4 The re Transistor Model (The Input Equivalent Circuit)</vt:lpstr>
      <vt:lpstr> The re Transistor Model (The BJT Equivalent Circuit – T Model)</vt:lpstr>
      <vt:lpstr>PowerPoint Presentation</vt:lpstr>
      <vt:lpstr>PowerPoint Presentation</vt:lpstr>
      <vt:lpstr> Overview of re Transistor Models (T and p Model)</vt:lpstr>
      <vt:lpstr> re model including effects of ro </vt:lpstr>
      <vt:lpstr>BJT Amplifier AC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Microsoft account</cp:lastModifiedBy>
  <cp:revision>242</cp:revision>
  <cp:lastPrinted>2026-04-08T05:15:28Z</cp:lastPrinted>
  <dcterms:created xsi:type="dcterms:W3CDTF">2011-07-14T15:53:54Z</dcterms:created>
  <dcterms:modified xsi:type="dcterms:W3CDTF">2026-04-08T05:32:12Z</dcterms:modified>
</cp:coreProperties>
</file>