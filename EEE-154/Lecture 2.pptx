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70" r:id="rId5"/>
    <p:sldId id="271" r:id="rId6"/>
    <p:sldId id="260" r:id="rId7"/>
    <p:sldId id="261" r:id="rId8"/>
    <p:sldId id="285" r:id="rId9"/>
    <p:sldId id="259" r:id="rId10"/>
    <p:sldId id="278" r:id="rId11"/>
    <p:sldId id="262" r:id="rId12"/>
    <p:sldId id="277" r:id="rId13"/>
    <p:sldId id="286" r:id="rId14"/>
    <p:sldId id="287" r:id="rId15"/>
    <p:sldId id="282" r:id="rId16"/>
    <p:sldId id="267" r:id="rId17"/>
    <p:sldId id="263" r:id="rId18"/>
    <p:sldId id="264" r:id="rId19"/>
    <p:sldId id="273" r:id="rId20"/>
    <p:sldId id="274" r:id="rId21"/>
    <p:sldId id="265" r:id="rId22"/>
    <p:sldId id="266" r:id="rId23"/>
    <p:sldId id="275" r:id="rId24"/>
    <p:sldId id="27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C7D759-24F6-4549-9D67-87DFC3072E68}" type="datetimeFigureOut">
              <a:rPr lang="en-AU" smtClean="0"/>
              <a:t>9/07/2026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8B8E7-4B3E-4D1F-BDF6-A2CA6FEFD10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3295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2F8B2A-D347-4A43-A072-86AE868999AB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4822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4132C-7DD1-51D6-37A8-D0289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5FFAE-E3FC-B3DC-C55A-2433ACE5B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07121-D9FA-5018-2211-CEF0ADA36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784BF-482B-41F6-B444-57DD3FA74F1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4E4EC-B5AA-B324-519B-6E4105327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9399B-A570-6267-6496-4E8106711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6A92-6167-49BC-8AAA-4F426B08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813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5D452-C282-85F4-4C6E-4B8427A45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025F6-C7DD-02C2-74A4-1E125ED90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C7A59-3191-A211-8A74-86A28D1FC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784BF-482B-41F6-B444-57DD3FA74F1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D05A3-F0DC-FA57-F299-F6D5E7D6D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D7D6C-679A-C0E1-7893-54807C241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6A92-6167-49BC-8AAA-4F426B08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39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833FB-E65A-F712-33CA-9AC924D94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9AED2-2A06-E615-201F-28D1EA674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78EF1-8EFB-936B-2C6A-B54715839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784BF-482B-41F6-B444-57DD3FA74F1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C4E39-97E4-A967-BCEA-9FA275DBF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39B5F-944D-882C-8C2F-54806FE98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6A92-6167-49BC-8AAA-4F426B08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04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7F60D-257C-7911-15DA-79403F97F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2DB86-73BA-C50F-F1FB-01A86B6393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7E032D-12B1-5A45-5961-617D9643D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B9144D-85F3-85CE-CA5C-75BC82F76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784BF-482B-41F6-B444-57DD3FA74F1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4F16A-0808-53A9-5367-618E1FD1F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A9A1F-43D9-F0D1-6D80-C0B2B34B5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6A92-6167-49BC-8AAA-4F426B08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355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733C2-B93E-1B4B-C268-D743F6E24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6793D-8C1F-291A-2FE3-62DE8FC4F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33233-AAA9-6539-8F48-6FCB1F2A6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4B21AD-4DBE-0178-7687-665B3B12E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FDD69-2A07-931A-F4F2-C1319A893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683588-AB02-3DA5-24BE-45E39D7A5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784BF-482B-41F6-B444-57DD3FA74F1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EAF432-3A6A-479E-B43B-76F5F047F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BB8CA4-394A-4B91-5739-CCB9876AF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6A92-6167-49BC-8AAA-4F426B08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77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E197A-29E5-64F2-C37E-C707D54E5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B118AF-A84D-AB54-7A4D-BCBF9E7BC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784BF-482B-41F6-B444-57DD3FA74F1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5AF226-0109-ADF0-FA8F-D5C1FEF1F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84ADE1-3BA1-35CE-4AEE-4C8C6441C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6A92-6167-49BC-8AAA-4F426B08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11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62BE5D-816B-734B-0026-83A3A797B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784BF-482B-41F6-B444-57DD3FA74F1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7BDC6D-42AA-A98E-6EB0-822B0C793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77917-472C-F732-1494-C35C2E5A7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6A92-6167-49BC-8AAA-4F426B08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896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FA83A-B2AD-6FBD-B7B1-9CF0992A1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61AC9-8B29-717F-1D84-46056CD85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84EAAB-E9F1-097B-2470-30A462B60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3EE1F-6E92-04E2-CB76-63F6A96C4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784BF-482B-41F6-B444-57DD3FA74F1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06A8D-B7DF-EA39-37E0-2B33F1D1E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5D262-1A31-D920-4560-73416A0BC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6A92-6167-49BC-8AAA-4F426B08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647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51495-0BF9-3005-65E7-045A84272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497292-E153-22AC-2841-4B90D63ADB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2740FD-45DD-83F5-5CB0-911B77C960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1A6DB-38FD-DA4B-2BF2-69181770F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784BF-482B-41F6-B444-57DD3FA74F1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2F1EE-7401-A431-1A1C-466B8F4C7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10C52-4BCA-7176-6C4E-E9EF55A5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6A92-6167-49BC-8AAA-4F426B08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0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4E506-5595-1629-57B2-162F1E1C8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DCC8CC-2CAC-9296-9ECF-E4829B8F0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18F81-11B4-384D-19F5-653E965C4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784BF-482B-41F6-B444-57DD3FA74F1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A82B5-DBFF-5650-36CC-626684FD4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EB7C4-43A0-0AB7-9252-D6392A0A2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6A92-6167-49BC-8AAA-4F426B08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FD6C27-8810-0935-E9D8-751A1AFB4B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F77D9-1178-1657-4031-67AAC6205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45628-17A4-DB13-E56F-90A858023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784BF-482B-41F6-B444-57DD3FA74F1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714B1-1976-A976-DCE2-5D7944FC9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B0DB3-04FE-287A-1F27-DC640E275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6A92-6167-49BC-8AAA-4F426B08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0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C14300-3FBD-6C85-A883-16FC0C827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51BB1-C2BC-72B4-5059-D9111FB28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20680-0E36-73BD-A13E-E4A20B205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784BF-482B-41F6-B444-57DD3FA74F1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B27F0-DEE1-18F0-61B4-875B7068A2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77E2A-A8BD-645F-18AF-A4BDA821C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36A92-6167-49BC-8AAA-4F426B08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734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5173-1241-E703-3EC7-1483AAA76F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i="0" dirty="0">
                <a:solidFill>
                  <a:srgbClr val="1B1B1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LECTURE - 2</a:t>
            </a:r>
            <a:br>
              <a:rPr lang="en-US" i="0" dirty="0">
                <a:solidFill>
                  <a:srgbClr val="1B1B1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0" dirty="0">
                <a:solidFill>
                  <a:srgbClr val="1B1B1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br>
              <a:rPr lang="en-US" i="0" dirty="0">
                <a:solidFill>
                  <a:srgbClr val="1B1B1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0" dirty="0">
                <a:solidFill>
                  <a:srgbClr val="1B1B1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EEE 154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96984-6C61-4CDC-77CF-3163CB599E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2700"/>
            <a:ext cx="9144000" cy="107509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Md. Monowar Hossain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388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2F115-9005-EE62-E7F1-5BC41624C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7DA33-18BE-9764-774B-A6A8EF45B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822"/>
            <a:ext cx="10515600" cy="47440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Lettering, numbering and heading; plane geometry. Projection (Solid Geometry). </a:t>
            </a:r>
          </a:p>
          <a:p>
            <a:pPr marL="0" indent="0"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Development and true shape: cube, pyramid, cone, prism; section and true shape. </a:t>
            </a:r>
          </a:p>
          <a:p>
            <a:pPr marL="0" indent="0"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Isometric drawing, oblique drawing. </a:t>
            </a:r>
          </a:p>
          <a:p>
            <a:pPr marL="0" indent="0"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Plan, elevation and section of engineering structures. </a:t>
            </a:r>
          </a:p>
          <a:p>
            <a:pPr marL="0" indent="0"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Computer-Aided Design (CAD)</a:t>
            </a:r>
          </a:p>
        </p:txBody>
      </p:sp>
    </p:spTree>
    <p:extLst>
      <p:ext uri="{BB962C8B-B14F-4D97-AF65-F5344CB8AC3E}">
        <p14:creationId xmlns:p14="http://schemas.microsoft.com/office/powerpoint/2010/main" val="50864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A78A-D850-8D21-AB7F-BB66B5195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called Drawing??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09AB6-8D76-6873-A871-FF9E5A282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engineering drawing is a type of technical drawing that communicates how a component or system is to be constructed or assembled. It is used to convey information about an object.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universal language that conveys information about dimensions, materials, processes, and tolerances, ensuring that engineers, architects, and manufacturers can collaborate effectively.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common use is to specify the geometry necessary for constructing a component called a detailed drawing.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Usually, several drawings are necessary to specify even a simple component completely.</a:t>
            </a:r>
          </a:p>
        </p:txBody>
      </p:sp>
    </p:spTree>
    <p:extLst>
      <p:ext uri="{BB962C8B-B14F-4D97-AF65-F5344CB8AC3E}">
        <p14:creationId xmlns:p14="http://schemas.microsoft.com/office/powerpoint/2010/main" val="2974334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CE0D6-F9A8-D664-865C-F43C64D74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Called Lettering??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A70AF-0301-4A37-C0FD-512190AB2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0078"/>
            <a:ext cx="10515600" cy="487279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context of drawing,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art of creating and designing letters, often with a focus on aesthetics and visual appeal</a:t>
            </a:r>
            <a:r>
              <a:rPr lang="en-US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is called lettering or hand-lettering.</a:t>
            </a:r>
          </a:p>
          <a:p>
            <a:pPr marL="0" indent="0">
              <a:buNone/>
            </a:pPr>
            <a:r>
              <a:rPr lang="en-US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Lettering in engineering drawing is the art of writing essential text on technical drawings. </a:t>
            </a:r>
          </a:p>
          <a:p>
            <a:pPr marL="0" indent="0">
              <a:buNone/>
            </a:pPr>
            <a:r>
              <a:rPr lang="en-US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ensures clear communication of details, specifications, and measurements. </a:t>
            </a:r>
          </a:p>
          <a:p>
            <a:pPr marL="0" indent="0">
              <a:buNone/>
            </a:pPr>
            <a:r>
              <a:rPr lang="en-US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is it so important? </a:t>
            </a:r>
          </a:p>
          <a:p>
            <a:pPr marL="0" indent="0">
              <a:buNone/>
            </a:pPr>
            <a:r>
              <a:rPr lang="en-US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without proper lettering, even the most precise drawing can become confusing. </a:t>
            </a:r>
          </a:p>
          <a:p>
            <a:pPr marL="0" indent="0">
              <a:buNone/>
            </a:pPr>
            <a:r>
              <a:rPr lang="en-US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 that lettering</a:t>
            </a:r>
            <a:r>
              <a:rPr lang="en-US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differs from calligraphy, which emphasizes the act of writing.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49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B9CB5-E9A6-EE84-0105-CC6D534E2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Lettering &amp; Numbering</a:t>
            </a:r>
          </a:p>
        </p:txBody>
      </p:sp>
      <p:pic>
        <p:nvPicPr>
          <p:cNvPr id="1026" name="Picture 2" descr="ENGINEERING DRAWING- Lettering and ...">
            <a:extLst>
              <a:ext uri="{FF2B5EF4-FFF2-40B4-BE49-F238E27FC236}">
                <a16:creationId xmlns:a16="http://schemas.microsoft.com/office/drawing/2014/main" id="{C0049CE9-69CA-59CA-C335-D453689AA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1" y="1925945"/>
            <a:ext cx="3723240" cy="4566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ypes of Lettering in Technical Drawing ...">
            <a:extLst>
              <a:ext uri="{FF2B5EF4-FFF2-40B4-BE49-F238E27FC236}">
                <a16:creationId xmlns:a16="http://schemas.microsoft.com/office/drawing/2014/main" id="{30A1EF71-5433-DCD4-FF1E-93D2AD49D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0442" y="1896128"/>
            <a:ext cx="6724780" cy="2427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2663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27802-27E3-CCE3-69C9-7739A3A06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324"/>
            <a:ext cx="10515600" cy="1110590"/>
          </a:xfrm>
        </p:spPr>
        <p:txBody>
          <a:bodyPr/>
          <a:lstStyle/>
          <a:p>
            <a:r>
              <a:rPr lang="en-US" i="0" dirty="0">
                <a:solidFill>
                  <a:srgbClr val="2828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Engineering Drawing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F804C-69C9-E8A3-6823-8A4629060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2828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Engineering drawings are essential tools in the design and manufacturing processes, helping to translate ideas into tangible products.</a:t>
            </a:r>
          </a:p>
          <a:p>
            <a:pPr marL="0" indent="0" algn="just">
              <a:buNone/>
            </a:pPr>
            <a:endParaRPr lang="en-US" b="1" i="0" dirty="0">
              <a:solidFill>
                <a:srgbClr val="2828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0">
              <a:buNone/>
            </a:pPr>
            <a:r>
              <a:rPr lang="en-US" b="1" i="0" dirty="0">
                <a:solidFill>
                  <a:srgbClr val="2828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Communication:</a:t>
            </a:r>
            <a:r>
              <a:rPr lang="en-US" b="0" i="0" dirty="0">
                <a:solidFill>
                  <a:srgbClr val="2828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Facilitates clear communication among engineers, architects, and manufacturers.</a:t>
            </a:r>
          </a:p>
          <a:p>
            <a:pPr marL="0" indent="0" algn="just" rtl="0">
              <a:buNone/>
            </a:pPr>
            <a:r>
              <a:rPr lang="en-US" b="1" i="0" dirty="0">
                <a:solidFill>
                  <a:srgbClr val="2828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Precision:</a:t>
            </a:r>
            <a:r>
              <a:rPr lang="en-US" b="0" i="0" dirty="0">
                <a:solidFill>
                  <a:srgbClr val="2828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Ensures accuracy in the construction and assembly of parts.</a:t>
            </a:r>
          </a:p>
          <a:p>
            <a:pPr marL="0" indent="0" algn="just" rtl="0">
              <a:buNone/>
            </a:pPr>
            <a:r>
              <a:rPr lang="en-US" b="1" i="0" dirty="0">
                <a:solidFill>
                  <a:srgbClr val="2828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Documentation:</a:t>
            </a:r>
            <a:r>
              <a:rPr lang="en-US" b="0" i="0" dirty="0">
                <a:solidFill>
                  <a:srgbClr val="2828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Serves as a permanent record of designs and specifications.</a:t>
            </a:r>
          </a:p>
          <a:p>
            <a:pPr marL="0" indent="0" algn="just" rtl="0">
              <a:buNone/>
            </a:pPr>
            <a:r>
              <a:rPr lang="en-US" b="1" i="0" dirty="0">
                <a:solidFill>
                  <a:srgbClr val="2828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Standards Compliance:</a:t>
            </a:r>
            <a:r>
              <a:rPr lang="en-US" b="0" i="0" dirty="0">
                <a:solidFill>
                  <a:srgbClr val="2828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Adheres to industry standards, ensuring consistency and compatibility in engineering practices.</a:t>
            </a:r>
          </a:p>
          <a:p>
            <a:pPr marL="0" indent="0" algn="just" rtl="0">
              <a:buNone/>
            </a:pPr>
            <a:endParaRPr lang="en-US" b="0" i="0" dirty="0">
              <a:solidFill>
                <a:srgbClr val="2828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9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19278-6DC0-54EE-BCBA-83DDF0E9D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Drawing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8A246-24C0-B85A-E135-208199801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517"/>
            <a:ext cx="10515600" cy="456544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Orthographic Projection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Isometric Drawing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Sectional Drawing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 Drawing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Drawing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Schematic Drawing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Piping and Instrumentation Diagram (P&amp;ID)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Floor Plan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767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Profile plane of projection">
            <a:extLst>
              <a:ext uri="{FF2B5EF4-FFF2-40B4-BE49-F238E27FC236}">
                <a16:creationId xmlns:a16="http://schemas.microsoft.com/office/drawing/2014/main" id="{A9A76703-A982-4976-AB5C-74C5894B5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989" y="3704002"/>
            <a:ext cx="4084544" cy="3063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rontal plane of projection ">
            <a:extLst>
              <a:ext uri="{FF2B5EF4-FFF2-40B4-BE49-F238E27FC236}">
                <a16:creationId xmlns:a16="http://schemas.microsoft.com/office/drawing/2014/main" id="{5DA8BA30-D860-432E-8BAC-AD93DE471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7654" y="1397377"/>
            <a:ext cx="2553647" cy="2722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7D7E2C-813B-4A25-B7F6-758688D19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092" y="1563273"/>
            <a:ext cx="3536216" cy="2946846"/>
          </a:xfrm>
          <a:prstGeom prst="rect">
            <a:avLst/>
          </a:prstGeom>
        </p:spPr>
      </p:pic>
      <p:pic>
        <p:nvPicPr>
          <p:cNvPr id="1034" name="Picture 10" descr="Horizontal plane of projection">
            <a:extLst>
              <a:ext uri="{FF2B5EF4-FFF2-40B4-BE49-F238E27FC236}">
                <a16:creationId xmlns:a16="http://schemas.microsoft.com/office/drawing/2014/main" id="{9F01DA4E-E6C1-4110-9697-D01F19DE8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5584" y="1094306"/>
            <a:ext cx="3295650" cy="2722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FAF7D2-52DD-129E-DA62-E86E69039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1"/>
            <a:ext cx="10515600" cy="1017168"/>
          </a:xfrm>
        </p:spPr>
        <p:txBody>
          <a:bodyPr/>
          <a:lstStyle/>
          <a:p>
            <a:r>
              <a:rPr lang="en-US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Orthographic Projection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9A77C0-7299-E288-8330-26271E0F6E1D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79C25-5251-03F7-1CF7-B17B7E877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5CCFC7-D2D0-E752-7425-7AF4E2E2CB6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62ABC5D-365B-47F4-B0F9-79285CD016B5}"/>
              </a:ext>
            </a:extLst>
          </p:cNvPr>
          <p:cNvSpPr txBox="1"/>
          <p:nvPr/>
        </p:nvSpPr>
        <p:spPr>
          <a:xfrm>
            <a:off x="5493354" y="6611770"/>
            <a:ext cx="45448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Image source: </a:t>
            </a:r>
            <a:r>
              <a:rPr lang="en-US" sz="1100" b="0" i="0" dirty="0">
                <a:solidFill>
                  <a:srgbClr val="000000"/>
                </a:solidFill>
                <a:effectLst/>
                <a:latin typeface="McGillSerif-Medium"/>
              </a:rPr>
              <a:t>Projections and Views, Engineering Design, </a:t>
            </a:r>
            <a:r>
              <a:rPr lang="en-US" sz="1100" dirty="0"/>
              <a:t>McGill University</a:t>
            </a:r>
            <a:endParaRPr lang="en-US" sz="1100" b="0" i="0" dirty="0">
              <a:solidFill>
                <a:srgbClr val="000000"/>
              </a:solidFill>
              <a:effectLst/>
              <a:latin typeface="McGillSerif-Medium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64B663-FC4B-42BD-97C9-90222F1E47D2}"/>
              </a:ext>
            </a:extLst>
          </p:cNvPr>
          <p:cNvSpPr txBox="1"/>
          <p:nvPr/>
        </p:nvSpPr>
        <p:spPr>
          <a:xfrm>
            <a:off x="165920" y="4648190"/>
            <a:ext cx="4217821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5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the distance from the observer to the object is infinite, then the projection lines are assumed to be parallel, and the projection is called a parallel projection. Parallel projection is </a:t>
            </a:r>
            <a:r>
              <a:rPr lang="en-US" sz="15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orthographic</a:t>
            </a:r>
            <a:r>
              <a:rPr lang="en-US" sz="15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if the plane of projection is placed between the observer and the object, and the plane is perpendicular to the parallel lines of sight.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244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3DB52-DB94-D980-376D-FE3BDAA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solidFill>
                  <a:srgbClr val="2828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Orthographic Projection: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3795C-3091-D0BB-4FA4-6ACD2D57B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33622"/>
          </a:xfrm>
        </p:spPr>
        <p:txBody>
          <a:bodyPr/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2828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two-dimensional representation of a three-dimensional object, showing multiple views (typically front, top, and side) to provide clear and precise dimensions and details of the object.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Orthographic Projections in Engineering Drawing - Problem 4">
            <a:extLst>
              <a:ext uri="{FF2B5EF4-FFF2-40B4-BE49-F238E27FC236}">
                <a16:creationId xmlns:a16="http://schemas.microsoft.com/office/drawing/2014/main" id="{067C85BD-55D9-6E09-EEF2-D78B9B8A4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663" y="3101488"/>
            <a:ext cx="5771613" cy="3246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5564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03D36-A953-265D-F70A-D72AFE19E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828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Orthographic Projection: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75032-93F3-16C9-6234-15E8C1F6E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 algn="just">
              <a:lnSpc>
                <a:spcPct val="100000"/>
              </a:lnSpc>
              <a:buNone/>
            </a:pPr>
            <a:r>
              <a:rPr lang="en-US" b="1" u="sng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Orthographic projection</a:t>
            </a: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type of pictorial drawing that represents a 3D object on a 2D plane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three (four) faces of an object simultaneously: front, top, and right side (left side) 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visualize the object as it appears in real space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 clear and realistic view of the object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in design sketches, manuals, and assembly guides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Bridges the gap between orthographic views and the real 3D form</a:t>
            </a:r>
          </a:p>
          <a:p>
            <a:pPr marL="0" indent="0">
              <a:buNone/>
            </a:pP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011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31C5D-6866-4E11-64F2-E0F7DE825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330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Isometric Drawing</a:t>
            </a:r>
            <a:endParaRPr lang="en-US" dirty="0"/>
          </a:p>
        </p:txBody>
      </p:sp>
      <p:pic>
        <p:nvPicPr>
          <p:cNvPr id="2050" name="Picture 2" descr="Isometric drawing | Definition, Examples, &amp; Facts | Britannica">
            <a:extLst>
              <a:ext uri="{FF2B5EF4-FFF2-40B4-BE49-F238E27FC236}">
                <a16:creationId xmlns:a16="http://schemas.microsoft.com/office/drawing/2014/main" id="{901ED739-EE60-8BE6-36E9-6C4EA8177C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4577" y="365125"/>
            <a:ext cx="6097508" cy="3650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A5F8DA-C161-32BB-F54E-FD9440B6E300}"/>
              </a:ext>
            </a:extLst>
          </p:cNvPr>
          <p:cNvSpPr txBox="1"/>
          <p:nvPr/>
        </p:nvSpPr>
        <p:spPr>
          <a:xfrm>
            <a:off x="530383" y="1951672"/>
            <a:ext cx="46663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2828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type of axonometric drawing where the three dimensions of an object are represented in one view, with the axes spaced 120 degrees apart. To give a more realistic view of the object while maintaining proportionality.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CFC6EC-49BB-4E10-271A-2ED72B85EE03}"/>
              </a:ext>
            </a:extLst>
          </p:cNvPr>
          <p:cNvSpPr txBox="1"/>
          <p:nvPr/>
        </p:nvSpPr>
        <p:spPr>
          <a:xfrm>
            <a:off x="530383" y="4542253"/>
            <a:ext cx="90224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isometric drawing is a 3D representation of an object on a 2D surface, where all three dimensions (length, width, and height) are shown at equal angles and preserve their true lengths. </a:t>
            </a:r>
          </a:p>
          <a:p>
            <a:pPr algn="just"/>
            <a:r>
              <a:rPr lang="en-US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It's a type of pictorial projection, often used in technical and engineering drawings to illustrate how components fit together and to convey spatial relationships. </a:t>
            </a:r>
          </a:p>
          <a:p>
            <a:pPr algn="just"/>
            <a:r>
              <a:rPr lang="en-US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term "isometric" comes from the Greek words "isos" (equal) and "metron" (measure), indicating that all three axes are equally foreshortened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502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CB277D-09C1-6216-24EB-A40BB6441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403" y="563629"/>
            <a:ext cx="4038950" cy="57307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04086C-843B-9C8A-702F-D02D31CD9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890" y="681304"/>
            <a:ext cx="4067110" cy="549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719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5F48C-3FBF-868A-ACF5-3A523D7B9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61B8E-5839-E593-3D20-6BC71114E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r>
              <a:rPr lang="en-US" b="1" i="0" dirty="0">
                <a:solidFill>
                  <a:srgbClr val="404040"/>
                </a:solidFill>
                <a:effectLst/>
              </a:rPr>
              <a:t>Example </a:t>
            </a:r>
            <a:endParaRPr lang="en-US" b="1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6BADE52-36B5-0FC2-D0C8-E8C5B5C1E0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48" y="1704815"/>
            <a:ext cx="5740786" cy="4639954"/>
          </a:xfr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F20FBB-4529-DE09-9341-E3312F231C29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424181-E16F-FE0E-1201-E57C99ED2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F47574-AF65-951C-7393-1E8FED1CE07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DD13E6-4894-972C-AD1B-6BB3C9650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067" y="1477035"/>
            <a:ext cx="4526376" cy="5009276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1122CC41-62FD-91DD-C137-5E06364243EB}"/>
              </a:ext>
            </a:extLst>
          </p:cNvPr>
          <p:cNvSpPr/>
          <p:nvPr/>
        </p:nvSpPr>
        <p:spPr>
          <a:xfrm>
            <a:off x="5813854" y="3885671"/>
            <a:ext cx="1019433" cy="469557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CF416EC-9FDD-2DF0-923B-92213884EFE4}"/>
              </a:ext>
            </a:extLst>
          </p:cNvPr>
          <p:cNvCxnSpPr/>
          <p:nvPr/>
        </p:nvCxnSpPr>
        <p:spPr>
          <a:xfrm flipH="1" flipV="1">
            <a:off x="4423719" y="5373474"/>
            <a:ext cx="803189" cy="539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6618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4DFAB-0EBF-1332-315C-A601BB9DB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813B0-6FC3-7FB2-BD10-6DDCAA0B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r>
              <a:rPr lang="en-US" b="1" i="0" dirty="0">
                <a:solidFill>
                  <a:srgbClr val="404040"/>
                </a:solidFill>
                <a:effectLst/>
              </a:rPr>
              <a:t>Example</a:t>
            </a:r>
            <a:endParaRPr lang="en-US" b="1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545866-6C4A-2F95-AAB4-D33F6354886A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CD3294-3787-67B0-9B0F-B52E72B35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2D8AD2-ED3A-67C9-6021-BE7DFA29424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E7248D6-E89C-70E0-3D90-EBA9048813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2110" y="1613050"/>
            <a:ext cx="5768878" cy="4743300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7055F4E-3F67-DBBE-F535-DA12BB94D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362" y="2223864"/>
            <a:ext cx="4888308" cy="2780450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B0B46673-898D-6FD9-8765-FC2073F93F25}"/>
              </a:ext>
            </a:extLst>
          </p:cNvPr>
          <p:cNvSpPr/>
          <p:nvPr/>
        </p:nvSpPr>
        <p:spPr>
          <a:xfrm>
            <a:off x="5455508" y="3885671"/>
            <a:ext cx="1019433" cy="469557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5F72EC-0CEF-A4A1-CA17-DA1ADC965030}"/>
              </a:ext>
            </a:extLst>
          </p:cNvPr>
          <p:cNvSpPr txBox="1"/>
          <p:nvPr/>
        </p:nvSpPr>
        <p:spPr>
          <a:xfrm>
            <a:off x="7784758" y="5004314"/>
            <a:ext cx="706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E68755-8A08-478D-1187-70DBA8890BC7}"/>
              </a:ext>
            </a:extLst>
          </p:cNvPr>
          <p:cNvSpPr txBox="1"/>
          <p:nvPr/>
        </p:nvSpPr>
        <p:spPr>
          <a:xfrm>
            <a:off x="10037807" y="5004142"/>
            <a:ext cx="1128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Side (left)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0BE842C-B61C-672A-3051-AE09D5923D36}"/>
              </a:ext>
            </a:extLst>
          </p:cNvPr>
          <p:cNvCxnSpPr/>
          <p:nvPr/>
        </p:nvCxnSpPr>
        <p:spPr>
          <a:xfrm flipH="1" flipV="1">
            <a:off x="4423719" y="5373474"/>
            <a:ext cx="803189" cy="539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7805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4C3C0-2274-CF1A-6BBF-8EBEB4B6D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972E1-5608-441C-DF87-CDE46D982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10"/>
            <a:ext cx="10515600" cy="1325563"/>
          </a:xfrm>
        </p:spPr>
        <p:txBody>
          <a:bodyPr/>
          <a:lstStyle/>
          <a:p>
            <a:r>
              <a:rPr lang="en-US" b="1" i="0" dirty="0">
                <a:solidFill>
                  <a:srgbClr val="404040"/>
                </a:solidFill>
                <a:effectLst/>
              </a:rPr>
              <a:t>Example</a:t>
            </a:r>
            <a:endParaRPr lang="en-US" b="1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CFDF31-7D04-EBB5-5626-FC979BE1B522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4BE766-8591-FD43-1F80-DCEB68AF9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50ECD5-26BF-B30C-08B7-3E7D8C3AB71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D816435-B918-B492-56A7-D928938D29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8409" y="2409747"/>
            <a:ext cx="3678510" cy="3336146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C66094-FE46-7C25-22AE-FC91456FD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474" y="2160595"/>
            <a:ext cx="6541127" cy="404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28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52ED8-A47D-9505-DB98-9F44748E0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Oblique Drawing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3E20B-423F-DAA4-BF97-8E24AA9D3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1485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Oblique drawing is a simple 3D drawing technique where one face of an object is shown in its true shape and size, while the other faces are drawn at an angle.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It's a quick way to represent objects in three dimensions, often used for sketching or when a realistic view isn't critical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Isometric drawing">
            <a:extLst>
              <a:ext uri="{FF2B5EF4-FFF2-40B4-BE49-F238E27FC236}">
                <a16:creationId xmlns:a16="http://schemas.microsoft.com/office/drawing/2014/main" id="{B9F197C9-6237-62B9-99E2-4324A3CDB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519" y="1690688"/>
            <a:ext cx="7203281" cy="4802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w to draw Oblique to 1-Point Perspective &amp; Isometric to 2-Point  Perspective Drawing Made Easy">
            <a:extLst>
              <a:ext uri="{FF2B5EF4-FFF2-40B4-BE49-F238E27FC236}">
                <a16:creationId xmlns:a16="http://schemas.microsoft.com/office/drawing/2014/main" id="{FFE43CC6-ECEB-0A47-E73A-5710E9575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0476" y="1770977"/>
            <a:ext cx="7358231" cy="4139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9883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C7AC3-8F81-7A63-2E30-B5E94052F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Sectional Drawing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C49A7-E572-1B42-7223-E6A498939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504" y="1825624"/>
            <a:ext cx="5707456" cy="2864071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representation that shows the internal features of an object by cutting through it to reveal details that are not visible in exterior views, such as internal components or assemblies.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ectional views notes">
            <a:extLst>
              <a:ext uri="{FF2B5EF4-FFF2-40B4-BE49-F238E27FC236}">
                <a16:creationId xmlns:a16="http://schemas.microsoft.com/office/drawing/2014/main" id="{D91E2526-B9C7-FBD9-E39B-995B33965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6725" y="365125"/>
            <a:ext cx="4472412" cy="6318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6267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DC201-69AA-66DC-0D17-A3FFDE01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952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 Drawing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D3C7A-0BF0-01C6-A116-E9222E381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2451" y="1610558"/>
            <a:ext cx="10261349" cy="447827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drawing that provides a detailed view of a specific part or assembly, often at a larger scale to clarify complex features or dimensions that need more explanation.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detailed information about the part's dimensions, shape, materials, manufacturing processes, and other specifications needed for its construction or fabrication.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 drawings are essential for ensuring accuracy and clarity in construction, manufacturing, and engineering projects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924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CACC9-892B-6147-D810-6BB0B7400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Cube?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F5D3873-8B51-B145-85D5-4F3E783BA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8608" y="904865"/>
            <a:ext cx="4883426" cy="5287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8E214B-0332-850F-433E-6302AF3905E1}"/>
              </a:ext>
            </a:extLst>
          </p:cNvPr>
          <p:cNvSpPr txBox="1"/>
          <p:nvPr/>
        </p:nvSpPr>
        <p:spPr>
          <a:xfrm>
            <a:off x="372717" y="1690688"/>
            <a:ext cx="654491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4747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0" i="0" dirty="0">
                <a:solidFill>
                  <a:srgbClr val="4747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Cube is </a:t>
            </a:r>
            <a:r>
              <a:rPr lang="en-US" sz="2000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solid three-dimensional figure that has 6 square faces, 8 vertices, and 12 edges</a:t>
            </a:r>
            <a:r>
              <a:rPr lang="en-US" sz="2000" b="0" i="0" dirty="0">
                <a:solidFill>
                  <a:srgbClr val="4747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It is also said to be a regular hexahedron. You must have seen a 3 × 3 Rubik's cube, which is the most common example in the real-life</a:t>
            </a:r>
            <a:endParaRPr lang="en-A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9E0D067C-74A3-A52E-F79C-0F0C96FDA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075" y="3014127"/>
            <a:ext cx="4045770" cy="3674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0633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72D3C-C7F3-B6DE-66C1-07E1AA07E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called </a:t>
            </a:r>
            <a:r>
              <a:rPr lang="en-US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pyramid?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5E01C-474A-E8FB-BBF5-496C52829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28164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pyramid is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three-dimensional geometric shape with a polygonal base and triangular sides that meet at a point called the apex.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AU" dirty="0"/>
          </a:p>
        </p:txBody>
      </p:sp>
      <p:pic>
        <p:nvPicPr>
          <p:cNvPr id="4098" name="Picture 2" descr="Pyramid (Definition, Types, Formulas &amp; Examples)">
            <a:extLst>
              <a:ext uri="{FF2B5EF4-FFF2-40B4-BE49-F238E27FC236}">
                <a16:creationId xmlns:a16="http://schemas.microsoft.com/office/drawing/2014/main" id="{E17BA905-1736-F55A-A746-952ACDE2A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530" y="2433638"/>
            <a:ext cx="3263514" cy="2615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quare Pyramid - Properties, Definition ...">
            <a:extLst>
              <a:ext uri="{FF2B5EF4-FFF2-40B4-BE49-F238E27FC236}">
                <a16:creationId xmlns:a16="http://schemas.microsoft.com/office/drawing/2014/main" id="{28A97666-31CA-B355-1202-FE54A47FC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412" y="2941671"/>
            <a:ext cx="5043464" cy="3551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8733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7C919-9770-FA38-5D95-D05234EAA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34466"/>
          </a:xfrm>
        </p:spPr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 of Pyramid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0B973B-FB00-C808-5BD0-EF12E1779C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96765"/>
            <a:ext cx="11007436" cy="52090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base of a pyramid can be any polygon (triangle, square, pentagon, etc.).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Sides: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sides of a pyramid are triangular, and they converge towards the apex.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Apex: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apex is the point where all the triangular sides meet at the top.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of Pyramids: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Triangular Pyramid: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 pyramid with a triangular base. 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Square Pyramid: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 pyramid with a square base, like the pyramids of Egypt. 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Pentagonal Pyramid: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 pyramid with a pentagonal base. 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Hexagonal Pyramid: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 pyramid with a hexagonal base.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601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2D3A6-F635-472E-0980-69C7B9404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Pyramids</a:t>
            </a:r>
          </a:p>
        </p:txBody>
      </p:sp>
      <p:pic>
        <p:nvPicPr>
          <p:cNvPr id="5123" name="Picture 3" descr="Pyramid – Shape, Properties, Formulas, Diagrams &amp; Examples">
            <a:extLst>
              <a:ext uri="{FF2B5EF4-FFF2-40B4-BE49-F238E27FC236}">
                <a16:creationId xmlns:a16="http://schemas.microsoft.com/office/drawing/2014/main" id="{F1FAC9B1-05F2-4F31-6DF2-00AE5D510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10821531" cy="489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2673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70D4E-E227-B506-AD4D-D0947F999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5BC7B-B527-76F8-1163-B7B247ADC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29948" cy="435133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prism is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three-dimensional geometric shape with two identical, parallel polygonal faces (bases) and other faces (lateral faces) that are parallelograms.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prism is a polyhedron (a 3D shape with flat faces) where two faces, called bases, are congruent and parallel polygons, and the other faces are parallelograms connecting the corresponding sides of the bases. 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Prism - Definition, Shape, Types, Formulas, Examples &amp; Diagrams">
            <a:extLst>
              <a:ext uri="{FF2B5EF4-FFF2-40B4-BE49-F238E27FC236}">
                <a16:creationId xmlns:a16="http://schemas.microsoft.com/office/drawing/2014/main" id="{092421A5-7B26-6726-6DDC-C80A58FAC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148" y="681037"/>
            <a:ext cx="4601609" cy="5746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4005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B8576-1D85-80A7-FE56-AD9D06D12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DEVELOPMENT OF CONES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C2B3B-2A64-EC45-6D4E-FF6D06A05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development of the lateral surface of a cone is drawn by the radial line method. The lateral development of the cone is in the form of a sector of a circle, the radius of which is equal to the slant height of the cone.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2050" name="Picture 2" descr="Premium PSD | Cone shape">
            <a:extLst>
              <a:ext uri="{FF2B5EF4-FFF2-40B4-BE49-F238E27FC236}">
                <a16:creationId xmlns:a16="http://schemas.microsoft.com/office/drawing/2014/main" id="{7FCC5EE3-0954-5A16-21D3-693CF74AD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773" y="1935853"/>
            <a:ext cx="2343150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Giant Cone (144pcs/box) | TOP Creamery">
            <a:extLst>
              <a:ext uri="{FF2B5EF4-FFF2-40B4-BE49-F238E27FC236}">
                <a16:creationId xmlns:a16="http://schemas.microsoft.com/office/drawing/2014/main" id="{CEE6740C-867F-B47F-2371-64EEDD6CC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551" y="174535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one Formula - Types, Definition, and FAQs">
            <a:extLst>
              <a:ext uri="{FF2B5EF4-FFF2-40B4-BE49-F238E27FC236}">
                <a16:creationId xmlns:a16="http://schemas.microsoft.com/office/drawing/2014/main" id="{769A90B1-9808-C69A-5358-6DB2FB92C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4811" y="1553065"/>
            <a:ext cx="2929145" cy="2609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one Net with Definition and Diagrams">
            <a:extLst>
              <a:ext uri="{FF2B5EF4-FFF2-40B4-BE49-F238E27FC236}">
                <a16:creationId xmlns:a16="http://schemas.microsoft.com/office/drawing/2014/main" id="{F69830E8-AD64-B899-D86E-514F3B31C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8848" y="1310623"/>
            <a:ext cx="4549073" cy="309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429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2681</TotalTime>
  <Words>1189</Words>
  <Application>Microsoft Office PowerPoint</Application>
  <PresentationFormat>Widescreen</PresentationFormat>
  <Paragraphs>98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McGillSerif-Medium</vt:lpstr>
      <vt:lpstr>Times New Roman</vt:lpstr>
      <vt:lpstr>Office Theme</vt:lpstr>
      <vt:lpstr>LECTURE - 2 ON EEE 154</vt:lpstr>
      <vt:lpstr>Course Contents</vt:lpstr>
      <vt:lpstr>What is called Drawing??</vt:lpstr>
      <vt:lpstr>What is Called Lettering??</vt:lpstr>
      <vt:lpstr>Lettering &amp; Numbering</vt:lpstr>
      <vt:lpstr>Importance of Engineering Drawing</vt:lpstr>
      <vt:lpstr>Types of Drawing</vt:lpstr>
      <vt:lpstr>Orthographic Projection</vt:lpstr>
      <vt:lpstr>Orthographic Projection:</vt:lpstr>
      <vt:lpstr>Orthographic Projection:</vt:lpstr>
      <vt:lpstr>Isometric Drawing</vt:lpstr>
      <vt:lpstr>PowerPoint Presentation</vt:lpstr>
      <vt:lpstr>Example </vt:lpstr>
      <vt:lpstr>Example</vt:lpstr>
      <vt:lpstr>Example</vt:lpstr>
      <vt:lpstr>Oblique Drawing</vt:lpstr>
      <vt:lpstr>Sectional Drawing</vt:lpstr>
      <vt:lpstr>Detail Drawing</vt:lpstr>
      <vt:lpstr>Cube?</vt:lpstr>
      <vt:lpstr>What is called pyramid?</vt:lpstr>
      <vt:lpstr>Details of Pyramid</vt:lpstr>
      <vt:lpstr>Types of Pyramids</vt:lpstr>
      <vt:lpstr>Prism</vt:lpstr>
      <vt:lpstr>DEVELOPMENT OF CONES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Monowar Hossain</dc:creator>
  <cp:lastModifiedBy>MD MONOWAR HOSSAIN</cp:lastModifiedBy>
  <cp:revision>23</cp:revision>
  <dcterms:created xsi:type="dcterms:W3CDTF">2025-02-27T07:38:40Z</dcterms:created>
  <dcterms:modified xsi:type="dcterms:W3CDTF">2026-07-09T10:32:40Z</dcterms:modified>
</cp:coreProperties>
</file>